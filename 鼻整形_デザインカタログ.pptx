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8" r:id="rId34"/>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9.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a:t>
            </a:r>
            <a:r>
              <a:rPr lang="en-US" sz="1100" b="0" dirty="0">
                <a:solidFill>
                  <a:srgbClr val="B0934E"/>
                </a:solidFill>
                <a:latin typeface="游明朝"/>
                <a:ea typeface="游明朝"/>
              </a:rPr>
              <a:t>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a:t>
            </a:r>
            <a:r>
              <a:rPr lang="en-US" sz="1100" b="0" dirty="0">
                <a:solidFill>
                  <a:srgbClr val="FFFFFF"/>
                </a:solidFill>
                <a:latin typeface="游明朝"/>
                <a:ea typeface="游明朝"/>
              </a:rPr>
              <a:t>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デザインカタログ｜ある患者さまの6ヶ月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DOWNTIME SCHEDULE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ダウンタイム逆算マップ</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27</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36192"/>
            <a:ext cx="6428994" cy="502920"/>
          </a:xfrm>
          <a:prstGeom prst="rect">
            <a:avLst/>
          </a:prstGeom>
          <a:noFill/>
        </p:spPr>
        <p:txBody>
          <a:bodyPr wrap="square" anchor="t" lIns="0" rIns="0" tIns="0" bIns="0">
            <a:spAutoFit/>
          </a:bodyPr>
          <a:lstStyle/>
          <a:p>
            <a:pPr algn="l">
              <a:lnSpc>
                <a:spcPct val="140000"/>
              </a:lnSpc>
              <a:spcBef>
                <a:spcPts val="0"/>
              </a:spcBef>
              <a:spcAft>
                <a:spcPts val="100"/>
              </a:spcAft>
            </a:pPr>
            <a:r>
              <a:rPr sz="1050" b="0">
                <a:solidFill>
                  <a:srgbClr val="3A3326"/>
                </a:solidFill>
                <a:latin typeface="游ゴシック"/>
                <a:ea typeface="游ゴシック"/>
              </a:rPr>
              <a:t>「手術はしたいけど、いつ受ければ…」の迷いは、回復スケジュールが見えれば解決します。腫れのピークやメイク・仕事復帰の時期から、ご予定を逆算して手術日を決められます。</a:t>
            </a:r>
          </a:p>
        </p:txBody>
      </p:sp>
      <p:sp>
        <p:nvSpPr>
          <p:cNvPr id="8" name="Rectangle 7"/>
          <p:cNvSpPr/>
          <p:nvPr/>
        </p:nvSpPr>
        <p:spPr>
          <a:xfrm>
            <a:off x="1056957" y="2459736"/>
            <a:ext cx="5448935" cy="28575"/>
          </a:xfrm>
          <a:prstGeom prst="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9757"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9757"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当日</a:t>
            </a:r>
          </a:p>
        </p:txBody>
      </p:sp>
      <p:sp>
        <p:nvSpPr>
          <p:cNvPr id="11" name="Rounded Rectangle 10"/>
          <p:cNvSpPr/>
          <p:nvPr/>
        </p:nvSpPr>
        <p:spPr>
          <a:xfrm>
            <a:off x="566928"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麻酔下で手術。ギプスで固定して帰宅。</a:t>
            </a:r>
          </a:p>
        </p:txBody>
      </p:sp>
      <p:sp>
        <p:nvSpPr>
          <p:cNvPr id="13" name="Rounded Rectangle 12"/>
          <p:cNvSpPr/>
          <p:nvPr/>
        </p:nvSpPr>
        <p:spPr>
          <a:xfrm>
            <a:off x="1689544"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89544"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1〜3日</a:t>
            </a:r>
          </a:p>
        </p:txBody>
      </p:sp>
      <p:sp>
        <p:nvSpPr>
          <p:cNvPr id="15" name="Rounded Rectangle 14"/>
          <p:cNvSpPr/>
          <p:nvPr/>
        </p:nvSpPr>
        <p:spPr>
          <a:xfrm>
            <a:off x="1656715"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11579"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腫れ・内出血のピーク。ご自宅で安静に。</a:t>
            </a:r>
          </a:p>
        </p:txBody>
      </p:sp>
      <p:sp>
        <p:nvSpPr>
          <p:cNvPr id="17" name="Rounded Rectangle 16"/>
          <p:cNvSpPr/>
          <p:nvPr/>
        </p:nvSpPr>
        <p:spPr>
          <a:xfrm>
            <a:off x="2779331"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331"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〜7日</a:t>
            </a:r>
          </a:p>
        </p:txBody>
      </p:sp>
      <p:sp>
        <p:nvSpPr>
          <p:cNvPr id="19" name="Rounded Rectangle 18"/>
          <p:cNvSpPr/>
          <p:nvPr/>
        </p:nvSpPr>
        <p:spPr>
          <a:xfrm>
            <a:off x="2746502"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01366"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ギプスオフ・抜糸。メイクOKに。</a:t>
            </a:r>
          </a:p>
        </p:txBody>
      </p:sp>
      <p:sp>
        <p:nvSpPr>
          <p:cNvPr id="21" name="Rounded Rectangle 20"/>
          <p:cNvSpPr/>
          <p:nvPr/>
        </p:nvSpPr>
        <p:spPr>
          <a:xfrm>
            <a:off x="3869118"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9118"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2週間</a:t>
            </a:r>
          </a:p>
        </p:txBody>
      </p:sp>
      <p:sp>
        <p:nvSpPr>
          <p:cNvPr id="23" name="Rounded Rectangle 22"/>
          <p:cNvSpPr/>
          <p:nvPr/>
        </p:nvSpPr>
        <p:spPr>
          <a:xfrm>
            <a:off x="3836289"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1153"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マスクで自然に。多くの方が仕事復帰。</a:t>
            </a:r>
          </a:p>
        </p:txBody>
      </p:sp>
      <p:sp>
        <p:nvSpPr>
          <p:cNvPr id="25" name="Rounded Rectangle 24"/>
          <p:cNvSpPr/>
          <p:nvPr/>
        </p:nvSpPr>
        <p:spPr>
          <a:xfrm>
            <a:off x="4958905"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8905"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1ヶ月</a:t>
            </a:r>
          </a:p>
        </p:txBody>
      </p:sp>
      <p:sp>
        <p:nvSpPr>
          <p:cNvPr id="27" name="Rounded Rectangle 26"/>
          <p:cNvSpPr/>
          <p:nvPr/>
        </p:nvSpPr>
        <p:spPr>
          <a:xfrm>
            <a:off x="4926076"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80940"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腫れの大半が引き、横顔が整う。</a:t>
            </a:r>
          </a:p>
        </p:txBody>
      </p:sp>
      <p:sp>
        <p:nvSpPr>
          <p:cNvPr id="29" name="Rounded Rectangle 28"/>
          <p:cNvSpPr/>
          <p:nvPr/>
        </p:nvSpPr>
        <p:spPr>
          <a:xfrm>
            <a:off x="6048692"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48692"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3ヶ月</a:t>
            </a:r>
          </a:p>
        </p:txBody>
      </p:sp>
      <p:sp>
        <p:nvSpPr>
          <p:cNvPr id="31" name="Rounded Rectangle 30"/>
          <p:cNvSpPr/>
          <p:nvPr/>
        </p:nvSpPr>
        <p:spPr>
          <a:xfrm>
            <a:off x="6015863"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0727"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ほぼ完成。最終的な仕上がりへ。</a:t>
            </a:r>
          </a:p>
        </p:txBody>
      </p:sp>
      <p:sp>
        <p:nvSpPr>
          <p:cNvPr id="33" name="TextBox 32"/>
          <p:cNvSpPr txBox="1"/>
          <p:nvPr/>
        </p:nvSpPr>
        <p:spPr>
          <a:xfrm>
            <a:off x="566928" y="452628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復帰・再開の目安</a:t>
            </a:r>
          </a:p>
        </p:txBody>
      </p:sp>
      <p:graphicFrame>
        <p:nvGraphicFramePr>
          <p:cNvPr id="34" name="Table 33"/>
          <p:cNvGraphicFramePr>
            <a:graphicFrameLocks noGrp="1"/>
          </p:cNvGraphicFramePr>
          <p:nvPr/>
        </p:nvGraphicFramePr>
        <p:xfrm>
          <a:off x="566928" y="4892040"/>
          <a:ext cx="6428993" cy="1874519"/>
        </p:xfrm>
        <a:graphic>
          <a:graphicData uri="http://schemas.openxmlformats.org/drawingml/2006/table">
            <a:tbl>
              <a:tblPr firstRow="1" bandRow="1">
                <a:tableStyleId>{5C22544A-7EE6-4342-B048-85BDC9FD1C3A}</a:tableStyleId>
              </a:tblPr>
              <a:tblGrid>
                <a:gridCol w="2700177"/>
                <a:gridCol w="3728816"/>
              </a:tblGrid>
              <a:tr h="312419">
                <a:tc>
                  <a:txBody>
                    <a:bodyPr wrap="square"/>
                    <a:lstStyle/>
                    <a:p>
                      <a:pPr algn="l"/>
                      <a:r>
                        <a:rPr sz="1100" b="1">
                          <a:solidFill>
                            <a:srgbClr val="FFFFFF"/>
                          </a:solidFill>
                          <a:latin typeface="游明朝"/>
                          <a:ea typeface="游明朝"/>
                        </a:rPr>
                        <a:t>項目</a:t>
                      </a:r>
                    </a:p>
                  </a:txBody>
                  <a:tcPr anchor="ctr" marL="80000" marR="60000" marT="12000" marB="12000">
                    <a:solidFill>
                      <a:srgbClr val="B0934E"/>
                    </a:solidFill>
                  </a:tcPr>
                </a:tc>
                <a:tc>
                  <a:txBody>
                    <a:bodyPr wrap="square"/>
                    <a:lstStyle/>
                    <a:p>
                      <a:pPr algn="l"/>
                      <a:r>
                        <a:rPr sz="1100" b="1">
                          <a:solidFill>
                            <a:srgbClr val="FFFFFF"/>
                          </a:solidFill>
                          <a:latin typeface="游明朝"/>
                          <a:ea typeface="游明朝"/>
                        </a:rPr>
                        <a:t>目安</a:t>
                      </a:r>
                    </a:p>
                  </a:txBody>
                  <a:tcPr anchor="ctr" marL="80000" marR="60000" marT="12000" marB="12000">
                    <a:solidFill>
                      <a:srgbClr val="B0934E"/>
                    </a:solidFill>
                  </a:tcPr>
                </a:tc>
              </a:tr>
              <a:tr h="312419">
                <a:tc>
                  <a:txBody>
                    <a:bodyPr wrap="square"/>
                    <a:lstStyle/>
                    <a:p>
                      <a:pPr algn="l"/>
                      <a:r>
                        <a:rPr sz="1100" b="1">
                          <a:solidFill>
                            <a:srgbClr val="3A3326"/>
                          </a:solidFill>
                          <a:latin typeface="游明朝"/>
                          <a:ea typeface="游明朝"/>
                        </a:rPr>
                        <a:t>マスクで隠す</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当日〜（外出時）</a:t>
                      </a:r>
                    </a:p>
                  </a:txBody>
                  <a:tcPr anchor="ctr" marL="80000" marR="60000" marT="12000" marB="12000">
                    <a:solidFill>
                      <a:srgbClr val="FDFBF6"/>
                    </a:solidFill>
                  </a:tcPr>
                </a:tc>
              </a:tr>
              <a:tr h="312419">
                <a:tc>
                  <a:txBody>
                    <a:bodyPr wrap="square"/>
                    <a:lstStyle/>
                    <a:p>
                      <a:pPr algn="l"/>
                      <a:r>
                        <a:rPr sz="1100" b="1">
                          <a:solidFill>
                            <a:srgbClr val="3A3326"/>
                          </a:solidFill>
                          <a:latin typeface="游明朝"/>
                          <a:ea typeface="游明朝"/>
                        </a:rPr>
                        <a:t>メイク</a:t>
                      </a:r>
                    </a:p>
                  </a:txBody>
                  <a:tcPr anchor="ctr" marL="80000" marR="60000" marT="12000" marB="12000">
                    <a:solidFill>
                      <a:srgbClr val="F3ECDD"/>
                    </a:solidFill>
                  </a:tcPr>
                </a:tc>
                <a:tc>
                  <a:txBody>
                    <a:bodyPr wrap="square"/>
                    <a:lstStyle/>
                    <a:p>
                      <a:pPr algn="l"/>
                      <a:r>
                        <a:rPr sz="1050" b="0">
                          <a:solidFill>
                            <a:srgbClr val="3A3326"/>
                          </a:solidFill>
                          <a:latin typeface="游ゴシック"/>
                          <a:ea typeface="游ゴシック"/>
                        </a:rPr>
                        <a:t>ギプスオフ（約7日）以降は全顔OK</a:t>
                      </a:r>
                    </a:p>
                  </a:txBody>
                  <a:tcPr anchor="ctr" marL="80000" marR="60000" marT="12000" marB="12000">
                    <a:solidFill>
                      <a:srgbClr val="F3ECDD"/>
                    </a:solidFill>
                  </a:tcPr>
                </a:tc>
              </a:tr>
              <a:tr h="312419">
                <a:tc>
                  <a:txBody>
                    <a:bodyPr wrap="square"/>
                    <a:lstStyle/>
                    <a:p>
                      <a:pPr algn="l"/>
                      <a:r>
                        <a:rPr sz="1100" b="1">
                          <a:solidFill>
                            <a:srgbClr val="3A3326"/>
                          </a:solidFill>
                          <a:latin typeface="游明朝"/>
                          <a:ea typeface="游明朝"/>
                        </a:rPr>
                        <a:t>洗顔・シャワー</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当日〜（患部は数日後から）</a:t>
                      </a:r>
                    </a:p>
                  </a:txBody>
                  <a:tcPr anchor="ctr" marL="80000" marR="60000" marT="12000" marB="12000">
                    <a:solidFill>
                      <a:srgbClr val="FDFBF6"/>
                    </a:solidFill>
                  </a:tcPr>
                </a:tc>
              </a:tr>
              <a:tr h="312419">
                <a:tc>
                  <a:txBody>
                    <a:bodyPr wrap="square"/>
                    <a:lstStyle/>
                    <a:p>
                      <a:pPr algn="l"/>
                      <a:r>
                        <a:rPr sz="1100" b="1">
                          <a:solidFill>
                            <a:srgbClr val="3A3326"/>
                          </a:solidFill>
                          <a:latin typeface="游明朝"/>
                          <a:ea typeface="游明朝"/>
                        </a:rPr>
                        <a:t>デスクワーク復帰</a:t>
                      </a:r>
                    </a:p>
                  </a:txBody>
                  <a:tcPr anchor="ctr" marL="80000" marR="60000" marT="12000" marB="12000">
                    <a:solidFill>
                      <a:srgbClr val="F3ECDD"/>
                    </a:solidFill>
                  </a:tcPr>
                </a:tc>
                <a:tc>
                  <a:txBody>
                    <a:bodyPr wrap="square"/>
                    <a:lstStyle/>
                    <a:p>
                      <a:pPr algn="l"/>
                      <a:r>
                        <a:rPr sz="1050" b="0">
                          <a:solidFill>
                            <a:srgbClr val="3A3326"/>
                          </a:solidFill>
                          <a:latin typeface="游ゴシック"/>
                          <a:ea typeface="游ゴシック"/>
                        </a:rPr>
                        <a:t>数日〜1週間（ギプスオフが目安）</a:t>
                      </a:r>
                    </a:p>
                  </a:txBody>
                  <a:tcPr anchor="ctr" marL="80000" marR="60000" marT="12000" marB="12000">
                    <a:solidFill>
                      <a:srgbClr val="F3ECDD"/>
                    </a:solidFill>
                  </a:tcPr>
                </a:tc>
              </a:tr>
              <a:tr h="312424">
                <a:tc>
                  <a:txBody>
                    <a:bodyPr wrap="square"/>
                    <a:lstStyle/>
                    <a:p>
                      <a:pPr algn="l"/>
                      <a:r>
                        <a:rPr sz="1100" b="1">
                          <a:solidFill>
                            <a:srgbClr val="3A3326"/>
                          </a:solidFill>
                          <a:latin typeface="游明朝"/>
                          <a:ea typeface="游明朝"/>
                        </a:rPr>
                        <a:t>運動・サウナ・飲酒</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2〜3週間後から</a:t>
                      </a:r>
                    </a:p>
                  </a:txBody>
                  <a:tcPr anchor="ctr" marL="80000" marR="60000" marT="12000" marB="12000">
                    <a:solidFill>
                      <a:srgbClr val="FDFBF6"/>
                    </a:solidFill>
                  </a:tcPr>
                </a:tc>
              </a:tr>
            </a:tbl>
          </a:graphicData>
        </a:graphic>
      </p:graphicFrame>
      <p:sp>
        <p:nvSpPr>
          <p:cNvPr id="35" name="Rounded Rectangle 34"/>
          <p:cNvSpPr/>
          <p:nvPr/>
        </p:nvSpPr>
        <p:spPr>
          <a:xfrm>
            <a:off x="566928" y="6903720"/>
            <a:ext cx="6428994"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6903720"/>
            <a:ext cx="91440" cy="13716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 y="7104888"/>
            <a:ext cx="569747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逆算のしかた</a:t>
            </a:r>
          </a:p>
        </p:txBody>
      </p:sp>
      <p:sp>
        <p:nvSpPr>
          <p:cNvPr id="38" name="TextBox 37"/>
          <p:cNvSpPr txBox="1"/>
          <p:nvPr/>
        </p:nvSpPr>
        <p:spPr>
          <a:xfrm>
            <a:off x="932688" y="7470648"/>
            <a:ext cx="5697474" cy="731520"/>
          </a:xfrm>
          <a:prstGeom prst="rect">
            <a:avLst/>
          </a:prstGeom>
          <a:noFill/>
        </p:spPr>
        <p:txBody>
          <a:bodyPr wrap="square" anchor="t" lIns="0" rIns="0" tIns="0" bIns="0">
            <a:spAutoFit/>
          </a:bodyPr>
          <a:lstStyle/>
          <a:p>
            <a:pPr algn="l">
              <a:lnSpc>
                <a:spcPct val="150000"/>
              </a:lnSpc>
              <a:spcBef>
                <a:spcPts val="0"/>
              </a:spcBef>
              <a:spcAft>
                <a:spcPts val="100"/>
              </a:spcAft>
            </a:pPr>
            <a:r>
              <a:rPr sz="1100" b="0">
                <a:solidFill>
                  <a:srgbClr val="3A3326"/>
                </a:solidFill>
                <a:latin typeface="游ゴシック"/>
                <a:ea typeface="游ゴシック"/>
              </a:rPr>
              <a:t>人目が気になるのは、腫れ・ギプスのある最初の約1週間。大事な予定や連休の </a:t>
            </a:r>
            <a:r>
              <a:rPr sz="1100" b="1">
                <a:solidFill>
                  <a:srgbClr val="8C7339"/>
                </a:solidFill>
                <a:latin typeface="游ゴシック"/>
                <a:ea typeface="游ゴシック"/>
              </a:rPr>
              <a:t>【約1週間前】</a:t>
            </a:r>
            <a:r>
              <a:rPr sz="1100" b="0">
                <a:solidFill>
                  <a:srgbClr val="3A3326"/>
                </a:solidFill>
                <a:latin typeface="游ゴシック"/>
                <a:ea typeface="游ゴシック"/>
              </a:rPr>
              <a:t> に手術すると、当日には自然な状態で迎えられます。</a:t>
            </a:r>
          </a:p>
          <a:p>
            <a:pPr algn="l">
              <a:lnSpc>
                <a:spcPct val="150000"/>
              </a:lnSpc>
              <a:spcBef>
                <a:spcPts val="0"/>
              </a:spcBef>
              <a:spcAft>
                <a:spcPts val="100"/>
              </a:spcAft>
            </a:pPr>
            <a:r>
              <a:rPr sz="1050" b="0">
                <a:solidFill>
                  <a:srgbClr val="7A7060"/>
                </a:solidFill>
                <a:latin typeface="游ゴシック"/>
                <a:ea typeface="游ゴシック"/>
              </a:rPr>
              <a:t>例）来月の連休に合わせるなら、連休初日の約1週間前が手術日の目安です。</a:t>
            </a:r>
          </a:p>
        </p:txBody>
      </p:sp>
      <p:sp>
        <p:nvSpPr>
          <p:cNvPr id="39" name="TextBox 38"/>
          <p:cNvSpPr txBox="1"/>
          <p:nvPr/>
        </p:nvSpPr>
        <p:spPr>
          <a:xfrm>
            <a:off x="566928" y="8412480"/>
            <a:ext cx="6428994" cy="45720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回復には個人差があります。鼻中隔延長・骨切り・肋軟骨を伴う術式は、ギプス固定やダウンタイムが長めになります。詳しいスケジュールはカウンセリング・DMでご相談ください。</a:t>
            </a:r>
          </a:p>
        </p:txBody>
      </p:sp>
      <p:sp>
        <p:nvSpPr>
          <p:cNvPr id="40" name="TextBox 39"/>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デザインカタログ｜ダウンタイム逆算マップ</a:t>
            </a:r>
          </a:p>
        </p:txBody>
      </p:sp>
      <p:sp>
        <p:nvSpPr>
          <p:cNvPr id="41" name="TextBox 40"/>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28</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