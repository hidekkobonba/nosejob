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7"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6" r:id="rId28"/>
    <p:sldId id="288" r:id="rId34"/>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901" name="枠 10"/>
          <p:cNvSpPr>
            <a:spLocks noGrp="1"/>
          </p:cNvSpPr>
          <p:nvPr>
            <p:ph type="pic" idx="10"/>
          </p:nvPr>
        </p:nvSpPr>
        <p:spPr>
          <a:xfrm>
            <a:off x="566928" y="2414016"/>
            <a:ext cx="840050" cy="1143000"/>
          </a:xfrm>
          <a:prstGeom prst="roundRect">
            <a:avLst>
              <a:gd name="adj" fmla="val 5000"/>
            </a:avLst>
          </a:prstGeom>
          <a:solidFill>
            <a:srgbClr val="ECE4D4"/>
          </a:solidFill>
        </p:spPr>
        <p:txBody>
          <a:bodyPr/>
          <a:lstStyle/>
          <a:p/>
        </p:txBody>
      </p:sp>
      <p:sp>
        <p:nvSpPr>
          <p:cNvPr id="902" name="枠 11"/>
          <p:cNvSpPr>
            <a:spLocks noGrp="1"/>
          </p:cNvSpPr>
          <p:nvPr>
            <p:ph type="pic" idx="11"/>
          </p:nvPr>
        </p:nvSpPr>
        <p:spPr>
          <a:xfrm>
            <a:off x="1498418" y="2414016"/>
            <a:ext cx="840050" cy="1143000"/>
          </a:xfrm>
          <a:prstGeom prst="roundRect">
            <a:avLst>
              <a:gd name="adj" fmla="val 5000"/>
            </a:avLst>
          </a:prstGeom>
          <a:solidFill>
            <a:srgbClr val="ECE4D4"/>
          </a:solidFill>
        </p:spPr>
        <p:txBody>
          <a:bodyPr/>
          <a:lstStyle/>
          <a:p/>
        </p:txBody>
      </p:sp>
      <p:sp>
        <p:nvSpPr>
          <p:cNvPr id="903" name="枠 12"/>
          <p:cNvSpPr>
            <a:spLocks noGrp="1"/>
          </p:cNvSpPr>
          <p:nvPr>
            <p:ph type="pic" idx="12"/>
          </p:nvPr>
        </p:nvSpPr>
        <p:spPr>
          <a:xfrm>
            <a:off x="2429909" y="2414016"/>
            <a:ext cx="840050" cy="1143000"/>
          </a:xfrm>
          <a:prstGeom prst="roundRect">
            <a:avLst>
              <a:gd name="adj" fmla="val 5000"/>
            </a:avLst>
          </a:prstGeom>
          <a:solidFill>
            <a:srgbClr val="ECE4D4"/>
          </a:solidFill>
        </p:spPr>
        <p:txBody>
          <a:bodyPr/>
          <a:lstStyle/>
          <a:p/>
        </p:txBody>
      </p:sp>
      <p:sp>
        <p:nvSpPr>
          <p:cNvPr id="904" name="枠 13"/>
          <p:cNvSpPr>
            <a:spLocks noGrp="1"/>
          </p:cNvSpPr>
          <p:nvPr>
            <p:ph type="pic" idx="13"/>
          </p:nvPr>
        </p:nvSpPr>
        <p:spPr>
          <a:xfrm>
            <a:off x="3361399" y="2414016"/>
            <a:ext cx="840050" cy="1143000"/>
          </a:xfrm>
          <a:prstGeom prst="roundRect">
            <a:avLst>
              <a:gd name="adj" fmla="val 5000"/>
            </a:avLst>
          </a:prstGeom>
          <a:solidFill>
            <a:srgbClr val="ECE4D4"/>
          </a:solidFill>
        </p:spPr>
        <p:txBody>
          <a:bodyPr/>
          <a:lstStyle/>
          <a:p/>
        </p:txBody>
      </p:sp>
      <p:sp>
        <p:nvSpPr>
          <p:cNvPr id="905" name="枠 14"/>
          <p:cNvSpPr>
            <a:spLocks noGrp="1"/>
          </p:cNvSpPr>
          <p:nvPr>
            <p:ph type="pic" idx="14"/>
          </p:nvPr>
        </p:nvSpPr>
        <p:spPr>
          <a:xfrm>
            <a:off x="4292890" y="2414016"/>
            <a:ext cx="840050" cy="1143000"/>
          </a:xfrm>
          <a:prstGeom prst="roundRect">
            <a:avLst>
              <a:gd name="adj" fmla="val 5000"/>
            </a:avLst>
          </a:prstGeom>
          <a:solidFill>
            <a:srgbClr val="ECE4D4"/>
          </a:solidFill>
        </p:spPr>
        <p:txBody>
          <a:bodyPr/>
          <a:lstStyle/>
          <a:p/>
        </p:txBody>
      </p:sp>
      <p:sp>
        <p:nvSpPr>
          <p:cNvPr id="906" name="枠 15"/>
          <p:cNvSpPr>
            <a:spLocks noGrp="1"/>
          </p:cNvSpPr>
          <p:nvPr>
            <p:ph type="pic" idx="15"/>
          </p:nvPr>
        </p:nvSpPr>
        <p:spPr>
          <a:xfrm>
            <a:off x="5224380" y="2414016"/>
            <a:ext cx="840050" cy="1143000"/>
          </a:xfrm>
          <a:prstGeom prst="roundRect">
            <a:avLst>
              <a:gd name="adj" fmla="val 5000"/>
            </a:avLst>
          </a:prstGeom>
          <a:solidFill>
            <a:srgbClr val="ECE4D4"/>
          </a:solidFill>
        </p:spPr>
        <p:txBody>
          <a:bodyPr/>
          <a:lstStyle/>
          <a:p/>
        </p:txBody>
      </p:sp>
      <p:sp>
        <p:nvSpPr>
          <p:cNvPr id="907" name="枠 16"/>
          <p:cNvSpPr>
            <a:spLocks noGrp="1"/>
          </p:cNvSpPr>
          <p:nvPr>
            <p:ph type="pic" idx="16"/>
          </p:nvPr>
        </p:nvSpPr>
        <p:spPr>
          <a:xfrm>
            <a:off x="6155871" y="2414016"/>
            <a:ext cx="840050" cy="1143000"/>
          </a:xfrm>
          <a:prstGeom prst="roundRect">
            <a:avLst>
              <a:gd name="adj" fmla="val 5000"/>
            </a:avLst>
          </a:prstGeom>
          <a:solidFill>
            <a:srgbClr val="ECE4D4"/>
          </a:solidFill>
        </p:spPr>
        <p:txBody>
          <a:bodyPr/>
          <a:lstStyle/>
          <a:p/>
        </p:txBody>
      </p:sp>
      <p:sp>
        <p:nvSpPr>
          <p:cNvPr id="908" name="枠 20"/>
          <p:cNvSpPr>
            <a:spLocks noGrp="1"/>
          </p:cNvSpPr>
          <p:nvPr>
            <p:ph type="pic" idx="20"/>
          </p:nvPr>
        </p:nvSpPr>
        <p:spPr>
          <a:xfrm>
            <a:off x="566928" y="4114800"/>
            <a:ext cx="1929638" cy="1417320"/>
          </a:xfrm>
          <a:prstGeom prst="roundRect">
            <a:avLst>
              <a:gd name="adj" fmla="val 5000"/>
            </a:avLst>
          </a:prstGeom>
          <a:solidFill>
            <a:srgbClr val="ECE4D4"/>
          </a:solidFill>
        </p:spPr>
        <p:txBody>
          <a:bodyPr/>
          <a:lstStyle/>
          <a:p/>
        </p:txBody>
      </p:sp>
      <p:sp>
        <p:nvSpPr>
          <p:cNvPr id="909" name="枠 21"/>
          <p:cNvSpPr>
            <a:spLocks noGrp="1"/>
          </p:cNvSpPr>
          <p:nvPr>
            <p:ph type="pic" idx="21"/>
          </p:nvPr>
        </p:nvSpPr>
        <p:spPr>
          <a:xfrm>
            <a:off x="2816606" y="4114800"/>
            <a:ext cx="1929638" cy="1417320"/>
          </a:xfrm>
          <a:prstGeom prst="roundRect">
            <a:avLst>
              <a:gd name="adj" fmla="val 5000"/>
            </a:avLst>
          </a:prstGeom>
          <a:solidFill>
            <a:srgbClr val="ECE4D4"/>
          </a:solidFill>
        </p:spPr>
        <p:txBody>
          <a:bodyPr/>
          <a:lstStyle/>
          <a:p/>
        </p:txBody>
      </p:sp>
      <p:sp>
        <p:nvSpPr>
          <p:cNvPr id="910" name="枠 22"/>
          <p:cNvSpPr>
            <a:spLocks noGrp="1"/>
          </p:cNvSpPr>
          <p:nvPr>
            <p:ph type="pic" idx="22"/>
          </p:nvPr>
        </p:nvSpPr>
        <p:spPr>
          <a:xfrm>
            <a:off x="5066284" y="4114800"/>
            <a:ext cx="1929638" cy="1417320"/>
          </a:xfrm>
          <a:prstGeom prst="roundRect">
            <a:avLst>
              <a:gd name="adj" fmla="val 5000"/>
            </a:avLst>
          </a:prstGeom>
          <a:solidFill>
            <a:srgbClr val="ECE4D4"/>
          </a:solidFill>
        </p:spPr>
        <p:txBody>
          <a:bodyPr/>
          <a:lstStyle/>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01" name="枠 10"/>
          <p:cNvSpPr>
            <a:spLocks noGrp="1"/>
          </p:cNvSpPr>
          <p:nvPr>
            <p:ph type="pic" idx="10"/>
          </p:nvPr>
        </p:nvSpPr>
        <p:spPr>
          <a:xfrm>
            <a:off x="566928" y="2240280"/>
            <a:ext cx="2148840" cy="1600200"/>
          </a:xfrm>
          <a:prstGeom prst="roundRect">
            <a:avLst>
              <a:gd name="adj" fmla="val 5000"/>
            </a:avLst>
          </a:prstGeom>
          <a:solidFill>
            <a:srgbClr val="ECE4D4"/>
          </a:solidFill>
        </p:spPr>
        <p:txBody>
          <a:bodyPr/>
          <a:lstStyle/>
          <a:p/>
        </p:txBody>
      </p:sp>
      <p:sp>
        <p:nvSpPr>
          <p:cNvPr id="1002" name="枠 20"/>
          <p:cNvSpPr>
            <a:spLocks noGrp="1"/>
          </p:cNvSpPr>
          <p:nvPr>
            <p:ph type="pic" idx="20"/>
          </p:nvPr>
        </p:nvSpPr>
        <p:spPr>
          <a:xfrm>
            <a:off x="6035802" y="2560320"/>
            <a:ext cx="960120" cy="960120"/>
          </a:xfrm>
          <a:prstGeom prst="roundRect">
            <a:avLst>
              <a:gd name="adj" fmla="val 2000"/>
            </a:avLst>
          </a:prstGeom>
          <a:solidFill>
            <a:srgbClr val="ECE4D4"/>
          </a:solidFill>
        </p:spPr>
        <p:txBody>
          <a:bodyPr/>
          <a:lstStyle/>
          <a:p/>
        </p:txBody>
      </p:sp>
      <p:sp>
        <p:nvSpPr>
          <p:cNvPr id="1003" name="枠 11"/>
          <p:cNvSpPr>
            <a:spLocks noGrp="1"/>
          </p:cNvSpPr>
          <p:nvPr>
            <p:ph type="pic" idx="11"/>
          </p:nvPr>
        </p:nvSpPr>
        <p:spPr>
          <a:xfrm>
            <a:off x="566928" y="4050792"/>
            <a:ext cx="2148840" cy="1600200"/>
          </a:xfrm>
          <a:prstGeom prst="roundRect">
            <a:avLst>
              <a:gd name="adj" fmla="val 5000"/>
            </a:avLst>
          </a:prstGeom>
          <a:solidFill>
            <a:srgbClr val="ECE4D4"/>
          </a:solidFill>
        </p:spPr>
        <p:txBody>
          <a:bodyPr/>
          <a:lstStyle/>
          <a:p/>
        </p:txBody>
      </p:sp>
      <p:sp>
        <p:nvSpPr>
          <p:cNvPr id="1004" name="枠 21"/>
          <p:cNvSpPr>
            <a:spLocks noGrp="1"/>
          </p:cNvSpPr>
          <p:nvPr>
            <p:ph type="pic" idx="21"/>
          </p:nvPr>
        </p:nvSpPr>
        <p:spPr>
          <a:xfrm>
            <a:off x="6035802" y="4370832"/>
            <a:ext cx="960120" cy="960120"/>
          </a:xfrm>
          <a:prstGeom prst="roundRect">
            <a:avLst>
              <a:gd name="adj" fmla="val 2000"/>
            </a:avLst>
          </a:prstGeom>
          <a:solidFill>
            <a:srgbClr val="ECE4D4"/>
          </a:solidFill>
        </p:spPr>
        <p:txBody>
          <a:bodyPr/>
          <a:lstStyle/>
          <a:p/>
        </p:txBody>
      </p:sp>
      <p:sp>
        <p:nvSpPr>
          <p:cNvPr id="1005" name="枠 12"/>
          <p:cNvSpPr>
            <a:spLocks noGrp="1"/>
          </p:cNvSpPr>
          <p:nvPr>
            <p:ph type="pic" idx="12"/>
          </p:nvPr>
        </p:nvSpPr>
        <p:spPr>
          <a:xfrm>
            <a:off x="566928" y="5861304"/>
            <a:ext cx="2148840" cy="1600200"/>
          </a:xfrm>
          <a:prstGeom prst="roundRect">
            <a:avLst>
              <a:gd name="adj" fmla="val 5000"/>
            </a:avLst>
          </a:prstGeom>
          <a:solidFill>
            <a:srgbClr val="ECE4D4"/>
          </a:solidFill>
        </p:spPr>
        <p:txBody>
          <a:bodyPr/>
          <a:lstStyle/>
          <a:p/>
        </p:txBody>
      </p:sp>
      <p:sp>
        <p:nvSpPr>
          <p:cNvPr id="1006" name="枠 22"/>
          <p:cNvSpPr>
            <a:spLocks noGrp="1"/>
          </p:cNvSpPr>
          <p:nvPr>
            <p:ph type="pic" idx="22"/>
          </p:nvPr>
        </p:nvSpPr>
        <p:spPr>
          <a:xfrm>
            <a:off x="6035802" y="6181344"/>
            <a:ext cx="960120" cy="960120"/>
          </a:xfrm>
          <a:prstGeom prst="roundRect">
            <a:avLst>
              <a:gd name="adj" fmla="val 2000"/>
            </a:avLst>
          </a:prstGeom>
          <a:solidFill>
            <a:srgbClr val="ECE4D4"/>
          </a:solidFill>
        </p:spPr>
        <p:txBody>
          <a:bodyPr/>
          <a:lstStyle/>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46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“似合う”から考える、鼻のデザイン。</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lang="en-US" altLang="ja-JP" sz="1250" b="1" dirty="0">
                <a:solidFill>
                  <a:srgbClr val="3A3326"/>
                </a:solidFill>
                <a:latin typeface="游明朝"/>
                <a:ea typeface="游明朝"/>
              </a:rPr>
              <a:t>Natural</a:t>
            </a:r>
            <a:endParaRPr sz="1250" b="1" dirty="0">
              <a:solidFill>
                <a:srgbClr val="3A3326"/>
              </a:solidFill>
              <a:latin typeface="游明朝"/>
              <a:ea typeface="游明朝"/>
            </a:endParaRP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本カタログは、Dr.羽根の症例を「お悩み（部位）」ごとに整理し、各症例に「なりたい印象」を1つ添えた症例集です。気になるお悩みからでも、なりたい印象からでも、ご自身に近い実例が見つかります。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⑤ </a:t>
            </a:r>
            <a:r>
              <a:rPr sz="1100" b="1" dirty="0" err="1">
                <a:solidFill>
                  <a:srgbClr val="3A3326"/>
                </a:solidFill>
                <a:latin typeface="游ゴシック"/>
                <a:ea typeface="游ゴシック"/>
              </a:rPr>
              <a:t>ダウンタイム</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腫れ・内出血が引くまでの目安</a:t>
            </a:r>
            <a:endParaRPr sz="930" b="0" dirty="0">
              <a:solidFill>
                <a:srgbClr val="7A7060"/>
              </a:solidFill>
              <a:latin typeface="游ゴシック"/>
              <a:ea typeface="游ゴシック"/>
            </a:endParaRP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1700" b="1" dirty="0">
                <a:solidFill>
                  <a:srgbClr val="3A3326"/>
                </a:solidFill>
                <a:latin typeface="游明朝"/>
                <a:ea typeface="游明朝"/>
              </a:rPr>
              <a:t>Natural</a:t>
            </a:r>
            <a:endParaRPr sz="1700" b="1" dirty="0">
              <a:solidFill>
                <a:srgbClr val="3A3326"/>
              </a:solidFill>
              <a:latin typeface="游明朝"/>
              <a:ea typeface="游明朝"/>
            </a:endParaRP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180306"/>
          </a:xfrm>
          <a:prstGeom prst="rect">
            <a:avLst/>
          </a:prstGeom>
          <a:noFill/>
        </p:spPr>
        <p:txBody>
          <a:bodyPr wrap="square" lIns="0" tIns="0" rIns="0" bIns="0" anchor="t">
            <a:spAutoFit/>
          </a:bodyPr>
          <a:lstStyle/>
          <a:p>
            <a:pPr algn="l">
              <a:lnSpc>
                <a:spcPct val="125000"/>
              </a:lnSpc>
              <a:spcBef>
                <a:spcPts val="0"/>
              </a:spcBef>
              <a:spcAft>
                <a:spcPts val="200"/>
              </a:spcAft>
            </a:pPr>
            <a:r>
              <a:rPr sz="1000" b="1" dirty="0" err="1">
                <a:solidFill>
                  <a:srgbClr val="8C7339"/>
                </a:solidFill>
                <a:latin typeface="游ゴシック"/>
                <a:ea typeface="游ゴシック"/>
              </a:rPr>
              <a:t>設計の方向</a:t>
            </a:r>
            <a:r>
              <a:rPr sz="1000" b="1" dirty="0">
                <a:solidFill>
                  <a:srgbClr val="8C7339"/>
                </a:solidFill>
                <a:latin typeface="游ゴシック"/>
                <a:ea typeface="游ゴシック"/>
              </a:rPr>
              <a:t>　　</a:t>
            </a:r>
            <a:r>
              <a:rPr sz="1000" b="0" dirty="0" err="1">
                <a:solidFill>
                  <a:srgbClr val="3A3326"/>
                </a:solidFill>
                <a:latin typeface="游ゴシック"/>
                <a:ea typeface="游ゴシック"/>
              </a:rPr>
              <a:t>余計な凹凸だけを整え、自然で“バレない</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デザイン</a:t>
            </a:r>
            <a:r>
              <a:rPr sz="1000" b="0" dirty="0">
                <a:solidFill>
                  <a:srgbClr val="3A3326"/>
                </a:solidFill>
                <a:latin typeface="游ゴシック"/>
                <a:ea typeface="游ゴシック"/>
              </a:rPr>
              <a:t>。</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53783"/>
            <a:ext cx="5788914" cy="459421"/>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a:t>
            </a:r>
            <a:r>
              <a:rPr sz="1050" b="0" dirty="0">
                <a:solidFill>
                  <a:srgbClr val="3A3326"/>
                </a:solidFill>
                <a:latin typeface="游ゴシック"/>
                <a:ea typeface="游ゴシック"/>
              </a:rPr>
              <a:t>。</a:t>
            </a:r>
            <a:endParaRPr lang="en-US" sz="1050" b="0" dirty="0">
              <a:solidFill>
                <a:srgbClr val="3A3326"/>
              </a:solidFill>
              <a:latin typeface="游ゴシック"/>
              <a:ea typeface="游ゴシック"/>
            </a:endParaRPr>
          </a:p>
          <a:p>
            <a:pPr algn="l">
              <a:lnSpc>
                <a:spcPct val="140000"/>
              </a:lnSpc>
              <a:spcBef>
                <a:spcPts val="0"/>
              </a:spcBef>
              <a:spcAft>
                <a:spcPts val="200"/>
              </a:spcAft>
            </a:pPr>
            <a:r>
              <a:rPr sz="1050" b="0" dirty="0" err="1">
                <a:solidFill>
                  <a:srgbClr val="3A3326"/>
                </a:solidFill>
                <a:latin typeface="游ゴシック"/>
                <a:ea typeface="游ゴシック"/>
              </a:rPr>
              <a:t>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extLst>
              <p:ext uri="{D42A27DB-BD31-4B8C-83A1-F6EECF244321}">
                <p14:modId xmlns:p14="http://schemas.microsoft.com/office/powerpoint/2010/main" val="2169416578"/>
              </p:ext>
            </p:extLst>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extLst>
                    <a:ext uri="{9D8B030D-6E8A-4147-A177-3AD203B41FA5}">
                      <a16:colId xmlns:a16="http://schemas.microsoft.com/office/drawing/2014/main" val="20000"/>
                    </a:ext>
                  </a:extLst>
                </a:gridCol>
                <a:gridCol w="1542958">
                  <a:extLst>
                    <a:ext uri="{9D8B030D-6E8A-4147-A177-3AD203B41FA5}">
                      <a16:colId xmlns:a16="http://schemas.microsoft.com/office/drawing/2014/main" val="20001"/>
                    </a:ext>
                  </a:extLst>
                </a:gridCol>
                <a:gridCol w="1285798">
                  <a:extLst>
                    <a:ext uri="{9D8B030D-6E8A-4147-A177-3AD203B41FA5}">
                      <a16:colId xmlns:a16="http://schemas.microsoft.com/office/drawing/2014/main" val="20002"/>
                    </a:ext>
                  </a:extLst>
                </a:gridCol>
              </a:tblGrid>
              <a:tr h="370332">
                <a:tc>
                  <a:txBody>
                    <a:bodyPr/>
                    <a:lstStyle/>
                    <a:p>
                      <a:pPr algn="l"/>
                      <a:r>
                        <a:rPr sz="1100" b="1">
                          <a:solidFill>
                            <a:srgbClr val="FFFFFF"/>
                          </a:solidFill>
                          <a:latin typeface="游明朝"/>
                          <a:ea typeface="游明朝"/>
                        </a:rPr>
                        <a:t>お悩み（症例）</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印象</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ページ</a:t>
                      </a:r>
                    </a:p>
                  </a:txBody>
                  <a:tcPr marL="80000" marR="60000" marT="12000" marB="12000" anchor="ctr">
                    <a:solidFill>
                      <a:srgbClr val="B0934E"/>
                    </a:solidFill>
                  </a:tcPr>
                </a:tc>
                <a:extLst>
                  <a:ext uri="{0D108BD9-81ED-4DB2-BD59-A6C34878D82A}">
                    <a16:rowId xmlns:a16="http://schemas.microsoft.com/office/drawing/2014/main" val="10000"/>
                  </a:ext>
                </a:extLst>
              </a:tr>
              <a:tr h="370332">
                <a:tc gridSpan="3">
                  <a:txBody>
                    <a:bodyPr/>
                    <a:lstStyle/>
                    <a:p>
                      <a:pPr algn="l"/>
                      <a:r>
                        <a:rPr sz="1150" b="1">
                          <a:solidFill>
                            <a:srgbClr val="8C7339"/>
                          </a:solidFill>
                          <a:latin typeface="游明朝"/>
                          <a:ea typeface="游明朝"/>
                        </a:rPr>
                        <a:t>■ 鼻先</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370332">
                <a:tc>
                  <a:txBody>
                    <a:bodyPr/>
                    <a:lstStyle/>
                    <a:p>
                      <a:pPr algn="l"/>
                      <a:r>
                        <a:rPr sz="1100" b="0">
                          <a:solidFill>
                            <a:srgbClr val="3A3326"/>
                          </a:solidFill>
                          <a:latin typeface="游ゴシック"/>
                          <a:ea typeface="游ゴシック"/>
                        </a:rPr>
                        <a:t>団子鼻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P05</a:t>
                      </a:r>
                    </a:p>
                  </a:txBody>
                  <a:tcPr marL="80000" marR="60000" marT="12000" marB="12000" anchor="ctr">
                    <a:solidFill>
                      <a:srgbClr val="FDFBF6"/>
                    </a:solidFill>
                  </a:tcPr>
                </a:tc>
                <a:extLst>
                  <a:ext uri="{0D108BD9-81ED-4DB2-BD59-A6C34878D82A}">
                    <a16:rowId xmlns:a16="http://schemas.microsoft.com/office/drawing/2014/main" val="10002"/>
                  </a:ext>
                </a:extLst>
              </a:tr>
              <a:tr h="370332">
                <a:tc>
                  <a:txBody>
                    <a:bodyPr/>
                    <a:lstStyle/>
                    <a:p>
                      <a:pPr algn="l"/>
                      <a:r>
                        <a:rPr sz="1100" b="0">
                          <a:solidFill>
                            <a:srgbClr val="3A3326"/>
                          </a:solidFill>
                          <a:latin typeface="游ゴシック"/>
                          <a:ea typeface="游ゴシック"/>
                        </a:rPr>
                        <a:t>鼻先の丸み</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可愛い</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P06</a:t>
                      </a:r>
                    </a:p>
                  </a:txBody>
                  <a:tcPr marL="80000" marR="60000" marT="12000" marB="12000" anchor="ctr">
                    <a:solidFill>
                      <a:srgbClr val="FDFBF6"/>
                    </a:solidFill>
                  </a:tcPr>
                </a:tc>
                <a:extLst>
                  <a:ext uri="{0D108BD9-81ED-4DB2-BD59-A6C34878D82A}">
                    <a16:rowId xmlns:a16="http://schemas.microsoft.com/office/drawing/2014/main" val="10003"/>
                  </a:ext>
                </a:extLst>
              </a:tr>
              <a:tr h="370332">
                <a:tc>
                  <a:txBody>
                    <a:bodyPr/>
                    <a:lstStyle/>
                    <a:p>
                      <a:pPr algn="l"/>
                      <a:r>
                        <a:rPr sz="1100" b="0">
                          <a:solidFill>
                            <a:srgbClr val="3A3326"/>
                          </a:solidFill>
                          <a:latin typeface="游ゴシック"/>
                          <a:ea typeface="游ゴシック"/>
                        </a:rPr>
                        <a:t>鼻先の大きさ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P07</a:t>
                      </a:r>
                    </a:p>
                  </a:txBody>
                  <a:tcPr marL="80000" marR="60000" marT="12000" marB="12000" anchor="ctr">
                    <a:solidFill>
                      <a:srgbClr val="FDFBF6"/>
                    </a:solidFill>
                  </a:tcPr>
                </a:tc>
                <a:extLst>
                  <a:ext uri="{0D108BD9-81ED-4DB2-BD59-A6C34878D82A}">
                    <a16:rowId xmlns:a16="http://schemas.microsoft.com/office/drawing/2014/main" val="10004"/>
                  </a:ext>
                </a:extLst>
              </a:tr>
              <a:tr h="370332">
                <a:tc gridSpan="3">
                  <a:txBody>
                    <a:bodyPr/>
                    <a:lstStyle/>
                    <a:p>
                      <a:pPr algn="l"/>
                      <a:r>
                        <a:rPr sz="1150" b="1">
                          <a:solidFill>
                            <a:srgbClr val="8C7339"/>
                          </a:solidFill>
                          <a:latin typeface="游明朝"/>
                          <a:ea typeface="游明朝"/>
                        </a:rPr>
                        <a:t>■ 鼻筋</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370332">
                <a:tc>
                  <a:txBody>
                    <a:bodyPr/>
                    <a:lstStyle/>
                    <a:p>
                      <a:pPr algn="l"/>
                      <a:r>
                        <a:rPr sz="1100" b="0">
                          <a:solidFill>
                            <a:srgbClr val="3A3326"/>
                          </a:solidFill>
                          <a:latin typeface="游ゴシック"/>
                          <a:ea typeface="游ゴシック"/>
                        </a:rPr>
                        <a:t>鼻筋の低さ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P09</a:t>
                      </a:r>
                    </a:p>
                  </a:txBody>
                  <a:tcPr marL="80000" marR="60000" marT="12000" marB="12000" anchor="ctr">
                    <a:solidFill>
                      <a:srgbClr val="FDFBF6"/>
                    </a:solidFill>
                  </a:tcPr>
                </a:tc>
                <a:extLst>
                  <a:ext uri="{0D108BD9-81ED-4DB2-BD59-A6C34878D82A}">
                    <a16:rowId xmlns:a16="http://schemas.microsoft.com/office/drawing/2014/main" val="10006"/>
                  </a:ext>
                </a:extLst>
              </a:tr>
              <a:tr h="370332">
                <a:tc>
                  <a:txBody>
                    <a:bodyPr/>
                    <a:lstStyle/>
                    <a:p>
                      <a:pPr algn="l"/>
                      <a:r>
                        <a:rPr sz="1100" b="0">
                          <a:solidFill>
                            <a:srgbClr val="3A3326"/>
                          </a:solidFill>
                          <a:latin typeface="游ゴシック"/>
                          <a:ea typeface="游ゴシック"/>
                        </a:rPr>
                        <a:t>わし鼻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P10</a:t>
                      </a:r>
                    </a:p>
                  </a:txBody>
                  <a:tcPr marL="80000" marR="60000" marT="12000" marB="12000" anchor="ctr">
                    <a:solidFill>
                      <a:srgbClr val="FDFBF6"/>
                    </a:solidFill>
                  </a:tcPr>
                </a:tc>
                <a:extLst>
                  <a:ext uri="{0D108BD9-81ED-4DB2-BD59-A6C34878D82A}">
                    <a16:rowId xmlns:a16="http://schemas.microsoft.com/office/drawing/2014/main" val="10007"/>
                  </a:ext>
                </a:extLst>
              </a:tr>
              <a:tr h="370332">
                <a:tc>
                  <a:txBody>
                    <a:bodyPr/>
                    <a:lstStyle/>
                    <a:p>
                      <a:pPr algn="l"/>
                      <a:r>
                        <a:rPr sz="1100" b="0">
                          <a:solidFill>
                            <a:srgbClr val="3A3326"/>
                          </a:solidFill>
                          <a:latin typeface="游ゴシック"/>
                          <a:ea typeface="游ゴシック"/>
                        </a:rPr>
                        <a:t>鼻筋の太さ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P11</a:t>
                      </a:r>
                    </a:p>
                  </a:txBody>
                  <a:tcPr marL="80000" marR="60000" marT="12000" marB="12000" anchor="ctr">
                    <a:solidFill>
                      <a:srgbClr val="FDFBF6"/>
                    </a:solidFill>
                  </a:tcPr>
                </a:tc>
                <a:extLst>
                  <a:ext uri="{0D108BD9-81ED-4DB2-BD59-A6C34878D82A}">
                    <a16:rowId xmlns:a16="http://schemas.microsoft.com/office/drawing/2014/main" val="10008"/>
                  </a:ext>
                </a:extLst>
              </a:tr>
              <a:tr h="370332">
                <a:tc gridSpan="3">
                  <a:txBody>
                    <a:bodyPr/>
                    <a:lstStyle/>
                    <a:p>
                      <a:pPr algn="l"/>
                      <a:r>
                        <a:rPr sz="1150" b="1">
                          <a:solidFill>
                            <a:srgbClr val="8C7339"/>
                          </a:solidFill>
                          <a:latin typeface="游明朝"/>
                          <a:ea typeface="游明朝"/>
                        </a:rPr>
                        <a:t>■ 小鼻・鼻の穴</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370332">
                <a:tc>
                  <a:txBody>
                    <a:bodyPr/>
                    <a:lstStyle/>
                    <a:p>
                      <a:pPr algn="l"/>
                      <a:r>
                        <a:rPr sz="1100" b="0">
                          <a:solidFill>
                            <a:srgbClr val="3A3326"/>
                          </a:solidFill>
                          <a:latin typeface="游ゴシック"/>
                          <a:ea typeface="游ゴシック"/>
                        </a:rPr>
                        <a:t>小鼻の大きさ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P13</a:t>
                      </a:r>
                    </a:p>
                  </a:txBody>
                  <a:tcPr marL="80000" marR="60000" marT="12000" marB="12000" anchor="ctr">
                    <a:solidFill>
                      <a:srgbClr val="FDFBF6"/>
                    </a:solidFill>
                  </a:tcPr>
                </a:tc>
                <a:extLst>
                  <a:ext uri="{0D108BD9-81ED-4DB2-BD59-A6C34878D82A}">
                    <a16:rowId xmlns:a16="http://schemas.microsoft.com/office/drawing/2014/main" val="10010"/>
                  </a:ext>
                </a:extLst>
              </a:tr>
              <a:tr h="370332">
                <a:tc>
                  <a:txBody>
                    <a:bodyPr/>
                    <a:lstStyle/>
                    <a:p>
                      <a:pPr algn="l"/>
                      <a:r>
                        <a:rPr sz="1100" b="0">
                          <a:solidFill>
                            <a:srgbClr val="3A3326"/>
                          </a:solidFill>
                          <a:latin typeface="游ゴシック"/>
                          <a:ea typeface="游ゴシック"/>
                        </a:rPr>
                        <a:t>鼻の穴が目立つ</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P14</a:t>
                      </a:r>
                    </a:p>
                  </a:txBody>
                  <a:tcPr marL="80000" marR="60000" marT="12000" marB="12000" anchor="ctr">
                    <a:solidFill>
                      <a:srgbClr val="FDFBF6"/>
                    </a:solidFill>
                  </a:tcPr>
                </a:tc>
                <a:extLst>
                  <a:ext uri="{0D108BD9-81ED-4DB2-BD59-A6C34878D82A}">
                    <a16:rowId xmlns:a16="http://schemas.microsoft.com/office/drawing/2014/main" val="10011"/>
                  </a:ext>
                </a:extLst>
              </a:tr>
              <a:tr h="370332">
                <a:tc>
                  <a:txBody>
                    <a:bodyPr/>
                    <a:lstStyle/>
                    <a:p>
                      <a:pPr algn="l"/>
                      <a:r>
                        <a:rPr sz="1100" b="0">
                          <a:solidFill>
                            <a:srgbClr val="3A3326"/>
                          </a:solidFill>
                          <a:latin typeface="游ゴシック"/>
                          <a:ea typeface="游ゴシック"/>
                        </a:rPr>
                        <a:t>肉厚鼻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P15</a:t>
                      </a:r>
                    </a:p>
                  </a:txBody>
                  <a:tcPr marL="80000" marR="60000" marT="12000" marB="12000" anchor="ctr">
                    <a:solidFill>
                      <a:srgbClr val="FDFBF6"/>
                    </a:solidFill>
                  </a:tcPr>
                </a:tc>
                <a:extLst>
                  <a:ext uri="{0D108BD9-81ED-4DB2-BD59-A6C34878D82A}">
                    <a16:rowId xmlns:a16="http://schemas.microsoft.com/office/drawing/2014/main" val="10012"/>
                  </a:ext>
                </a:extLst>
              </a:tr>
              <a:tr h="370332">
                <a:tc gridSpan="3">
                  <a:txBody>
                    <a:bodyPr/>
                    <a:lstStyle/>
                    <a:p>
                      <a:pPr algn="l"/>
                      <a:r>
                        <a:rPr sz="1150" b="1">
                          <a:solidFill>
                            <a:srgbClr val="8C7339"/>
                          </a:solidFill>
                          <a:latin typeface="游明朝"/>
                          <a:ea typeface="游明朝"/>
                        </a:rPr>
                        <a:t>■ 全体・横顔</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3"/>
                  </a:ext>
                </a:extLst>
              </a:tr>
              <a:tr h="370332">
                <a:tc>
                  <a:txBody>
                    <a:bodyPr/>
                    <a:lstStyle/>
                    <a:p>
                      <a:pPr algn="l"/>
                      <a:r>
                        <a:rPr sz="1100" b="0">
                          <a:solidFill>
                            <a:srgbClr val="3A3326"/>
                          </a:solidFill>
                          <a:latin typeface="游ゴシック"/>
                          <a:ea typeface="游ゴシック"/>
                        </a:rPr>
                        <a:t>Eラインを整えたい</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P17</a:t>
                      </a:r>
                    </a:p>
                  </a:txBody>
                  <a:tcPr marL="80000" marR="60000" marT="12000" marB="12000" anchor="ctr">
                    <a:solidFill>
                      <a:srgbClr val="FDFBF6"/>
                    </a:solidFill>
                  </a:tcPr>
                </a:tc>
                <a:extLst>
                  <a:ext uri="{0D108BD9-81ED-4DB2-BD59-A6C34878D82A}">
                    <a16:rowId xmlns:a16="http://schemas.microsoft.com/office/drawing/2014/main" val="10014"/>
                  </a:ext>
                </a:extLst>
              </a:tr>
              <a:tr h="370332">
                <a:tc>
                  <a:txBody>
                    <a:bodyPr/>
                    <a:lstStyle/>
                    <a:p>
                      <a:pPr algn="l"/>
                      <a:r>
                        <a:rPr sz="1100" b="0">
                          <a:solidFill>
                            <a:srgbClr val="3A3326"/>
                          </a:solidFill>
                          <a:latin typeface="游ゴシック"/>
                          <a:ea typeface="游ゴシック"/>
                        </a:rPr>
                        <a:t>鼻を高くしたい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P18</a:t>
                      </a:r>
                    </a:p>
                  </a:txBody>
                  <a:tcPr marL="80000" marR="60000" marT="12000" marB="12000" anchor="ctr">
                    <a:solidFill>
                      <a:srgbClr val="FDFBF6"/>
                    </a:solidFill>
                  </a:tcPr>
                </a:tc>
                <a:extLst>
                  <a:ext uri="{0D108BD9-81ED-4DB2-BD59-A6C34878D82A}">
                    <a16:rowId xmlns:a16="http://schemas.microsoft.com/office/drawing/2014/main" val="10015"/>
                  </a:ext>
                </a:extLst>
              </a:tr>
              <a:tr h="370332">
                <a:tc>
                  <a:txBody>
                    <a:bodyPr/>
                    <a:lstStyle/>
                    <a:p>
                      <a:pPr algn="l"/>
                      <a:r>
                        <a:rPr sz="1100" b="0">
                          <a:solidFill>
                            <a:srgbClr val="3A3326"/>
                          </a:solidFill>
                          <a:latin typeface="游ゴシック"/>
                          <a:ea typeface="游ゴシック"/>
                        </a:rPr>
                        <a:t>忘れ鼻になりたい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P19</a:t>
                      </a:r>
                    </a:p>
                  </a:txBody>
                  <a:tcPr marL="80000" marR="60000" marT="12000" marB="12000" anchor="ctr">
                    <a:solidFill>
                      <a:srgbClr val="FDFBF6"/>
                    </a:solidFill>
                  </a:tcPr>
                </a:tc>
                <a:extLst>
                  <a:ext uri="{0D108BD9-81ED-4DB2-BD59-A6C34878D82A}">
                    <a16:rowId xmlns:a16="http://schemas.microsoft.com/office/drawing/2014/main" val="10016"/>
                  </a:ext>
                </a:extLst>
              </a:tr>
              <a:tr h="370332">
                <a:tc gridSpan="3">
                  <a:txBody>
                    <a:bodyPr/>
                    <a:lstStyle/>
                    <a:p>
                      <a:pPr algn="l"/>
                      <a:r>
                        <a:rPr sz="1150" b="1">
                          <a:solidFill>
                            <a:srgbClr val="8C7339"/>
                          </a:solidFill>
                          <a:latin typeface="游明朝"/>
                          <a:ea typeface="游明朝"/>
                        </a:rPr>
                        <a:t>■ 専門・修正</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370332">
                <a:tc>
                  <a:txBody>
                    <a:bodyPr/>
                    <a:lstStyle/>
                    <a:p>
                      <a:pPr algn="l"/>
                      <a:r>
                        <a:rPr sz="1100" b="0">
                          <a:solidFill>
                            <a:srgbClr val="3A3326"/>
                          </a:solidFill>
                          <a:latin typeface="游ゴシック"/>
                          <a:ea typeface="游ゴシック"/>
                        </a:rPr>
                        <a:t>拘縮鼻の修正</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P21</a:t>
                      </a:r>
                    </a:p>
                  </a:txBody>
                  <a:tcPr marL="80000" marR="60000" marT="12000" marB="12000" anchor="ctr">
                    <a:solidFill>
                      <a:srgbClr val="FDFBF6"/>
                    </a:solidFill>
                  </a:tcPr>
                </a:tc>
                <a:extLst>
                  <a:ext uri="{0D108BD9-81ED-4DB2-BD59-A6C34878D82A}">
                    <a16:rowId xmlns:a16="http://schemas.microsoft.com/office/drawing/2014/main" val="10018"/>
                  </a:ext>
                </a:extLst>
              </a:tr>
              <a:tr h="370332">
                <a:tc>
                  <a:txBody>
                    <a:bodyPr/>
                    <a:lstStyle/>
                    <a:p>
                      <a:pPr algn="l"/>
                      <a:r>
                        <a:rPr sz="1100" b="0">
                          <a:solidFill>
                            <a:srgbClr val="3A3326"/>
                          </a:solidFill>
                          <a:latin typeface="游ゴシック"/>
                          <a:ea typeface="游ゴシック"/>
                        </a:rPr>
                        <a:t>先天的な鼻の発育不全</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dirty="0">
                          <a:solidFill>
                            <a:srgbClr val="3A3326"/>
                          </a:solidFill>
                          <a:latin typeface="游明朝"/>
                          <a:ea typeface="游明朝"/>
                        </a:rPr>
                        <a:t>P22</a:t>
                      </a:r>
                    </a:p>
                  </a:txBody>
                  <a:tcPr marL="80000" marR="60000" marT="12000" marB="12000" anchor="ctr">
                    <a:solidFill>
                      <a:srgbClr val="FDFBF6"/>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638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10</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6</a:t>
            </a:r>
            <a:r>
              <a:rPr lang="en-US" altLang="ja-JP" sz="1200" b="1" dirty="0">
                <a:solidFill>
                  <a:srgbClr val="8C7339"/>
                </a:solidFill>
                <a:latin typeface="游ゴシック"/>
                <a:ea typeface="游ゴシック"/>
              </a:rPr>
              <a:t>0</a:t>
            </a:r>
            <a:r>
              <a:rPr sz="1200" b="1" dirty="0">
                <a:solidFill>
                  <a:srgbClr val="8C7339"/>
                </a:solidFill>
                <a:latin typeface="游ゴシック"/>
                <a:ea typeface="游ゴシック"/>
              </a:rPr>
              <a:t>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8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,450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730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12</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a:t>
            </a:r>
            <a:r>
              <a:rPr lang="ja-JP" altLang="en-US" sz="750" b="0">
                <a:solidFill>
                  <a:srgbClr val="7A7060"/>
                </a:solidFill>
                <a:latin typeface="游ゴシック"/>
                <a:ea typeface="游ゴシック"/>
              </a:rPr>
              <a:t>最新料金は院内</a:t>
            </a:r>
            <a:r>
              <a:rPr sz="750" b="0" dirty="0">
                <a:solidFill>
                  <a:srgbClr val="7A7060"/>
                </a:solidFill>
                <a:latin typeface="游ゴシック"/>
                <a:ea typeface="游ゴシック"/>
              </a:rPr>
              <a:t>・</a:t>
            </a:r>
            <a:r>
              <a:rPr sz="750" b="0" dirty="0" err="1">
                <a:solidFill>
                  <a:srgbClr val="7A7060"/>
                </a:solidFill>
                <a:latin typeface="游ゴシック"/>
                <a:ea typeface="游ゴシック"/>
              </a:rPr>
              <a:t>カウンセリングで</a:t>
            </a:r>
            <a:endParaRPr sz="750" b="0" dirty="0">
              <a:solidFill>
                <a:srgbClr val="7A7060"/>
              </a:solidFill>
              <a:latin typeface="游ゴシック"/>
              <a:ea typeface="游ゴシック"/>
            </a:endParaRP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93</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5</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¥3</a:t>
            </a:r>
            <a:r>
              <a:rPr lang="en-US" sz="2100" b="1" dirty="0">
                <a:solidFill>
                  <a:srgbClr val="3A3326"/>
                </a:solidFill>
                <a:latin typeface="游明朝"/>
                <a:ea typeface="游明朝"/>
              </a:rPr>
              <a:t>08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¥5,</a:t>
            </a:r>
            <a:r>
              <a:rPr lang="en-US" sz="1200" b="1" dirty="0">
                <a:solidFill>
                  <a:srgbClr val="8C7339"/>
                </a:solidFill>
                <a:latin typeface="游ゴシック"/>
                <a:ea typeface="游ゴシック"/>
              </a:rPr>
              <a:t>1</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08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16</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3</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08｜鼻の穴が目立つ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09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09｜肉厚鼻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799"/>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88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12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忘れ鼻かつ可愛い印象に。</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半ラウンドの自然なラインで、やりすぎず“忘れ鼻”に整えています。</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2651645899"/>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鼻中隔延長（オープン法）＋鼻孔縁挙上＋プロテーゼ＋他院修正</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9" name="TextBox 23">
            <a:extLst>
              <a:ext uri="{FF2B5EF4-FFF2-40B4-BE49-F238E27FC236}">
                <a16:creationId xmlns:a16="http://schemas.microsoft.com/office/drawing/2014/main" id="{21CA446C-A7CA-7F7B-6129-F1126B043A20}"/>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,542</a:t>
            </a:r>
            <a:r>
              <a:rPr sz="2100" b="1" dirty="0">
                <a:solidFill>
                  <a:srgbClr val="3A3326"/>
                </a:solidFill>
                <a:latin typeface="游明朝"/>
                <a:ea typeface="游明朝"/>
              </a:rPr>
              <a:t>,000〜</a:t>
            </a:r>
          </a:p>
        </p:txBody>
      </p:sp>
      <p:sp>
        <p:nvSpPr>
          <p:cNvPr id="40" name="TextBox 24">
            <a:extLst>
              <a:ext uri="{FF2B5EF4-FFF2-40B4-BE49-F238E27FC236}">
                <a16:creationId xmlns:a16="http://schemas.microsoft.com/office/drawing/2014/main" id="{4F730E4D-B3C6-FB6E-A7C4-38E47D2E83ED}"/>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42" name="TextBox 25">
            <a:extLst>
              <a:ext uri="{FF2B5EF4-FFF2-40B4-BE49-F238E27FC236}">
                <a16:creationId xmlns:a16="http://schemas.microsoft.com/office/drawing/2014/main" id="{055E9989-752A-9C9B-C97F-8DB81A579D3B}"/>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en-US" sz="950" b="1" dirty="0" err="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9560F5F0-8609-DFEB-90C4-F1FBD0261166}"/>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a:t>
            </a:r>
            <a:r>
              <a:rPr lang="en-US" sz="2100" b="1" dirty="0">
                <a:solidFill>
                  <a:srgbClr val="3A3326"/>
                </a:solidFill>
                <a:latin typeface="游明朝"/>
                <a:ea typeface="游明朝"/>
              </a:rPr>
              <a:t>300</a:t>
            </a:r>
            <a:r>
              <a:rPr sz="2100" b="1" dirty="0">
                <a:solidFill>
                  <a:srgbClr val="3A3326"/>
                </a:solidFill>
                <a:latin typeface="游明朝"/>
                <a:ea typeface="游明朝"/>
              </a:rPr>
              <a:t>,000〜</a:t>
            </a:r>
          </a:p>
        </p:txBody>
      </p:sp>
      <p:sp>
        <p:nvSpPr>
          <p:cNvPr id="37" name="TextBox 24">
            <a:extLst>
              <a:ext uri="{FF2B5EF4-FFF2-40B4-BE49-F238E27FC236}">
                <a16:creationId xmlns:a16="http://schemas.microsoft.com/office/drawing/2014/main" id="{96BB4135-001C-E8EB-84E1-E8F5F43BDAC1}"/>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21</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38" name="TextBox 25">
            <a:extLst>
              <a:ext uri="{FF2B5EF4-FFF2-40B4-BE49-F238E27FC236}">
                <a16:creationId xmlns:a16="http://schemas.microsoft.com/office/drawing/2014/main" id="{DF90611A-60DB-FE76-B5CC-BC1A667A6AB9}"/>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2" name="Picture Placeholder 1"/>
          <p:cNvSpPr>
            <a:spLocks noGrp="1"/>
          </p:cNvSpPr>
          <p:nvPr>
            <p:ph type="pic" idx="10"/>
          </p:nvPr>
        </p:nvSpPr>
        <p:spPr/>
        <p:txBody>
          <a:bodyPr/>
          <a:p/>
        </p:txBody>
      </p:sp>
      <p:sp>
        <p:nvSpPr>
          <p:cNvPr id="3" name="Picture Placeholder 2"/>
          <p:cNvSpPr>
            <a:spLocks noGrp="1"/>
          </p:cNvSpPr>
          <p:nvPr>
            <p:ph type="pic" idx="11"/>
          </p:nvPr>
        </p:nvSpPr>
        <p:spPr/>
        <p:txBody>
          <a:bodyPr/>
          <a:p/>
        </p:txBody>
      </p:sp>
      <p:sp>
        <p:nvSpPr>
          <p:cNvPr id="4" name="Picture Placeholder 3"/>
          <p:cNvSpPr>
            <a:spLocks noGrp="1"/>
          </p:cNvSpPr>
          <p:nvPr>
            <p:ph type="pic" idx="12"/>
          </p:nvPr>
        </p:nvSpPr>
        <p:spPr/>
        <p:txBody>
          <a:bodyPr/>
          <a:p/>
        </p:txBody>
      </p:sp>
      <p:sp>
        <p:nvSpPr>
          <p:cNvPr id="5" name="Picture Placeholder 4"/>
          <p:cNvSpPr>
            <a:spLocks noGrp="1"/>
          </p:cNvSpPr>
          <p:nvPr>
            <p:ph type="pic" idx="13"/>
          </p:nvPr>
        </p:nvSpPr>
        <p:spPr/>
        <p:txBody>
          <a:bodyPr/>
          <a:p/>
        </p:txBody>
      </p:sp>
      <p:sp>
        <p:nvSpPr>
          <p:cNvPr id="6" name="Picture Placeholder 5"/>
          <p:cNvSpPr>
            <a:spLocks noGrp="1"/>
          </p:cNvSpPr>
          <p:nvPr>
            <p:ph type="pic" idx="14"/>
          </p:nvPr>
        </p:nvSpPr>
        <p:spPr/>
        <p:txBody>
          <a:bodyPr/>
          <a:p/>
        </p:txBody>
      </p:sp>
      <p:sp>
        <p:nvSpPr>
          <p:cNvPr id="7" name="Picture Placeholder 6"/>
          <p:cNvSpPr>
            <a:spLocks noGrp="1"/>
          </p:cNvSpPr>
          <p:nvPr>
            <p:ph type="pic" idx="15"/>
          </p:nvPr>
        </p:nvSpPr>
        <p:spPr/>
        <p:txBody>
          <a:bodyPr/>
          <a:p/>
        </p:txBody>
      </p:sp>
      <p:sp>
        <p:nvSpPr>
          <p:cNvPr id="8" name="Picture Placeholder 7"/>
          <p:cNvSpPr>
            <a:spLocks noGrp="1"/>
          </p:cNvSpPr>
          <p:nvPr>
            <p:ph type="pic" idx="16"/>
          </p:nvPr>
        </p:nvSpPr>
        <p:spPr/>
        <p:txBody>
          <a:bodyPr/>
          <a:p/>
        </p:txBody>
      </p:sp>
      <p:sp>
        <p:nvSpPr>
          <p:cNvPr id="9" name="Picture Placeholder 8"/>
          <p:cNvSpPr>
            <a:spLocks noGrp="1"/>
          </p:cNvSpPr>
          <p:nvPr>
            <p:ph type="pic" idx="20"/>
          </p:nvPr>
        </p:nvSpPr>
        <p:spPr/>
        <p:txBody>
          <a:bodyPr/>
          <a:p/>
        </p:txBody>
      </p:sp>
      <p:sp>
        <p:nvSpPr>
          <p:cNvPr id="10" name="Picture Placeholder 9"/>
          <p:cNvSpPr>
            <a:spLocks noGrp="1"/>
          </p:cNvSpPr>
          <p:nvPr>
            <p:ph type="pic" idx="21"/>
          </p:nvPr>
        </p:nvSpPr>
        <p:spPr/>
        <p:txBody>
          <a:bodyPr/>
          <a:p/>
        </p:txBody>
      </p:sp>
      <p:sp>
        <p:nvSpPr>
          <p:cNvPr id="11" name="Picture Placeholder 10"/>
          <p:cNvSpPr>
            <a:spLocks noGrp="1"/>
          </p:cNvSpPr>
          <p:nvPr>
            <p:ph type="pic" idx="22"/>
          </p:nvPr>
        </p:nvSpPr>
        <p:spPr/>
        <p:txBody>
          <a:bodyPr/>
          <a:p/>
        </p:txBody>
      </p:sp>
      <p:sp>
        <p:nvSpPr>
          <p:cNvPr id="12" name="TextBox 11"/>
          <p:cNvSpPr txBox="1"/>
          <p:nvPr/>
        </p:nvSpPr>
        <p:spPr>
          <a:xfrm>
            <a:off x="566928" y="457200"/>
            <a:ext cx="6428994" cy="201168"/>
          </a:xfrm>
          <a:prstGeom prst="rect">
            <a:avLst/>
          </a:prstGeom>
          <a:noFill/>
        </p:spPr>
        <p:txBody>
          <a:bodyPr wrap="square" anchor="t" lIns="0" rIns="0" tIns="0" bIns="0">
            <a:spAutoFit/>
          </a:bodyPr>
          <a:lstStyle/>
          <a:p>
            <a:pPr algn="l">
              <a:lnSpc>
                <a:spcPct val="110000"/>
              </a:lnSpc>
              <a:spcBef>
                <a:spcPts val="0"/>
              </a:spcBef>
              <a:spcAft>
                <a:spcPts val="0"/>
              </a:spcAft>
            </a:pPr>
            <a:r>
              <a:rPr sz="950" b="1">
                <a:solidFill>
                  <a:srgbClr val="B0934E"/>
                </a:solidFill>
                <a:latin typeface="游ゴシック"/>
                <a:ea typeface="游ゴシック"/>
              </a:rPr>
              <a:t>DOWNTIME CALENDAR</a:t>
            </a:r>
          </a:p>
        </p:txBody>
      </p:sp>
      <p:sp>
        <p:nvSpPr>
          <p:cNvPr id="13" name="TextBox 12"/>
          <p:cNvSpPr txBox="1"/>
          <p:nvPr/>
        </p:nvSpPr>
        <p:spPr>
          <a:xfrm>
            <a:off x="566928" y="658368"/>
            <a:ext cx="5697474" cy="640080"/>
          </a:xfrm>
          <a:prstGeom prst="rect">
            <a:avLst/>
          </a:prstGeom>
          <a:noFill/>
        </p:spPr>
        <p:txBody>
          <a:bodyPr wrap="square" anchor="t" lIns="0" rIns="0" tIns="0" bIns="0">
            <a:spAutoFit/>
          </a:bodyPr>
          <a:lstStyle/>
          <a:p>
            <a:pPr algn="l">
              <a:lnSpc>
                <a:spcPct val="110000"/>
              </a:lnSpc>
              <a:spcBef>
                <a:spcPts val="0"/>
              </a:spcBef>
              <a:spcAft>
                <a:spcPts val="0"/>
              </a:spcAft>
            </a:pPr>
            <a:r>
              <a:rPr sz="2600" b="1">
                <a:solidFill>
                  <a:srgbClr val="3A3326"/>
                </a:solidFill>
                <a:latin typeface="游明朝"/>
                <a:ea typeface="游明朝"/>
              </a:rPr>
              <a:t>ダウンタイム・カレンダー</a:t>
            </a:r>
          </a:p>
        </p:txBody>
      </p:sp>
      <p:sp>
        <p:nvSpPr>
          <p:cNvPr id="14" name="TextBox 13"/>
          <p:cNvSpPr txBox="1"/>
          <p:nvPr/>
        </p:nvSpPr>
        <p:spPr>
          <a:xfrm>
            <a:off x="6355842" y="457200"/>
            <a:ext cx="640080" cy="274320"/>
          </a:xfrm>
          <a:prstGeom prst="rect">
            <a:avLst/>
          </a:prstGeom>
          <a:noFill/>
        </p:spPr>
        <p:txBody>
          <a:bodyPr wrap="square" anchor="t" lIns="0" rIns="0" tIns="0" bIns="0">
            <a:spAutoFit/>
          </a:bodyPr>
          <a:lstStyle/>
          <a:p>
            <a:pPr algn="r">
              <a:lnSpc>
                <a:spcPct val="110000"/>
              </a:lnSpc>
              <a:spcBef>
                <a:spcPts val="0"/>
              </a:spcBef>
              <a:spcAft>
                <a:spcPts val="0"/>
              </a:spcAft>
            </a:pPr>
            <a:r>
              <a:rPr sz="1100" b="0">
                <a:solidFill>
                  <a:srgbClr val="B0934E"/>
                </a:solidFill>
                <a:latin typeface="游明朝"/>
                <a:ea typeface="游明朝"/>
              </a:rPr>
              <a:t>23</a:t>
            </a:r>
          </a:p>
        </p:txBody>
      </p:sp>
      <p:sp>
        <p:nvSpPr>
          <p:cNvPr id="15" name="Rectangle 14"/>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1463040"/>
            <a:ext cx="6428994" cy="365760"/>
          </a:xfrm>
          <a:prstGeom prst="rect">
            <a:avLst/>
          </a:prstGeom>
          <a:noFill/>
        </p:spPr>
        <p:txBody>
          <a:bodyPr wrap="square" anchor="t" lIns="0" rIns="0" tIns="0" bIns="0">
            <a:spAutoFit/>
          </a:bodyPr>
          <a:lstStyle/>
          <a:p>
            <a:pPr algn="l">
              <a:lnSpc>
                <a:spcPct val="125000"/>
              </a:lnSpc>
              <a:spcBef>
                <a:spcPts val="0"/>
              </a:spcBef>
              <a:spcAft>
                <a:spcPts val="0"/>
              </a:spcAft>
            </a:pPr>
            <a:r>
              <a:rPr sz="1050" b="0">
                <a:solidFill>
                  <a:srgbClr val="3A3326"/>
                </a:solidFill>
                <a:latin typeface="游ゴシック"/>
                <a:ea typeface="游ゴシック"/>
              </a:rPr>
              <a:t>術後1週間は毎日の経過、以降は節目ごとに実際のお写真を。1週間後にギプス外し・抜糸です。各枠クリックで写真挿入。</a:t>
            </a:r>
          </a:p>
        </p:txBody>
      </p:sp>
      <p:sp>
        <p:nvSpPr>
          <p:cNvPr id="17" name="TextBox 16"/>
          <p:cNvSpPr txBox="1"/>
          <p:nvPr/>
        </p:nvSpPr>
        <p:spPr>
          <a:xfrm>
            <a:off x="566928" y="1847088"/>
            <a:ext cx="6428994" cy="219456"/>
          </a:xfrm>
          <a:prstGeom prst="rect">
            <a:avLst/>
          </a:prstGeom>
          <a:noFill/>
        </p:spPr>
        <p:txBody>
          <a:bodyPr wrap="square" anchor="t" lIns="0" rIns="0" tIns="0" bIns="0">
            <a:spAutoFit/>
          </a:bodyPr>
          <a:lstStyle/>
          <a:p>
            <a:pPr algn="l">
              <a:lnSpc>
                <a:spcPct val="110000"/>
              </a:lnSpc>
              <a:spcBef>
                <a:spcPts val="0"/>
              </a:spcBef>
              <a:spcAft>
                <a:spcPts val="0"/>
              </a:spcAft>
            </a:pPr>
            <a:r>
              <a:rPr sz="1250" b="1">
                <a:solidFill>
                  <a:srgbClr val="8C7339"/>
                </a:solidFill>
                <a:latin typeface="游明朝"/>
                <a:ea typeface="游明朝"/>
              </a:rPr>
              <a:t>1週目（毎日の経過）</a:t>
            </a:r>
          </a:p>
        </p:txBody>
      </p:sp>
      <p:sp>
        <p:nvSpPr>
          <p:cNvPr id="18" name="Rounded Rectangle 17"/>
          <p:cNvSpPr/>
          <p:nvPr/>
        </p:nvSpPr>
        <p:spPr>
          <a:xfrm>
            <a:off x="566928" y="2084831"/>
            <a:ext cx="840050" cy="29260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084831"/>
            <a:ext cx="840050" cy="292608"/>
          </a:xfrm>
          <a:prstGeom prst="rect">
            <a:avLst/>
          </a:prstGeom>
          <a:noFill/>
        </p:spPr>
        <p:txBody>
          <a:bodyPr wrap="square" anchor="ctr" lIns="0" rIns="0" tIns="0" bIns="0">
            <a:spAutoFit/>
          </a:bodyPr>
          <a:lstStyle/>
          <a:p>
            <a:pPr algn="ctr">
              <a:lnSpc>
                <a:spcPct val="100000"/>
              </a:lnSpc>
              <a:spcBef>
                <a:spcPts val="0"/>
              </a:spcBef>
              <a:spcAft>
                <a:spcPts val="0"/>
              </a:spcAft>
            </a:pPr>
            <a:r>
              <a:rPr sz="800" b="1">
                <a:solidFill>
                  <a:srgbClr val="FFFFFF"/>
                </a:solidFill>
                <a:latin typeface="游ゴシック"/>
                <a:ea typeface="游ゴシック"/>
              </a:rPr>
              <a:t>1日目</a:t>
            </a:r>
          </a:p>
          <a:p>
            <a:pPr algn="ctr">
              <a:lnSpc>
                <a:spcPct val="100000"/>
              </a:lnSpc>
              <a:spcBef>
                <a:spcPts val="0"/>
              </a:spcBef>
              <a:spcAft>
                <a:spcPts val="0"/>
              </a:spcAft>
            </a:pPr>
            <a:r>
              <a:rPr sz="620" b="0">
                <a:solidFill>
                  <a:srgbClr val="FFFFFF"/>
                </a:solidFill>
                <a:latin typeface="游ゴシック"/>
                <a:ea typeface="游ゴシック"/>
              </a:rPr>
              <a:t>手術</a:t>
            </a:r>
          </a:p>
        </p:txBody>
      </p:sp>
      <p:sp>
        <p:nvSpPr>
          <p:cNvPr id="20" name="Rounded Rectangle 19"/>
          <p:cNvSpPr/>
          <p:nvPr/>
        </p:nvSpPr>
        <p:spPr>
          <a:xfrm>
            <a:off x="1498418" y="2084831"/>
            <a:ext cx="840050" cy="292608"/>
          </a:xfrm>
          <a:prstGeom prst="roundRect">
            <a:avLst/>
          </a:prstGeom>
          <a:solidFill>
            <a:srgbClr val="F0E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98418" y="2084831"/>
            <a:ext cx="840050" cy="292608"/>
          </a:xfrm>
          <a:prstGeom prst="rect">
            <a:avLst/>
          </a:prstGeom>
          <a:noFill/>
        </p:spPr>
        <p:txBody>
          <a:bodyPr wrap="square" anchor="ctr" lIns="0" rIns="0" tIns="0" bIns="0">
            <a:spAutoFit/>
          </a:bodyPr>
          <a:lstStyle/>
          <a:p>
            <a:pPr algn="ctr">
              <a:lnSpc>
                <a:spcPct val="100000"/>
              </a:lnSpc>
              <a:spcBef>
                <a:spcPts val="0"/>
              </a:spcBef>
              <a:spcAft>
                <a:spcPts val="0"/>
              </a:spcAft>
            </a:pPr>
            <a:r>
              <a:rPr sz="800" b="1">
                <a:solidFill>
                  <a:srgbClr val="3A3326"/>
                </a:solidFill>
                <a:latin typeface="游ゴシック"/>
                <a:ea typeface="游ゴシック"/>
              </a:rPr>
              <a:t>2日目</a:t>
            </a:r>
          </a:p>
          <a:p>
            <a:pPr algn="ctr">
              <a:lnSpc>
                <a:spcPct val="100000"/>
              </a:lnSpc>
              <a:spcBef>
                <a:spcPts val="0"/>
              </a:spcBef>
              <a:spcAft>
                <a:spcPts val="0"/>
              </a:spcAft>
            </a:pPr>
            <a:r>
              <a:rPr sz="620" b="0">
                <a:solidFill>
                  <a:srgbClr val="3A3326"/>
                </a:solidFill>
                <a:latin typeface="游ゴシック"/>
                <a:ea typeface="游ゴシック"/>
              </a:rPr>
              <a:t>腫れ</a:t>
            </a:r>
          </a:p>
        </p:txBody>
      </p:sp>
      <p:sp>
        <p:nvSpPr>
          <p:cNvPr id="22" name="Rounded Rectangle 21"/>
          <p:cNvSpPr/>
          <p:nvPr/>
        </p:nvSpPr>
        <p:spPr>
          <a:xfrm>
            <a:off x="2429909" y="2084831"/>
            <a:ext cx="840050" cy="292608"/>
          </a:xfrm>
          <a:prstGeom prst="roundRect">
            <a:avLst/>
          </a:prstGeom>
          <a:solidFill>
            <a:srgbClr val="F0E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29909" y="2084831"/>
            <a:ext cx="840050" cy="292608"/>
          </a:xfrm>
          <a:prstGeom prst="rect">
            <a:avLst/>
          </a:prstGeom>
          <a:noFill/>
        </p:spPr>
        <p:txBody>
          <a:bodyPr wrap="square" anchor="ctr" lIns="0" rIns="0" tIns="0" bIns="0">
            <a:spAutoFit/>
          </a:bodyPr>
          <a:lstStyle/>
          <a:p>
            <a:pPr algn="ctr">
              <a:lnSpc>
                <a:spcPct val="100000"/>
              </a:lnSpc>
              <a:spcBef>
                <a:spcPts val="0"/>
              </a:spcBef>
              <a:spcAft>
                <a:spcPts val="0"/>
              </a:spcAft>
            </a:pPr>
            <a:r>
              <a:rPr sz="800" b="1">
                <a:solidFill>
                  <a:srgbClr val="3A3326"/>
                </a:solidFill>
                <a:latin typeface="游ゴシック"/>
                <a:ea typeface="游ゴシック"/>
              </a:rPr>
              <a:t>3日目</a:t>
            </a:r>
          </a:p>
          <a:p>
            <a:pPr algn="ctr">
              <a:lnSpc>
                <a:spcPct val="100000"/>
              </a:lnSpc>
              <a:spcBef>
                <a:spcPts val="0"/>
              </a:spcBef>
              <a:spcAft>
                <a:spcPts val="0"/>
              </a:spcAft>
            </a:pPr>
            <a:r>
              <a:rPr sz="620" b="0">
                <a:solidFill>
                  <a:srgbClr val="3A3326"/>
                </a:solidFill>
                <a:latin typeface="游ゴシック"/>
                <a:ea typeface="游ゴシック"/>
              </a:rPr>
              <a:t>腫れ</a:t>
            </a:r>
          </a:p>
        </p:txBody>
      </p:sp>
      <p:sp>
        <p:nvSpPr>
          <p:cNvPr id="24" name="Rounded Rectangle 23"/>
          <p:cNvSpPr/>
          <p:nvPr/>
        </p:nvSpPr>
        <p:spPr>
          <a:xfrm>
            <a:off x="3361399" y="2084831"/>
            <a:ext cx="840050" cy="292608"/>
          </a:xfrm>
          <a:prstGeom prst="round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61399" y="2084831"/>
            <a:ext cx="840050" cy="292608"/>
          </a:xfrm>
          <a:prstGeom prst="rect">
            <a:avLst/>
          </a:prstGeom>
          <a:noFill/>
        </p:spPr>
        <p:txBody>
          <a:bodyPr wrap="square" anchor="ctr" lIns="0" rIns="0" tIns="0" bIns="0">
            <a:spAutoFit/>
          </a:bodyPr>
          <a:lstStyle/>
          <a:p>
            <a:pPr algn="ctr">
              <a:lnSpc>
                <a:spcPct val="110000"/>
              </a:lnSpc>
              <a:spcBef>
                <a:spcPts val="0"/>
              </a:spcBef>
              <a:spcAft>
                <a:spcPts val="0"/>
              </a:spcAft>
            </a:pPr>
            <a:r>
              <a:rPr sz="900" b="1">
                <a:solidFill>
                  <a:srgbClr val="3A3326"/>
                </a:solidFill>
                <a:latin typeface="游ゴシック"/>
                <a:ea typeface="游ゴシック"/>
              </a:rPr>
              <a:t>4日目</a:t>
            </a:r>
          </a:p>
        </p:txBody>
      </p:sp>
      <p:sp>
        <p:nvSpPr>
          <p:cNvPr id="26" name="Rounded Rectangle 25"/>
          <p:cNvSpPr/>
          <p:nvPr/>
        </p:nvSpPr>
        <p:spPr>
          <a:xfrm>
            <a:off x="4292890" y="2084831"/>
            <a:ext cx="840050" cy="292608"/>
          </a:xfrm>
          <a:prstGeom prst="round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2890" y="2084831"/>
            <a:ext cx="840050" cy="292608"/>
          </a:xfrm>
          <a:prstGeom prst="rect">
            <a:avLst/>
          </a:prstGeom>
          <a:noFill/>
        </p:spPr>
        <p:txBody>
          <a:bodyPr wrap="square" anchor="ctr" lIns="0" rIns="0" tIns="0" bIns="0">
            <a:spAutoFit/>
          </a:bodyPr>
          <a:lstStyle/>
          <a:p>
            <a:pPr algn="ctr">
              <a:lnSpc>
                <a:spcPct val="110000"/>
              </a:lnSpc>
              <a:spcBef>
                <a:spcPts val="0"/>
              </a:spcBef>
              <a:spcAft>
                <a:spcPts val="0"/>
              </a:spcAft>
            </a:pPr>
            <a:r>
              <a:rPr sz="900" b="1">
                <a:solidFill>
                  <a:srgbClr val="3A3326"/>
                </a:solidFill>
                <a:latin typeface="游ゴシック"/>
                <a:ea typeface="游ゴシック"/>
              </a:rPr>
              <a:t>5日目</a:t>
            </a:r>
          </a:p>
        </p:txBody>
      </p:sp>
      <p:sp>
        <p:nvSpPr>
          <p:cNvPr id="28" name="Rounded Rectangle 27"/>
          <p:cNvSpPr/>
          <p:nvPr/>
        </p:nvSpPr>
        <p:spPr>
          <a:xfrm>
            <a:off x="5224380" y="2084831"/>
            <a:ext cx="840050" cy="292608"/>
          </a:xfrm>
          <a:prstGeom prst="round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24380" y="2084831"/>
            <a:ext cx="840050" cy="292608"/>
          </a:xfrm>
          <a:prstGeom prst="rect">
            <a:avLst/>
          </a:prstGeom>
          <a:noFill/>
        </p:spPr>
        <p:txBody>
          <a:bodyPr wrap="square" anchor="ctr" lIns="0" rIns="0" tIns="0" bIns="0">
            <a:spAutoFit/>
          </a:bodyPr>
          <a:lstStyle/>
          <a:p>
            <a:pPr algn="ctr">
              <a:lnSpc>
                <a:spcPct val="110000"/>
              </a:lnSpc>
              <a:spcBef>
                <a:spcPts val="0"/>
              </a:spcBef>
              <a:spcAft>
                <a:spcPts val="0"/>
              </a:spcAft>
            </a:pPr>
            <a:r>
              <a:rPr sz="900" b="1">
                <a:solidFill>
                  <a:srgbClr val="3A3326"/>
                </a:solidFill>
                <a:latin typeface="游ゴシック"/>
                <a:ea typeface="游ゴシック"/>
              </a:rPr>
              <a:t>6日目</a:t>
            </a:r>
          </a:p>
        </p:txBody>
      </p:sp>
      <p:sp>
        <p:nvSpPr>
          <p:cNvPr id="30" name="Rounded Rectangle 29"/>
          <p:cNvSpPr/>
          <p:nvPr/>
        </p:nvSpPr>
        <p:spPr>
          <a:xfrm>
            <a:off x="6155871" y="2084831"/>
            <a:ext cx="840050" cy="292608"/>
          </a:xfrm>
          <a:prstGeom prst="roundRect">
            <a:avLst/>
          </a:prstGeom>
          <a:solidFill>
            <a:srgbClr val="8C7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5871" y="2084831"/>
            <a:ext cx="840050" cy="292608"/>
          </a:xfrm>
          <a:prstGeom prst="rect">
            <a:avLst/>
          </a:prstGeom>
          <a:noFill/>
        </p:spPr>
        <p:txBody>
          <a:bodyPr wrap="square" anchor="ctr" lIns="0" rIns="0" tIns="0" bIns="0">
            <a:spAutoFit/>
          </a:bodyPr>
          <a:lstStyle/>
          <a:p>
            <a:pPr algn="ctr">
              <a:lnSpc>
                <a:spcPct val="100000"/>
              </a:lnSpc>
              <a:spcBef>
                <a:spcPts val="0"/>
              </a:spcBef>
              <a:spcAft>
                <a:spcPts val="0"/>
              </a:spcAft>
            </a:pPr>
            <a:r>
              <a:rPr sz="800" b="1">
                <a:solidFill>
                  <a:srgbClr val="FFFFFF"/>
                </a:solidFill>
                <a:latin typeface="游ゴシック"/>
                <a:ea typeface="游ゴシック"/>
              </a:rPr>
              <a:t>7日目</a:t>
            </a:r>
          </a:p>
          <a:p>
            <a:pPr algn="ctr">
              <a:lnSpc>
                <a:spcPct val="100000"/>
              </a:lnSpc>
              <a:spcBef>
                <a:spcPts val="0"/>
              </a:spcBef>
              <a:spcAft>
                <a:spcPts val="0"/>
              </a:spcAft>
            </a:pPr>
            <a:r>
              <a:rPr sz="620" b="0">
                <a:solidFill>
                  <a:srgbClr val="FFFFFF"/>
                </a:solidFill>
                <a:latin typeface="游ゴシック"/>
                <a:ea typeface="游ゴシック"/>
              </a:rPr>
              <a:t>ギプスオフ・抜糸</a:t>
            </a:r>
          </a:p>
        </p:txBody>
      </p:sp>
      <p:sp>
        <p:nvSpPr>
          <p:cNvPr id="32" name="TextBox 31"/>
          <p:cNvSpPr txBox="1"/>
          <p:nvPr/>
        </p:nvSpPr>
        <p:spPr>
          <a:xfrm>
            <a:off x="566928" y="3611880"/>
            <a:ext cx="6428994" cy="219456"/>
          </a:xfrm>
          <a:prstGeom prst="rect">
            <a:avLst/>
          </a:prstGeom>
          <a:noFill/>
        </p:spPr>
        <p:txBody>
          <a:bodyPr wrap="square" anchor="t" lIns="0" rIns="0" tIns="0" bIns="0">
            <a:spAutoFit/>
          </a:bodyPr>
          <a:lstStyle/>
          <a:p>
            <a:pPr algn="l">
              <a:lnSpc>
                <a:spcPct val="110000"/>
              </a:lnSpc>
              <a:spcBef>
                <a:spcPts val="0"/>
              </a:spcBef>
              <a:spcAft>
                <a:spcPts val="0"/>
              </a:spcAft>
            </a:pPr>
            <a:r>
              <a:rPr sz="1250" b="1">
                <a:solidFill>
                  <a:srgbClr val="8C7339"/>
                </a:solidFill>
                <a:latin typeface="游明朝"/>
                <a:ea typeface="游明朝"/>
              </a:rPr>
              <a:t>その後の経過（節目）</a:t>
            </a:r>
          </a:p>
        </p:txBody>
      </p:sp>
      <p:sp>
        <p:nvSpPr>
          <p:cNvPr id="33" name="TextBox 32"/>
          <p:cNvSpPr txBox="1"/>
          <p:nvPr/>
        </p:nvSpPr>
        <p:spPr>
          <a:xfrm>
            <a:off x="566928" y="3822191"/>
            <a:ext cx="1929638" cy="274320"/>
          </a:xfrm>
          <a:prstGeom prst="rect">
            <a:avLst/>
          </a:prstGeom>
          <a:noFill/>
        </p:spPr>
        <p:txBody>
          <a:bodyPr wrap="square" anchor="ctr" lIns="0" rIns="0" tIns="0" bIns="0">
            <a:spAutoFit/>
          </a:bodyPr>
          <a:lstStyle/>
          <a:p>
            <a:pPr algn="l">
              <a:lnSpc>
                <a:spcPct val="110000"/>
              </a:lnSpc>
              <a:spcBef>
                <a:spcPts val="0"/>
              </a:spcBef>
              <a:spcAft>
                <a:spcPts val="0"/>
              </a:spcAft>
            </a:pPr>
            <a:r>
              <a:rPr sz="1100" b="1">
                <a:solidFill>
                  <a:srgbClr val="8C7339"/>
                </a:solidFill>
                <a:latin typeface="游明朝"/>
                <a:ea typeface="游明朝"/>
              </a:rPr>
              <a:t>2週間後　</a:t>
            </a:r>
            <a:r>
              <a:rPr sz="850" b="0">
                <a:solidFill>
                  <a:srgbClr val="7A7060"/>
                </a:solidFill>
                <a:latin typeface="游ゴシック"/>
                <a:ea typeface="游ゴシック"/>
              </a:rPr>
              <a:t>マスクで自然・仕事復帰</a:t>
            </a:r>
          </a:p>
        </p:txBody>
      </p:sp>
      <p:sp>
        <p:nvSpPr>
          <p:cNvPr id="34" name="TextBox 33"/>
          <p:cNvSpPr txBox="1"/>
          <p:nvPr/>
        </p:nvSpPr>
        <p:spPr>
          <a:xfrm>
            <a:off x="2816606" y="3822191"/>
            <a:ext cx="1929638" cy="274320"/>
          </a:xfrm>
          <a:prstGeom prst="rect">
            <a:avLst/>
          </a:prstGeom>
          <a:noFill/>
        </p:spPr>
        <p:txBody>
          <a:bodyPr wrap="square" anchor="ctr" lIns="0" rIns="0" tIns="0" bIns="0">
            <a:spAutoFit/>
          </a:bodyPr>
          <a:lstStyle/>
          <a:p>
            <a:pPr algn="l">
              <a:lnSpc>
                <a:spcPct val="110000"/>
              </a:lnSpc>
              <a:spcBef>
                <a:spcPts val="0"/>
              </a:spcBef>
              <a:spcAft>
                <a:spcPts val="0"/>
              </a:spcAft>
            </a:pPr>
            <a:r>
              <a:rPr sz="1100" b="1">
                <a:solidFill>
                  <a:srgbClr val="8C7339"/>
                </a:solidFill>
                <a:latin typeface="游明朝"/>
                <a:ea typeface="游明朝"/>
              </a:rPr>
              <a:t>3週間後　</a:t>
            </a:r>
            <a:r>
              <a:rPr sz="850" b="0">
                <a:solidFill>
                  <a:srgbClr val="7A7060"/>
                </a:solidFill>
                <a:latin typeface="游ゴシック"/>
                <a:ea typeface="游ゴシック"/>
              </a:rPr>
              <a:t>運動再開の目安</a:t>
            </a:r>
          </a:p>
        </p:txBody>
      </p:sp>
      <p:sp>
        <p:nvSpPr>
          <p:cNvPr id="35" name="TextBox 34"/>
          <p:cNvSpPr txBox="1"/>
          <p:nvPr/>
        </p:nvSpPr>
        <p:spPr>
          <a:xfrm>
            <a:off x="5066284" y="3822191"/>
            <a:ext cx="1929638" cy="274320"/>
          </a:xfrm>
          <a:prstGeom prst="rect">
            <a:avLst/>
          </a:prstGeom>
          <a:noFill/>
        </p:spPr>
        <p:txBody>
          <a:bodyPr wrap="square" anchor="ctr" lIns="0" rIns="0" tIns="0" bIns="0">
            <a:spAutoFit/>
          </a:bodyPr>
          <a:lstStyle/>
          <a:p>
            <a:pPr algn="l">
              <a:lnSpc>
                <a:spcPct val="110000"/>
              </a:lnSpc>
              <a:spcBef>
                <a:spcPts val="0"/>
              </a:spcBef>
              <a:spcAft>
                <a:spcPts val="0"/>
              </a:spcAft>
            </a:pPr>
            <a:r>
              <a:rPr sz="1100" b="1">
                <a:solidFill>
                  <a:srgbClr val="8C7339"/>
                </a:solidFill>
                <a:latin typeface="游明朝"/>
                <a:ea typeface="游明朝"/>
              </a:rPr>
              <a:t>1ヶ月後　</a:t>
            </a:r>
            <a:r>
              <a:rPr sz="850" b="0">
                <a:solidFill>
                  <a:srgbClr val="7A7060"/>
                </a:solidFill>
                <a:latin typeface="游ゴシック"/>
                <a:ea typeface="游ゴシック"/>
              </a:rPr>
              <a:t>腫れの大半が引く</a:t>
            </a:r>
          </a:p>
        </p:txBody>
      </p:sp>
      <p:sp>
        <p:nvSpPr>
          <p:cNvPr id="36" name="TextBox 35"/>
          <p:cNvSpPr txBox="1"/>
          <p:nvPr/>
        </p:nvSpPr>
        <p:spPr>
          <a:xfrm>
            <a:off x="566928" y="5669280"/>
            <a:ext cx="6428994" cy="274320"/>
          </a:xfrm>
          <a:prstGeom prst="rect">
            <a:avLst/>
          </a:prstGeom>
          <a:noFill/>
        </p:spPr>
        <p:txBody>
          <a:bodyPr wrap="square" anchor="t" lIns="0" rIns="0" tIns="0" bIns="0">
            <a:spAutoFit/>
          </a:bodyPr>
          <a:lstStyle/>
          <a:p>
            <a:pPr algn="l">
              <a:lnSpc>
                <a:spcPct val="110000"/>
              </a:lnSpc>
              <a:spcBef>
                <a:spcPts val="0"/>
              </a:spcBef>
              <a:spcAft>
                <a:spcPts val="0"/>
              </a:spcAft>
            </a:pPr>
            <a:r>
              <a:rPr sz="1250" b="1">
                <a:solidFill>
                  <a:srgbClr val="8C7339"/>
                </a:solidFill>
                <a:latin typeface="游明朝"/>
                <a:ea typeface="游明朝"/>
              </a:rPr>
              <a:t>▼ あなたの予定から逆算 ― 手術はいつまでに？</a:t>
            </a:r>
          </a:p>
        </p:txBody>
      </p:sp>
      <p:graphicFrame>
        <p:nvGraphicFramePr>
          <p:cNvPr id="37" name="Table 36"/>
          <p:cNvGraphicFramePr>
            <a:graphicFrameLocks noGrp="1"/>
          </p:cNvGraphicFramePr>
          <p:nvPr/>
        </p:nvGraphicFramePr>
        <p:xfrm>
          <a:off x="566928" y="6016752"/>
          <a:ext cx="6428993" cy="1783080"/>
        </p:xfrm>
        <a:graphic>
          <a:graphicData uri="http://schemas.openxmlformats.org/drawingml/2006/table">
            <a:tbl>
              <a:tblPr firstRow="1" bandRow="1">
                <a:tableStyleId>{5C22544A-7EE6-4342-B048-85BDC9FD1C3A}</a:tableStyleId>
              </a:tblPr>
              <a:tblGrid>
                <a:gridCol w="4114556"/>
                <a:gridCol w="2314437"/>
              </a:tblGrid>
              <a:tr h="297180">
                <a:tc>
                  <a:txBody>
                    <a:bodyPr wrap="square"/>
                    <a:lstStyle/>
                    <a:p>
                      <a:pPr algn="l"/>
                      <a:r>
                        <a:rPr sz="1100" b="1">
                          <a:solidFill>
                            <a:srgbClr val="FFFFFF"/>
                          </a:solidFill>
                          <a:latin typeface="游明朝"/>
                          <a:ea typeface="游明朝"/>
                        </a:rPr>
                        <a:t>こんなご予定に</a:t>
                      </a:r>
                    </a:p>
                  </a:txBody>
                  <a:tcPr anchor="ctr" marL="80000" marR="50000" marT="8000" marB="8000">
                    <a:solidFill>
                      <a:srgbClr val="B0934E"/>
                    </a:solidFill>
                  </a:tcPr>
                </a:tc>
                <a:tc>
                  <a:txBody>
                    <a:bodyPr wrap="square"/>
                    <a:lstStyle/>
                    <a:p>
                      <a:pPr algn="ctr"/>
                      <a:r>
                        <a:rPr sz="1100" b="1">
                          <a:solidFill>
                            <a:srgbClr val="FFFFFF"/>
                          </a:solidFill>
                          <a:latin typeface="游明朝"/>
                          <a:ea typeface="游明朝"/>
                        </a:rPr>
                        <a:t>手術はいつまでに</a:t>
                      </a:r>
                    </a:p>
                  </a:txBody>
                  <a:tcPr anchor="ctr" marL="80000" marR="50000" marT="8000" marB="8000">
                    <a:solidFill>
                      <a:srgbClr val="B0934E"/>
                    </a:solidFill>
                  </a:tcPr>
                </a:tc>
              </a:tr>
              <a:tr h="297180">
                <a:tc>
                  <a:txBody>
                    <a:bodyPr wrap="square"/>
                    <a:lstStyle/>
                    <a:p>
                      <a:pPr algn="l"/>
                      <a:r>
                        <a:rPr sz="1050" b="0">
                          <a:solidFill>
                            <a:srgbClr val="3A3326"/>
                          </a:solidFill>
                          <a:latin typeface="游ゴシック"/>
                          <a:ea typeface="游ゴシック"/>
                        </a:rPr>
                        <a:t>仕事・学校への復帰（マスクでOK）</a:t>
                      </a:r>
                    </a:p>
                  </a:txBody>
                  <a:tcPr anchor="ctr" marL="80000" marR="50000" marT="8000" marB="8000">
                    <a:solidFill>
                      <a:srgbClr val="FDFBF6"/>
                    </a:solidFill>
                  </a:tcPr>
                </a:tc>
                <a:tc>
                  <a:txBody>
                    <a:bodyPr wrap="square"/>
                    <a:lstStyle/>
                    <a:p>
                      <a:pPr algn="ctr"/>
                      <a:r>
                        <a:rPr sz="1200" b="1">
                          <a:solidFill>
                            <a:srgbClr val="3A3326"/>
                          </a:solidFill>
                          <a:latin typeface="游明朝"/>
                          <a:ea typeface="游明朝"/>
                        </a:rPr>
                        <a:t>約1〜2週間前</a:t>
                      </a:r>
                    </a:p>
                  </a:txBody>
                  <a:tcPr anchor="ctr" marL="80000" marR="50000" marT="8000" marB="8000">
                    <a:solidFill>
                      <a:srgbClr val="FDFBF6"/>
                    </a:solidFill>
                  </a:tcPr>
                </a:tc>
              </a:tr>
              <a:tr h="297180">
                <a:tc>
                  <a:txBody>
                    <a:bodyPr wrap="square"/>
                    <a:lstStyle/>
                    <a:p>
                      <a:pPr algn="l"/>
                      <a:r>
                        <a:rPr sz="1050" b="0">
                          <a:solidFill>
                            <a:srgbClr val="3A3326"/>
                          </a:solidFill>
                          <a:latin typeface="游ゴシック"/>
                          <a:ea typeface="游ゴシック"/>
                        </a:rPr>
                        <a:t>旅行・デート・帰省</a:t>
                      </a:r>
                    </a:p>
                  </a:txBody>
                  <a:tcPr anchor="ctr" marL="80000" marR="50000" marT="8000" marB="8000">
                    <a:solidFill>
                      <a:srgbClr val="F3ECDD"/>
                    </a:solidFill>
                  </a:tcPr>
                </a:tc>
                <a:tc>
                  <a:txBody>
                    <a:bodyPr wrap="square"/>
                    <a:lstStyle/>
                    <a:p>
                      <a:pPr algn="ctr"/>
                      <a:r>
                        <a:rPr sz="1200" b="1">
                          <a:solidFill>
                            <a:srgbClr val="3A3326"/>
                          </a:solidFill>
                          <a:latin typeface="游明朝"/>
                          <a:ea typeface="游明朝"/>
                        </a:rPr>
                        <a:t>約3〜4週間前</a:t>
                      </a:r>
                    </a:p>
                  </a:txBody>
                  <a:tcPr anchor="ctr" marL="80000" marR="50000" marT="8000" marB="8000">
                    <a:solidFill>
                      <a:srgbClr val="F3ECDD"/>
                    </a:solidFill>
                  </a:tcPr>
                </a:tc>
              </a:tr>
              <a:tr h="297180">
                <a:tc>
                  <a:txBody>
                    <a:bodyPr wrap="square"/>
                    <a:lstStyle/>
                    <a:p>
                      <a:pPr algn="l"/>
                      <a:r>
                        <a:rPr sz="1050" b="0">
                          <a:solidFill>
                            <a:srgbClr val="3A3326"/>
                          </a:solidFill>
                          <a:latin typeface="游ゴシック"/>
                          <a:ea typeface="游ゴシック"/>
                        </a:rPr>
                        <a:t>卒業式・入学式・就活／証明写真</a:t>
                      </a:r>
                    </a:p>
                  </a:txBody>
                  <a:tcPr anchor="ctr" marL="80000" marR="50000" marT="8000" marB="8000">
                    <a:solidFill>
                      <a:srgbClr val="FDFBF6"/>
                    </a:solidFill>
                  </a:tcPr>
                </a:tc>
                <a:tc>
                  <a:txBody>
                    <a:bodyPr wrap="square"/>
                    <a:lstStyle/>
                    <a:p>
                      <a:pPr algn="ctr"/>
                      <a:r>
                        <a:rPr sz="1200" b="1">
                          <a:solidFill>
                            <a:srgbClr val="3A3326"/>
                          </a:solidFill>
                          <a:latin typeface="游明朝"/>
                          <a:ea typeface="游明朝"/>
                        </a:rPr>
                        <a:t>約1〜2ヶ月前</a:t>
                      </a:r>
                    </a:p>
                  </a:txBody>
                  <a:tcPr anchor="ctr" marL="80000" marR="50000" marT="8000" marB="8000">
                    <a:solidFill>
                      <a:srgbClr val="FDFBF6"/>
                    </a:solidFill>
                  </a:tcPr>
                </a:tc>
              </a:tr>
              <a:tr h="297180">
                <a:tc>
                  <a:txBody>
                    <a:bodyPr wrap="square"/>
                    <a:lstStyle/>
                    <a:p>
                      <a:pPr algn="l"/>
                      <a:r>
                        <a:rPr sz="1050" b="0">
                          <a:solidFill>
                            <a:srgbClr val="3A3326"/>
                          </a:solidFill>
                          <a:latin typeface="游ゴシック"/>
                          <a:ea typeface="游ゴシック"/>
                        </a:rPr>
                        <a:t>成人式・前撮り・友人の結婚式に参列</a:t>
                      </a:r>
                    </a:p>
                  </a:txBody>
                  <a:tcPr anchor="ctr" marL="80000" marR="50000" marT="8000" marB="8000">
                    <a:solidFill>
                      <a:srgbClr val="F3ECDD"/>
                    </a:solidFill>
                  </a:tcPr>
                </a:tc>
                <a:tc>
                  <a:txBody>
                    <a:bodyPr wrap="square"/>
                    <a:lstStyle/>
                    <a:p>
                      <a:pPr algn="ctr"/>
                      <a:r>
                        <a:rPr sz="1200" b="1">
                          <a:solidFill>
                            <a:srgbClr val="3A3326"/>
                          </a:solidFill>
                          <a:latin typeface="游明朝"/>
                          <a:ea typeface="游明朝"/>
                        </a:rPr>
                        <a:t>約2〜3ヶ月前</a:t>
                      </a:r>
                    </a:p>
                  </a:txBody>
                  <a:tcPr anchor="ctr" marL="80000" marR="50000" marT="8000" marB="8000">
                    <a:solidFill>
                      <a:srgbClr val="F3ECDD"/>
                    </a:solidFill>
                  </a:tcPr>
                </a:tc>
              </a:tr>
              <a:tr h="297180">
                <a:tc>
                  <a:txBody>
                    <a:bodyPr wrap="square"/>
                    <a:lstStyle/>
                    <a:p>
                      <a:pPr algn="l"/>
                      <a:r>
                        <a:rPr sz="1050" b="0">
                          <a:solidFill>
                            <a:srgbClr val="3A3326"/>
                          </a:solidFill>
                          <a:latin typeface="游ゴシック"/>
                          <a:ea typeface="游ゴシック"/>
                        </a:rPr>
                        <a:t>自分の結婚式</a:t>
                      </a:r>
                    </a:p>
                  </a:txBody>
                  <a:tcPr anchor="ctr" marL="80000" marR="50000" marT="8000" marB="8000">
                    <a:solidFill>
                      <a:srgbClr val="FDFBF6"/>
                    </a:solidFill>
                  </a:tcPr>
                </a:tc>
                <a:tc>
                  <a:txBody>
                    <a:bodyPr wrap="square"/>
                    <a:lstStyle/>
                    <a:p>
                      <a:pPr algn="ctr"/>
                      <a:r>
                        <a:rPr sz="1200" b="1">
                          <a:solidFill>
                            <a:srgbClr val="3A3326"/>
                          </a:solidFill>
                          <a:latin typeface="游明朝"/>
                          <a:ea typeface="游明朝"/>
                        </a:rPr>
                        <a:t>約3ヶ月〜半年前</a:t>
                      </a:r>
                    </a:p>
                  </a:txBody>
                  <a:tcPr anchor="ctr" marL="80000" marR="50000" marT="8000" marB="8000">
                    <a:solidFill>
                      <a:srgbClr val="FDFBF6"/>
                    </a:solidFill>
                  </a:tcPr>
                </a:tc>
              </a:tr>
            </a:tbl>
          </a:graphicData>
        </a:graphic>
      </p:graphicFrame>
      <p:sp>
        <p:nvSpPr>
          <p:cNvPr id="38" name="TextBox 37"/>
          <p:cNvSpPr txBox="1"/>
          <p:nvPr/>
        </p:nvSpPr>
        <p:spPr>
          <a:xfrm>
            <a:off x="566928" y="10011982"/>
            <a:ext cx="6428994" cy="310896"/>
          </a:xfrm>
          <a:prstGeom prst="rect">
            <a:avLst/>
          </a:prstGeom>
          <a:noFill/>
        </p:spPr>
        <p:txBody>
          <a:bodyPr wrap="square" anchor="t" lIns="0" rIns="0" tIns="0" bIns="0">
            <a:spAutoFit/>
          </a:bodyPr>
          <a:lstStyle/>
          <a:p>
            <a:pPr algn="l">
              <a:lnSpc>
                <a:spcPct val="130000"/>
              </a:lnSpc>
              <a:spcBef>
                <a:spcPts val="0"/>
              </a:spcBef>
              <a:spcAft>
                <a:spcPts val="0"/>
              </a:spcAft>
            </a:pPr>
            <a:r>
              <a:rPr sz="850" b="0">
                <a:solidFill>
                  <a:srgbClr val="7A7060"/>
                </a:solidFill>
                <a:latin typeface="游ゴシック"/>
                <a:ea typeface="游ゴシック"/>
              </a:rPr>
              <a:t>※ GW・夏休み・年末年始など長期休みは“隠れみの”チャンス。回復・最適時期には個人差があります（骨切り・肋軟骨は長め）。詳しくはDM・カウンセリングで。</a:t>
            </a:r>
          </a:p>
        </p:txBody>
      </p:sp>
      <p:sp>
        <p:nvSpPr>
          <p:cNvPr id="39" name="TextBox 38"/>
          <p:cNvSpPr txBox="1"/>
          <p:nvPr/>
        </p:nvSpPr>
        <p:spPr>
          <a:xfrm>
            <a:off x="566928" y="10322878"/>
            <a:ext cx="4628875" cy="182880"/>
          </a:xfrm>
          <a:prstGeom prst="rect">
            <a:avLst/>
          </a:prstGeom>
          <a:noFill/>
        </p:spPr>
        <p:txBody>
          <a:bodyPr wrap="square" anchor="t" lIns="0" rIns="0" tIns="0" bIns="0">
            <a:spAutoFit/>
          </a:bodyPr>
          <a:lstStyle/>
          <a:p>
            <a:pPr algn="l">
              <a:lnSpc>
                <a:spcPct val="110000"/>
              </a:lnSpc>
              <a:spcBef>
                <a:spcPts val="0"/>
              </a:spcBef>
              <a:spcAft>
                <a:spcPts val="0"/>
              </a:spcAft>
            </a:pPr>
            <a:r>
              <a:rPr sz="750" b="0">
                <a:solidFill>
                  <a:srgbClr val="7A7060"/>
                </a:solidFill>
                <a:latin typeface="游ゴシック"/>
                <a:ea typeface="游ゴシック"/>
              </a:rPr>
              <a:t>鼻整形 デザインカタログ｜ダウンタイム・カレンダー</a:t>
            </a:r>
          </a:p>
        </p:txBody>
      </p:sp>
      <p:sp>
        <p:nvSpPr>
          <p:cNvPr id="40" name="TextBox 39"/>
          <p:cNvSpPr txBox="1"/>
          <p:nvPr/>
        </p:nvSpPr>
        <p:spPr>
          <a:xfrm>
            <a:off x="5715762" y="10322878"/>
            <a:ext cx="1280160" cy="182880"/>
          </a:xfrm>
          <a:prstGeom prst="rect">
            <a:avLst/>
          </a:prstGeom>
          <a:noFill/>
        </p:spPr>
        <p:txBody>
          <a:bodyPr wrap="square" anchor="t" lIns="0" rIns="0" tIns="0" bIns="0">
            <a:spAutoFit/>
          </a:bodyPr>
          <a:lstStyle/>
          <a:p>
            <a:pPr algn="r">
              <a:lnSpc>
                <a:spcPct val="110000"/>
              </a:lnSpc>
              <a:spcBef>
                <a:spcPts val="0"/>
              </a:spcBef>
              <a:spcAft>
                <a:spcPts val="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基本は鼻の穴の中から行うクローズド法で、傷あとを残さない設計。難症例ではオープン法も使い分けます。</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25</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1975104"/>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249424"/>
          <a:ext cx="6428993" cy="1371600"/>
        </p:xfrm>
        <a:graphic>
          <a:graphicData uri="http://schemas.openxmlformats.org/drawingml/2006/table">
            <a:tbl>
              <a:tblPr firstRow="1" bandRow="1">
                <a:tableStyleId>{5C22544A-7EE6-4342-B048-85BDC9FD1C3A}</a:tableStyleId>
              </a:tblPr>
              <a:tblGrid>
                <a:gridCol w="3214497"/>
                <a:gridCol w="1735828"/>
                <a:gridCol w="1478668"/>
              </a:tblGrid>
              <a:tr h="342900">
                <a:tc>
                  <a:txBody>
                    <a:bodyPr wrap="square"/>
                    <a:lstStyle/>
                    <a:p>
                      <a:pPr algn="l"/>
                      <a:r>
                        <a:rPr sz="1100" b="1">
                          <a:solidFill>
                            <a:srgbClr val="FFFFFF"/>
                          </a:solidFill>
                          <a:latin typeface="游明朝"/>
                          <a:ea typeface="游明朝"/>
                        </a:rPr>
                        <a:t>プラン</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0000" marB="10000">
                    <a:solidFill>
                      <a:srgbClr val="B0934E"/>
                    </a:solidFill>
                  </a:tcPr>
                </a:tc>
              </a:tr>
              <a:tr h="342900">
                <a:tc>
                  <a:txBody>
                    <a:bodyPr wrap="square"/>
                    <a:lstStyle/>
                    <a:p>
                      <a:pPr algn="l"/>
                      <a:r>
                        <a:rPr sz="1100" b="0">
                          <a:solidFill>
                            <a:srgbClr val="3A3326"/>
                          </a:solidFill>
                          <a:latin typeface="游ゴシック"/>
                          <a:ea typeface="游ゴシック"/>
                        </a:rPr>
                        <a:t>ストラット</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0000" marB="10000">
                    <a:solidFill>
                      <a:srgbClr val="FDFBF6"/>
                    </a:solidFill>
                  </a:tcPr>
                </a:tc>
              </a:tr>
              <a:tr h="342900">
                <a:tc>
                  <a:txBody>
                    <a:bodyPr wrap="square"/>
                    <a:lstStyle/>
                    <a:p>
                      <a:pPr algn="l"/>
                      <a:r>
                        <a:rPr sz="1100" b="0">
                          <a:solidFill>
                            <a:srgbClr val="3A3326"/>
                          </a:solidFill>
                          <a:latin typeface="游ゴシック"/>
                          <a:ea typeface="游ゴシック"/>
                        </a:rPr>
                        <a:t>鼻中隔延長（耳介軟骨）</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0000" marB="10000">
                    <a:solidFill>
                      <a:srgbClr val="F3ECDD"/>
                    </a:solidFill>
                  </a:tcPr>
                </a:tc>
              </a:tr>
              <a:tr h="342900">
                <a:tc>
                  <a:txBody>
                    <a:bodyPr wrap="square"/>
                    <a:lstStyle/>
                    <a:p>
                      <a:pPr algn="l"/>
                      <a:r>
                        <a:rPr sz="1100" b="0">
                          <a:solidFill>
                            <a:srgbClr val="3A3326"/>
                          </a:solidFill>
                          <a:latin typeface="游ゴシック"/>
                          <a:ea typeface="游ゴシック"/>
                        </a:rPr>
                        <a:t>鼻中隔延長（肋軟骨併用）</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0000" marB="10000">
                    <a:solidFill>
                      <a:srgbClr val="FDFBF6"/>
                    </a:solidFill>
                  </a:tcPr>
                </a:tc>
              </a:tr>
            </a:tbl>
          </a:graphicData>
        </a:graphic>
      </p:graphicFrame>
      <p:sp>
        <p:nvSpPr>
          <p:cNvPr id="10" name="TextBox 9"/>
          <p:cNvSpPr txBox="1"/>
          <p:nvPr/>
        </p:nvSpPr>
        <p:spPr>
          <a:xfrm>
            <a:off x="566928" y="3712463"/>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3986784"/>
          <a:ext cx="6428993" cy="932688"/>
        </p:xfrm>
        <a:graphic>
          <a:graphicData uri="http://schemas.openxmlformats.org/drawingml/2006/table">
            <a:tbl>
              <a:tblPr firstRow="1" bandRow="1">
                <a:tableStyleId>{5C22544A-7EE6-4342-B048-85BDC9FD1C3A}</a:tableStyleId>
              </a:tblPr>
              <a:tblGrid>
                <a:gridCol w="4628875"/>
                <a:gridCol w="1800118"/>
              </a:tblGrid>
              <a:tr h="310896">
                <a:tc>
                  <a:txBody>
                    <a:bodyPr wrap="square"/>
                    <a:lstStyle/>
                    <a:p>
                      <a:pPr algn="l"/>
                      <a:r>
                        <a:rPr sz="1100" b="1">
                          <a:solidFill>
                            <a:srgbClr val="FFFFFF"/>
                          </a:solidFill>
                          <a:latin typeface="游明朝"/>
                          <a:ea typeface="游明朝"/>
                        </a:rPr>
                        <a:t>追加する施術</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0000" marB="10000">
                    <a:solidFill>
                      <a:srgbClr val="B0934E"/>
                    </a:solidFill>
                  </a:tcPr>
                </a:tc>
              </a:tr>
              <a:tr h="310896">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0000" marB="10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0000" marB="10000">
                    <a:solidFill>
                      <a:srgbClr val="FDFBF6"/>
                    </a:solidFill>
                  </a:tcPr>
                </a:tc>
              </a:tr>
              <a:tr h="310896">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0000" marB="10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0000" marB="10000">
                    <a:solidFill>
                      <a:srgbClr val="F3ECDD"/>
                    </a:solidFill>
                  </a:tcPr>
                </a:tc>
              </a:tr>
            </a:tbl>
          </a:graphicData>
        </a:graphic>
      </p:graphicFrame>
      <p:sp>
        <p:nvSpPr>
          <p:cNvPr id="12" name="Rounded Rectangle 11"/>
          <p:cNvSpPr/>
          <p:nvPr/>
        </p:nvSpPr>
        <p:spPr>
          <a:xfrm>
            <a:off x="566928" y="5029200"/>
            <a:ext cx="6428994" cy="4572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029200"/>
            <a:ext cx="5880354" cy="457200"/>
          </a:xfrm>
          <a:prstGeom prst="rect">
            <a:avLst/>
          </a:prstGeom>
          <a:noFill/>
        </p:spPr>
        <p:txBody>
          <a:bodyPr wrap="square" anchor="ctr" lIns="0" rIns="0" tIns="0" bIns="0">
            <a:spAutoFit/>
          </a:bodyPr>
          <a:lstStyle/>
          <a:p>
            <a:pPr algn="l">
              <a:lnSpc>
                <a:spcPct val="115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Rounded Rectangle 13"/>
          <p:cNvSpPr/>
          <p:nvPr/>
        </p:nvSpPr>
        <p:spPr>
          <a:xfrm>
            <a:off x="566928" y="5559552"/>
            <a:ext cx="6428994" cy="457200"/>
          </a:xfrm>
          <a:prstGeom prst="roundRect">
            <a:avLst/>
          </a:prstGeom>
          <a:solidFill>
            <a:srgbClr val="FDFBF6"/>
          </a:solidFill>
          <a:ln w="12700">
            <a:solidFill>
              <a:srgbClr val="B055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559552"/>
            <a:ext cx="73152" cy="4572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559552"/>
            <a:ext cx="5971794" cy="457200"/>
          </a:xfrm>
          <a:prstGeom prst="rect">
            <a:avLst/>
          </a:prstGeom>
          <a:noFill/>
        </p:spPr>
        <p:txBody>
          <a:bodyPr wrap="square" anchor="ctr" lIns="0" rIns="0" tIns="0" bIns="0">
            <a:spAutoFit/>
          </a:bodyPr>
          <a:lstStyle/>
          <a:p>
            <a:pPr algn="l">
              <a:lnSpc>
                <a:spcPct val="115000"/>
              </a:lnSpc>
              <a:spcBef>
                <a:spcPts val="0"/>
              </a:spcBef>
              <a:spcAft>
                <a:spcPts val="100"/>
              </a:spcAft>
            </a:pPr>
            <a:r>
              <a:rPr sz="1050" b="1">
                <a:solidFill>
                  <a:srgbClr val="B0553A"/>
                </a:solidFill>
                <a:latin typeface="游ゴシック"/>
                <a:ea typeface="游ゴシック"/>
              </a:rPr>
              <a:t>別途費用　</a:t>
            </a:r>
            <a:r>
              <a:rPr sz="1000" b="0">
                <a:solidFill>
                  <a:srgbClr val="3A3326"/>
                </a:solidFill>
                <a:latin typeface="游ゴシック"/>
                <a:ea typeface="游ゴシック"/>
              </a:rPr>
              <a:t>静脈麻酔 ¥55,000 ／ 全身麻酔 ¥209,000 ／ 術前検査 ¥17,600 ／ お薬代（処方に応じて）</a:t>
            </a:r>
          </a:p>
        </p:txBody>
      </p:sp>
      <p:sp>
        <p:nvSpPr>
          <p:cNvPr id="17" name="TextBox 16"/>
          <p:cNvSpPr txBox="1"/>
          <p:nvPr/>
        </p:nvSpPr>
        <p:spPr>
          <a:xfrm>
            <a:off x="566928" y="6144768"/>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8" name="Rounded Rectangle 17"/>
          <p:cNvSpPr/>
          <p:nvPr/>
        </p:nvSpPr>
        <p:spPr>
          <a:xfrm>
            <a:off x="566928" y="6400800"/>
            <a:ext cx="6428994" cy="10515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6510528"/>
            <a:ext cx="5880354" cy="868680"/>
          </a:xfrm>
          <a:prstGeom prst="rect">
            <a:avLst/>
          </a:prstGeom>
          <a:noFill/>
        </p:spPr>
        <p:txBody>
          <a:bodyPr wrap="square" anchor="t" lIns="0" rIns="0" tIns="0" bIns="0">
            <a:spAutoFit/>
          </a:bodyPr>
          <a:lstStyle/>
          <a:p>
            <a:pPr algn="l">
              <a:lnSpc>
                <a:spcPct val="145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20" name="Rounded Rectangle 19"/>
          <p:cNvSpPr/>
          <p:nvPr/>
        </p:nvSpPr>
        <p:spPr>
          <a:xfrm>
            <a:off x="566928" y="7589520"/>
            <a:ext cx="6428994" cy="868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7680960"/>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22" name="TextBox 21"/>
          <p:cNvSpPr txBox="1"/>
          <p:nvPr/>
        </p:nvSpPr>
        <p:spPr>
          <a:xfrm>
            <a:off x="886968" y="7973568"/>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3" name="TextBox 22"/>
          <p:cNvSpPr txBox="1"/>
          <p:nvPr/>
        </p:nvSpPr>
        <p:spPr>
          <a:xfrm>
            <a:off x="566928" y="8595360"/>
            <a:ext cx="6428994" cy="118872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7A7060"/>
                </a:solidFill>
                <a:latin typeface="游ゴシック"/>
                <a:ea typeface="游ゴシック"/>
              </a:rPr>
              <a:t>※ 表示はすべて通常料金（税込）の目安です。鼻整形は自由診療（保険適用外）です。
※ 上記の手術料金とは別に、麻酔・術前検査・お薬代が必要です（上記「別途費用」参照）。
※ 月々は通常料金・60回払いの一例で、金利・支払回数により変動します。
※ 単体施術メニューは参考価格です。最新の料金・キャンペーンは @zetith_hane／院内にてご確認ください。</a:t>
            </a:r>
          </a:p>
        </p:txBody>
      </p:sp>
      <p:sp>
        <p:nvSpPr>
          <p:cNvPr id="24" name="TextBox 23"/>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5" name="TextBox 2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28</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本日はカウンセリングへお越しいただき、ありがとうございました。ご自宅でゆっくり見比べて、納得してからお決めください。気になることは、いつでもDMでお気軽にご質問ください。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DMで個別相談OK</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カウンセリングで気になったこと・聞きそびれたことは、InstagramのDMで個別にお答えします。</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術後もDMでフォロー</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手術のあとも、経過やお悩みのご相談はDMでいつでもご連絡ください。</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ご予約・手術日の調整</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WEB・LINE・お電話で。カウンセリング優先でご案内します。</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迷ったら、もう一度</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ご家族との相談・再カウンセリングも歓迎。納得が、ベストなタイミングです。</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3EA"/>
        </a:solidFill>
        <a:effectLst/>
      </p:bgPr>
    </p:bg>
    <p:spTree>
      <p:nvGrpSpPr>
        <p:cNvPr id="1" name=""/>
        <p:cNvGrpSpPr/>
        <p:nvPr/>
      </p:nvGrpSpPr>
      <p:grpSpPr/>
      <p:sp>
        <p:nvSpPr>
          <p:cNvPr id="2" name="Picture Placeholder 1"/>
          <p:cNvSpPr>
            <a:spLocks noGrp="1"/>
          </p:cNvSpPr>
          <p:nvPr>
            <p:ph type="pic" idx="10"/>
          </p:nvPr>
        </p:nvSpPr>
        <p:spPr/>
        <p:txBody>
          <a:bodyPr/>
          <a:p/>
        </p:txBody>
      </p:sp>
      <p:sp>
        <p:nvSpPr>
          <p:cNvPr id="3" name="Picture Placeholder 2"/>
          <p:cNvSpPr>
            <a:spLocks noGrp="1"/>
          </p:cNvSpPr>
          <p:nvPr>
            <p:ph type="pic" idx="20"/>
          </p:nvPr>
        </p:nvSpPr>
        <p:spPr/>
        <p:txBody>
          <a:bodyPr/>
          <a:p/>
        </p:txBody>
      </p:sp>
      <p:sp>
        <p:nvSpPr>
          <p:cNvPr id="4" name="Picture Placeholder 3"/>
          <p:cNvSpPr>
            <a:spLocks noGrp="1"/>
          </p:cNvSpPr>
          <p:nvPr>
            <p:ph type="pic" idx="11"/>
          </p:nvPr>
        </p:nvSpPr>
        <p:spPr/>
        <p:txBody>
          <a:bodyPr/>
          <a:p/>
        </p:txBody>
      </p:sp>
      <p:sp>
        <p:nvSpPr>
          <p:cNvPr id="5" name="Picture Placeholder 4"/>
          <p:cNvSpPr>
            <a:spLocks noGrp="1"/>
          </p:cNvSpPr>
          <p:nvPr>
            <p:ph type="pic" idx="21"/>
          </p:nvPr>
        </p:nvSpPr>
        <p:spPr/>
        <p:txBody>
          <a:bodyPr/>
          <a:p/>
        </p:txBody>
      </p:sp>
      <p:sp>
        <p:nvSpPr>
          <p:cNvPr id="6" name="Picture Placeholder 5"/>
          <p:cNvSpPr>
            <a:spLocks noGrp="1"/>
          </p:cNvSpPr>
          <p:nvPr>
            <p:ph type="pic" idx="12"/>
          </p:nvPr>
        </p:nvSpPr>
        <p:spPr/>
        <p:txBody>
          <a:bodyPr/>
          <a:p/>
        </p:txBody>
      </p:sp>
      <p:sp>
        <p:nvSpPr>
          <p:cNvPr id="7" name="Picture Placeholder 6"/>
          <p:cNvSpPr>
            <a:spLocks noGrp="1"/>
          </p:cNvSpPr>
          <p:nvPr>
            <p:ph type="pic" idx="22"/>
          </p:nvPr>
        </p:nvSpPr>
        <p:spPr/>
        <p:txBody>
          <a:bodyPr/>
          <a:p/>
        </p:txBody>
      </p:sp>
      <p:sp>
        <p:nvSpPr>
          <p:cNvPr id="8" name="TextBox 7"/>
          <p:cNvSpPr txBox="1"/>
          <p:nvPr/>
        </p:nvSpPr>
        <p:spPr>
          <a:xfrm>
            <a:off x="566928" y="457200"/>
            <a:ext cx="6428994" cy="201168"/>
          </a:xfrm>
          <a:prstGeom prst="rect">
            <a:avLst/>
          </a:prstGeom>
          <a:noFill/>
        </p:spPr>
        <p:txBody>
          <a:bodyPr wrap="square" anchor="t" lIns="0" rIns="0" tIns="0" bIns="0">
            <a:spAutoFit/>
          </a:bodyPr>
          <a:lstStyle/>
          <a:p>
            <a:pPr algn="l">
              <a:lnSpc>
                <a:spcPct val="120000"/>
              </a:lnSpc>
              <a:spcBef>
                <a:spcPts val="0"/>
              </a:spcBef>
              <a:spcAft>
                <a:spcPts val="100"/>
              </a:spcAft>
            </a:pPr>
            <a:r>
              <a:rPr sz="950" b="1">
                <a:solidFill>
                  <a:srgbClr val="B0934E"/>
                </a:solidFill>
                <a:latin typeface="游ゴシック"/>
                <a:ea typeface="游ゴシック"/>
              </a:rPr>
              <a:t>PATIENT INTERVIEW</a:t>
            </a:r>
          </a:p>
        </p:txBody>
      </p:sp>
      <p:sp>
        <p:nvSpPr>
          <p:cNvPr id="9" name="TextBox 8"/>
          <p:cNvSpPr txBox="1"/>
          <p:nvPr/>
        </p:nvSpPr>
        <p:spPr>
          <a:xfrm>
            <a:off x="566928" y="658368"/>
            <a:ext cx="5697474" cy="640080"/>
          </a:xfrm>
          <a:prstGeom prst="rect">
            <a:avLst/>
          </a:prstGeom>
          <a:noFill/>
        </p:spPr>
        <p:txBody>
          <a:bodyPr wrap="square" anchor="t" lIns="0" rIns="0" tIns="0" bIns="0">
            <a:spAutoFit/>
          </a:bodyPr>
          <a:lstStyle/>
          <a:p>
            <a:pPr algn="l">
              <a:lnSpc>
                <a:spcPct val="120000"/>
              </a:lnSpc>
              <a:spcBef>
                <a:spcPts val="0"/>
              </a:spcBef>
              <a:spcAft>
                <a:spcPts val="100"/>
              </a:spcAft>
            </a:pPr>
            <a:r>
              <a:rPr sz="2600" b="1">
                <a:solidFill>
                  <a:srgbClr val="3A3326"/>
                </a:solidFill>
                <a:latin typeface="游明朝"/>
                <a:ea typeface="游明朝"/>
              </a:rPr>
              <a:t>患者さまインタビュー</a:t>
            </a:r>
          </a:p>
        </p:txBody>
      </p:sp>
      <p:sp>
        <p:nvSpPr>
          <p:cNvPr id="10" name="TextBox 9"/>
          <p:cNvSpPr txBox="1"/>
          <p:nvPr/>
        </p:nvSpPr>
        <p:spPr>
          <a:xfrm>
            <a:off x="6355842" y="457200"/>
            <a:ext cx="640080" cy="274320"/>
          </a:xfrm>
          <a:prstGeom prst="rect">
            <a:avLst/>
          </a:prstGeom>
          <a:noFill/>
        </p:spPr>
        <p:txBody>
          <a:bodyPr wrap="square" anchor="t" lIns="0" rIns="0" tIns="0" bIns="0">
            <a:spAutoFit/>
          </a:bodyPr>
          <a:lstStyle/>
          <a:p>
            <a:pPr algn="r">
              <a:lnSpc>
                <a:spcPct val="120000"/>
              </a:lnSpc>
              <a:spcBef>
                <a:spcPts val="0"/>
              </a:spcBef>
              <a:spcAft>
                <a:spcPts val="100"/>
              </a:spcAft>
            </a:pPr>
            <a:r>
              <a:rPr sz="1100" b="0">
                <a:solidFill>
                  <a:srgbClr val="B0934E"/>
                </a:solidFill>
                <a:latin typeface="游明朝"/>
                <a:ea typeface="游明朝"/>
              </a:rPr>
              <a:t>27</a:t>
            </a:r>
          </a:p>
        </p:txBody>
      </p:sp>
      <p:sp>
        <p:nvSpPr>
          <p:cNvPr id="11" name="Rectangle 10"/>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481328"/>
            <a:ext cx="6428994" cy="548640"/>
          </a:xfrm>
          <a:prstGeom prst="rect">
            <a:avLst/>
          </a:prstGeom>
          <a:noFill/>
        </p:spPr>
        <p:txBody>
          <a:bodyPr wrap="square" anchor="t" lIns="0" rIns="0" tIns="0" bIns="0">
            <a:spAutoFit/>
          </a:bodyPr>
          <a:lstStyle/>
          <a:p>
            <a:pPr algn="l">
              <a:lnSpc>
                <a:spcPct val="135000"/>
              </a:lnSpc>
              <a:spcBef>
                <a:spcPts val="0"/>
              </a:spcBef>
              <a:spcAft>
                <a:spcPts val="100"/>
              </a:spcAft>
            </a:pPr>
            <a:r>
              <a:rPr sz="1050" b="0">
                <a:solidFill>
                  <a:srgbClr val="3A3326"/>
                </a:solidFill>
                <a:latin typeface="游ゴシック"/>
                <a:ea typeface="游ゴシック"/>
              </a:rPr>
              <a:t>実際に羽根Drの手術を受けた患者さまの“本音”インタビュー。QRから動画でご覧いただけます。気になる方には、似たお悩みの方の動画もDMでご紹介します。</a:t>
            </a:r>
          </a:p>
        </p:txBody>
      </p:sp>
      <p:sp>
        <p:nvSpPr>
          <p:cNvPr id="13" name="TextBox 12"/>
          <p:cNvSpPr txBox="1"/>
          <p:nvPr/>
        </p:nvSpPr>
        <p:spPr>
          <a:xfrm>
            <a:off x="2990088" y="2350008"/>
            <a:ext cx="2817114" cy="274320"/>
          </a:xfrm>
          <a:prstGeom prst="rect">
            <a:avLst/>
          </a:prstGeom>
          <a:noFill/>
        </p:spPr>
        <p:txBody>
          <a:bodyPr wrap="square" anchor="t" lIns="0" rIns="0" tIns="0" bIns="0">
            <a:spAutoFit/>
          </a:bodyPr>
          <a:lstStyle/>
          <a:p>
            <a:pPr algn="l">
              <a:lnSpc>
                <a:spcPct val="120000"/>
              </a:lnSpc>
              <a:spcBef>
                <a:spcPts val="0"/>
              </a:spcBef>
              <a:spcAft>
                <a:spcPts val="100"/>
              </a:spcAft>
            </a:pPr>
            <a:r>
              <a:rPr sz="1200" b="1">
                <a:solidFill>
                  <a:srgbClr val="8C7339"/>
                </a:solidFill>
                <a:latin typeface="游明朝"/>
                <a:ea typeface="游明朝"/>
              </a:rPr>
              <a:t>20代女性・団子鼻</a:t>
            </a:r>
          </a:p>
        </p:txBody>
      </p:sp>
      <p:sp>
        <p:nvSpPr>
          <p:cNvPr id="14" name="TextBox 13"/>
          <p:cNvSpPr txBox="1"/>
          <p:nvPr/>
        </p:nvSpPr>
        <p:spPr>
          <a:xfrm>
            <a:off x="2990088" y="2697480"/>
            <a:ext cx="2817114" cy="1005840"/>
          </a:xfrm>
          <a:prstGeom prst="rect">
            <a:avLst/>
          </a:prstGeom>
          <a:noFill/>
        </p:spPr>
        <p:txBody>
          <a:bodyPr wrap="square" anchor="t" lIns="0" rIns="0" tIns="0" bIns="0">
            <a:spAutoFit/>
          </a:bodyPr>
          <a:lstStyle/>
          <a:p>
            <a:pPr algn="l">
              <a:lnSpc>
                <a:spcPct val="150000"/>
              </a:lnSpc>
              <a:spcBef>
                <a:spcPts val="0"/>
              </a:spcBef>
              <a:spcAft>
                <a:spcPts val="100"/>
              </a:spcAft>
            </a:pPr>
            <a:r>
              <a:rPr sz="1100" b="0">
                <a:solidFill>
                  <a:srgbClr val="3A3326"/>
                </a:solidFill>
                <a:latin typeface="游ゴシック"/>
                <a:ea typeface="游ゴシック"/>
              </a:rPr>
              <a:t>「鼻先が変わるだけで、毎朝鏡を見るのが楽しみになりました。」</a:t>
            </a:r>
          </a:p>
        </p:txBody>
      </p:sp>
      <p:sp>
        <p:nvSpPr>
          <p:cNvPr id="15" name="TextBox 14"/>
          <p:cNvSpPr txBox="1"/>
          <p:nvPr/>
        </p:nvSpPr>
        <p:spPr>
          <a:xfrm>
            <a:off x="5990082" y="2386584"/>
            <a:ext cx="1051560" cy="182880"/>
          </a:xfrm>
          <a:prstGeom prst="rect">
            <a:avLst/>
          </a:prstGeom>
          <a:noFill/>
        </p:spPr>
        <p:txBody>
          <a:bodyPr wrap="square" anchor="t" lIns="0" rIns="0" tIns="0" bIns="0">
            <a:spAutoFit/>
          </a:bodyPr>
          <a:lstStyle/>
          <a:p>
            <a:pPr algn="ctr">
              <a:lnSpc>
                <a:spcPct val="120000"/>
              </a:lnSpc>
              <a:spcBef>
                <a:spcPts val="0"/>
              </a:spcBef>
              <a:spcAft>
                <a:spcPts val="100"/>
              </a:spcAft>
            </a:pPr>
            <a:r>
              <a:rPr sz="800" b="1">
                <a:solidFill>
                  <a:srgbClr val="8C7339"/>
                </a:solidFill>
                <a:latin typeface="游ゴシック"/>
                <a:ea typeface="游ゴシック"/>
              </a:rPr>
              <a:t>▶ 動画を見る</a:t>
            </a:r>
          </a:p>
        </p:txBody>
      </p:sp>
      <p:sp>
        <p:nvSpPr>
          <p:cNvPr id="16" name="Rectangle 15"/>
          <p:cNvSpPr/>
          <p:nvPr/>
        </p:nvSpPr>
        <p:spPr>
          <a:xfrm>
            <a:off x="566928" y="3941064"/>
            <a:ext cx="6428994" cy="9525"/>
          </a:xfrm>
          <a:prstGeom prst="rect">
            <a:avLst/>
          </a:prstGeom>
          <a:solidFill>
            <a:srgbClr val="F3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90088" y="4160520"/>
            <a:ext cx="2817114" cy="274320"/>
          </a:xfrm>
          <a:prstGeom prst="rect">
            <a:avLst/>
          </a:prstGeom>
          <a:noFill/>
        </p:spPr>
        <p:txBody>
          <a:bodyPr wrap="square" anchor="t" lIns="0" rIns="0" tIns="0" bIns="0">
            <a:spAutoFit/>
          </a:bodyPr>
          <a:lstStyle/>
          <a:p>
            <a:pPr algn="l">
              <a:lnSpc>
                <a:spcPct val="120000"/>
              </a:lnSpc>
              <a:spcBef>
                <a:spcPts val="0"/>
              </a:spcBef>
              <a:spcAft>
                <a:spcPts val="100"/>
              </a:spcAft>
            </a:pPr>
            <a:r>
              <a:rPr sz="1200" b="1">
                <a:solidFill>
                  <a:srgbClr val="8C7339"/>
                </a:solidFill>
                <a:latin typeface="游明朝"/>
                <a:ea typeface="游明朝"/>
              </a:rPr>
              <a:t>30代女性・鼻中隔延長</a:t>
            </a:r>
          </a:p>
        </p:txBody>
      </p:sp>
      <p:sp>
        <p:nvSpPr>
          <p:cNvPr id="18" name="TextBox 17"/>
          <p:cNvSpPr txBox="1"/>
          <p:nvPr/>
        </p:nvSpPr>
        <p:spPr>
          <a:xfrm>
            <a:off x="2990088" y="4507992"/>
            <a:ext cx="2817114" cy="1005840"/>
          </a:xfrm>
          <a:prstGeom prst="rect">
            <a:avLst/>
          </a:prstGeom>
          <a:noFill/>
        </p:spPr>
        <p:txBody>
          <a:bodyPr wrap="square" anchor="t" lIns="0" rIns="0" tIns="0" bIns="0">
            <a:spAutoFit/>
          </a:bodyPr>
          <a:lstStyle/>
          <a:p>
            <a:pPr algn="l">
              <a:lnSpc>
                <a:spcPct val="150000"/>
              </a:lnSpc>
              <a:spcBef>
                <a:spcPts val="0"/>
              </a:spcBef>
              <a:spcAft>
                <a:spcPts val="100"/>
              </a:spcAft>
            </a:pPr>
            <a:r>
              <a:rPr sz="1100" b="0">
                <a:solidFill>
                  <a:srgbClr val="3A3326"/>
                </a:solidFill>
                <a:latin typeface="游ゴシック"/>
                <a:ea typeface="游ゴシック"/>
              </a:rPr>
              <a:t>「横顔に自信が持てて、写真が好きになりました。痛みも思ったより軽かったです。」</a:t>
            </a:r>
          </a:p>
        </p:txBody>
      </p:sp>
      <p:sp>
        <p:nvSpPr>
          <p:cNvPr id="19" name="TextBox 18"/>
          <p:cNvSpPr txBox="1"/>
          <p:nvPr/>
        </p:nvSpPr>
        <p:spPr>
          <a:xfrm>
            <a:off x="5990082" y="4197096"/>
            <a:ext cx="1051560" cy="182880"/>
          </a:xfrm>
          <a:prstGeom prst="rect">
            <a:avLst/>
          </a:prstGeom>
          <a:noFill/>
        </p:spPr>
        <p:txBody>
          <a:bodyPr wrap="square" anchor="t" lIns="0" rIns="0" tIns="0" bIns="0">
            <a:spAutoFit/>
          </a:bodyPr>
          <a:lstStyle/>
          <a:p>
            <a:pPr algn="ctr">
              <a:lnSpc>
                <a:spcPct val="120000"/>
              </a:lnSpc>
              <a:spcBef>
                <a:spcPts val="0"/>
              </a:spcBef>
              <a:spcAft>
                <a:spcPts val="100"/>
              </a:spcAft>
            </a:pPr>
            <a:r>
              <a:rPr sz="800" b="1">
                <a:solidFill>
                  <a:srgbClr val="8C7339"/>
                </a:solidFill>
                <a:latin typeface="游ゴシック"/>
                <a:ea typeface="游ゴシック"/>
              </a:rPr>
              <a:t>▶ 動画を見る</a:t>
            </a:r>
          </a:p>
        </p:txBody>
      </p:sp>
      <p:sp>
        <p:nvSpPr>
          <p:cNvPr id="20" name="Rectangle 19"/>
          <p:cNvSpPr/>
          <p:nvPr/>
        </p:nvSpPr>
        <p:spPr>
          <a:xfrm>
            <a:off x="566928" y="5751576"/>
            <a:ext cx="6428994" cy="9525"/>
          </a:xfrm>
          <a:prstGeom prst="rect">
            <a:avLst/>
          </a:prstGeom>
          <a:solidFill>
            <a:srgbClr val="F3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90088" y="5971032"/>
            <a:ext cx="2817114" cy="274320"/>
          </a:xfrm>
          <a:prstGeom prst="rect">
            <a:avLst/>
          </a:prstGeom>
          <a:noFill/>
        </p:spPr>
        <p:txBody>
          <a:bodyPr wrap="square" anchor="t" lIns="0" rIns="0" tIns="0" bIns="0">
            <a:spAutoFit/>
          </a:bodyPr>
          <a:lstStyle/>
          <a:p>
            <a:pPr algn="l">
              <a:lnSpc>
                <a:spcPct val="120000"/>
              </a:lnSpc>
              <a:spcBef>
                <a:spcPts val="0"/>
              </a:spcBef>
              <a:spcAft>
                <a:spcPts val="100"/>
              </a:spcAft>
            </a:pPr>
            <a:r>
              <a:rPr sz="1200" b="1">
                <a:solidFill>
                  <a:srgbClr val="8C7339"/>
                </a:solidFill>
                <a:latin typeface="游明朝"/>
                <a:ea typeface="游明朝"/>
              </a:rPr>
              <a:t>10代女性・わし鼻</a:t>
            </a:r>
          </a:p>
        </p:txBody>
      </p:sp>
      <p:sp>
        <p:nvSpPr>
          <p:cNvPr id="22" name="TextBox 21"/>
          <p:cNvSpPr txBox="1"/>
          <p:nvPr/>
        </p:nvSpPr>
        <p:spPr>
          <a:xfrm>
            <a:off x="2990088" y="6318504"/>
            <a:ext cx="2817114" cy="1005840"/>
          </a:xfrm>
          <a:prstGeom prst="rect">
            <a:avLst/>
          </a:prstGeom>
          <a:noFill/>
        </p:spPr>
        <p:txBody>
          <a:bodyPr wrap="square" anchor="t" lIns="0" rIns="0" tIns="0" bIns="0">
            <a:spAutoFit/>
          </a:bodyPr>
          <a:lstStyle/>
          <a:p>
            <a:pPr algn="l">
              <a:lnSpc>
                <a:spcPct val="150000"/>
              </a:lnSpc>
              <a:spcBef>
                <a:spcPts val="0"/>
              </a:spcBef>
              <a:spcAft>
                <a:spcPts val="100"/>
              </a:spcAft>
            </a:pPr>
            <a:r>
              <a:rPr sz="1100" b="0">
                <a:solidFill>
                  <a:srgbClr val="3A3326"/>
                </a:solidFill>
                <a:latin typeface="游ゴシック"/>
                <a:ea typeface="游ゴシック"/>
              </a:rPr>
              <a:t>「自然な仕上がりで、友達にも気づかれませんでした。受けて本当によかった。」</a:t>
            </a:r>
          </a:p>
        </p:txBody>
      </p:sp>
      <p:sp>
        <p:nvSpPr>
          <p:cNvPr id="23" name="TextBox 22"/>
          <p:cNvSpPr txBox="1"/>
          <p:nvPr/>
        </p:nvSpPr>
        <p:spPr>
          <a:xfrm>
            <a:off x="5990082" y="6007608"/>
            <a:ext cx="1051560" cy="182880"/>
          </a:xfrm>
          <a:prstGeom prst="rect">
            <a:avLst/>
          </a:prstGeom>
          <a:noFill/>
        </p:spPr>
        <p:txBody>
          <a:bodyPr wrap="square" anchor="t" lIns="0" rIns="0" tIns="0" bIns="0">
            <a:spAutoFit/>
          </a:bodyPr>
          <a:lstStyle/>
          <a:p>
            <a:pPr algn="ctr">
              <a:lnSpc>
                <a:spcPct val="120000"/>
              </a:lnSpc>
              <a:spcBef>
                <a:spcPts val="0"/>
              </a:spcBef>
              <a:spcAft>
                <a:spcPts val="100"/>
              </a:spcAft>
            </a:pPr>
            <a:r>
              <a:rPr sz="800" b="1">
                <a:solidFill>
                  <a:srgbClr val="8C7339"/>
                </a:solidFill>
                <a:latin typeface="游ゴシック"/>
                <a:ea typeface="游ゴシック"/>
              </a:rPr>
              <a:t>▶ 動画を見る</a:t>
            </a:r>
          </a:p>
        </p:txBody>
      </p:sp>
      <p:sp>
        <p:nvSpPr>
          <p:cNvPr id="24" name="TextBox 23"/>
          <p:cNvSpPr txBox="1"/>
          <p:nvPr/>
        </p:nvSpPr>
        <p:spPr>
          <a:xfrm>
            <a:off x="566928" y="7772400"/>
            <a:ext cx="6428994" cy="365760"/>
          </a:xfrm>
          <a:prstGeom prst="rect">
            <a:avLst/>
          </a:prstGeom>
          <a:noFill/>
        </p:spPr>
        <p:txBody>
          <a:bodyPr wrap="square" anchor="t" lIns="0" rIns="0" tIns="0" bIns="0">
            <a:spAutoFit/>
          </a:bodyPr>
          <a:lstStyle/>
          <a:p>
            <a:pPr algn="l">
              <a:lnSpc>
                <a:spcPct val="120000"/>
              </a:lnSpc>
              <a:spcBef>
                <a:spcPts val="0"/>
              </a:spcBef>
              <a:spcAft>
                <a:spcPts val="100"/>
              </a:spcAft>
            </a:pPr>
            <a:r>
              <a:rPr sz="950" b="1">
                <a:solidFill>
                  <a:srgbClr val="8C7339"/>
                </a:solidFill>
                <a:latin typeface="游ゴシック"/>
                <a:ea typeface="游ゴシック"/>
              </a:rPr>
              <a:t>▶ ほかの患者さまのインタビューも Instagram @zetith_hane でご覧いただけます。</a:t>
            </a:r>
          </a:p>
        </p:txBody>
      </p:sp>
      <p:sp>
        <p:nvSpPr>
          <p:cNvPr id="25" name="TextBox 24"/>
          <p:cNvSpPr txBox="1"/>
          <p:nvPr/>
        </p:nvSpPr>
        <p:spPr>
          <a:xfrm>
            <a:off x="566928" y="8183879"/>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900" b="0">
                <a:solidFill>
                  <a:srgbClr val="7A7060"/>
                </a:solidFill>
                <a:latin typeface="游ゴシック"/>
                <a:ea typeface="游ゴシック"/>
              </a:rPr>
              <a:t>※ 写真・動画はご本人の同意を得て掲載しています。感想・効果には個人差があります。</a:t>
            </a:r>
          </a:p>
        </p:txBody>
      </p:sp>
      <p:sp>
        <p:nvSpPr>
          <p:cNvPr id="26" name="TextBox 25"/>
          <p:cNvSpPr txBox="1"/>
          <p:nvPr/>
        </p:nvSpPr>
        <p:spPr>
          <a:xfrm>
            <a:off x="566928" y="10304590"/>
            <a:ext cx="4628875" cy="182880"/>
          </a:xfrm>
          <a:prstGeom prst="rect">
            <a:avLst/>
          </a:prstGeom>
          <a:noFill/>
        </p:spPr>
        <p:txBody>
          <a:bodyPr wrap="square" anchor="t" lIns="0" rIns="0" tIns="0" bIns="0">
            <a:spAutoFit/>
          </a:bodyPr>
          <a:lstStyle/>
          <a:p>
            <a:pPr algn="l">
              <a:lnSpc>
                <a:spcPct val="120000"/>
              </a:lnSpc>
              <a:spcBef>
                <a:spcPts val="0"/>
              </a:spcBef>
              <a:spcAft>
                <a:spcPts val="100"/>
              </a:spcAft>
            </a:pPr>
            <a:r>
              <a:rPr sz="750" b="0">
                <a:solidFill>
                  <a:srgbClr val="7A7060"/>
                </a:solidFill>
                <a:latin typeface="游ゴシック"/>
                <a:ea typeface="游ゴシック"/>
              </a:rPr>
              <a:t>鼻整形 デザインカタログ｜患者さまインタビュー</a:t>
            </a:r>
          </a:p>
        </p:txBody>
      </p:sp>
      <p:sp>
        <p:nvSpPr>
          <p:cNvPr id="27" name="TextBox 26"/>
          <p:cNvSpPr txBox="1"/>
          <p:nvPr/>
        </p:nvSpPr>
        <p:spPr>
          <a:xfrm>
            <a:off x="5715762" y="10304590"/>
            <a:ext cx="1280160" cy="182880"/>
          </a:xfrm>
          <a:prstGeom prst="rect">
            <a:avLst/>
          </a:prstGeom>
          <a:noFill/>
        </p:spPr>
        <p:txBody>
          <a:bodyPr wrap="square" anchor="t" lIns="0" rIns="0" tIns="0" bIns="0">
            <a:spAutoFit/>
          </a:bodyPr>
          <a:lstStyle/>
          <a:p>
            <a:pPr algn="r">
              <a:lnSpc>
                <a:spcPct val="120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507</TotalTime>
  <Words>3661</Words>
  <Application>Microsoft Macintosh PowerPoint</Application>
  <PresentationFormat>ユーザー設定</PresentationFormat>
  <Paragraphs>661</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15</cp:revision>
  <dcterms:created xsi:type="dcterms:W3CDTF">2013-01-27T09:14:16Z</dcterms:created>
  <dcterms:modified xsi:type="dcterms:W3CDTF">2026-06-08T15:22:14Z</dcterms:modified>
  <cp:category/>
</cp:coreProperties>
</file>