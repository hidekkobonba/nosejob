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7562850" cy="1068863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写真枠 10"/>
          <p:cNvSpPr>
            <a:spLocks noGrp="1"/>
          </p:cNvSpPr>
          <p:nvPr>
            <p:ph type="pic" idx="10"/>
          </p:nvPr>
        </p:nvSpPr>
        <p:spPr>
          <a:xfrm>
            <a:off x="1038225" y="2240280"/>
            <a:ext cx="2606040" cy="3200400"/>
          </a:xfrm>
          <a:prstGeom prst="roundRect">
            <a:avLst>
              <a:gd name="adj" fmla="val 5000"/>
            </a:avLst>
          </a:prstGeom>
          <a:solidFill>
            <a:srgbClr val="ECE4D4"/>
          </a:solidFill>
        </p:spPr>
        <p:txBody>
          <a:bodyPr/>
          <a:lstStyle/>
          <a:p/>
        </p:txBody>
      </p:sp>
      <p:sp>
        <p:nvSpPr>
          <p:cNvPr id="202" name="写真枠 11"/>
          <p:cNvSpPr>
            <a:spLocks noGrp="1"/>
          </p:cNvSpPr>
          <p:nvPr>
            <p:ph type="pic" idx="11"/>
          </p:nvPr>
        </p:nvSpPr>
        <p:spPr>
          <a:xfrm>
            <a:off x="3918585" y="2240280"/>
            <a:ext cx="2606040" cy="3200400"/>
          </a:xfrm>
          <a:prstGeom prst="roundRect">
            <a:avLst>
              <a:gd name="adj" fmla="val 5000"/>
            </a:avLst>
          </a:prstGeom>
          <a:solidFill>
            <a:srgbClr val="ECE4D4"/>
          </a:solidFill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写真枠 10"/>
          <p:cNvSpPr>
            <a:spLocks noGrp="1"/>
          </p:cNvSpPr>
          <p:nvPr>
            <p:ph type="pic" idx="10"/>
          </p:nvPr>
        </p:nvSpPr>
        <p:spPr>
          <a:xfrm>
            <a:off x="841248" y="8339327"/>
            <a:ext cx="914400" cy="914400"/>
          </a:xfrm>
          <a:prstGeom prst="roundRect">
            <a:avLst>
              <a:gd name="adj" fmla="val 2000"/>
            </a:avLst>
          </a:prstGeom>
          <a:solidFill>
            <a:srgbClr val="ECE4D4"/>
          </a:solidFill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0688638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2850" cy="146304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642899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B0934E"/>
                </a:solidFill>
                <a:latin typeface="游ゴシック"/>
                <a:ea typeface="游ゴシック"/>
              </a:rPr>
              <a:t>ZETITH BEAUTY CLINIC FUKUOKA  ／  Dr.HANE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64289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7A7060"/>
                </a:solidFill>
                <a:latin typeface="游明朝"/>
                <a:ea typeface="游明朝"/>
              </a:rPr>
              <a:t>5th Anniversary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423160"/>
            <a:ext cx="6428994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900" b="1">
                <a:solidFill>
                  <a:srgbClr val="3A3326"/>
                </a:solidFill>
                <a:latin typeface="游明朝"/>
                <a:ea typeface="游明朝"/>
              </a:rPr>
              <a:t>鼻整形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900" b="1">
                <a:solidFill>
                  <a:srgbClr val="3A3326"/>
                </a:solidFill>
                <a:latin typeface="游明朝"/>
                <a:ea typeface="游明朝"/>
              </a:rPr>
              <a:t>デザインカタログ</a:t>
            </a:r>
          </a:p>
        </p:txBody>
      </p:sp>
      <p:sp>
        <p:nvSpPr>
          <p:cNvPr id="7" name="Rectangle 6"/>
          <p:cNvSpPr/>
          <p:nvPr/>
        </p:nvSpPr>
        <p:spPr>
          <a:xfrm>
            <a:off x="2958465" y="4251960"/>
            <a:ext cx="1645920" cy="9525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4480560"/>
            <a:ext cx="64289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3A3326"/>
                </a:solidFill>
                <a:latin typeface="游明朝"/>
                <a:ea typeface="游明朝"/>
              </a:rPr>
              <a:t>“自然さ”にこだわる、クローズド法の設計集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074920"/>
            <a:ext cx="642899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7A7060"/>
                </a:solidFill>
                <a:latin typeface="游ゴシック"/>
                <a:ea typeface="游ゴシック"/>
              </a:rPr>
              <a:t>お悩みからでも、なりたい印象からでも引ける、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7A7060"/>
                </a:solidFill>
                <a:latin typeface="游ゴシック"/>
                <a:ea typeface="游ゴシック"/>
              </a:rPr>
              <a:t>近いお顔の実例から“なりたい”を一緒に探す保存版です。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6126480"/>
            <a:ext cx="2021078" cy="137160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6126480"/>
            <a:ext cx="2021078" cy="54864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6537960"/>
            <a:ext cx="18381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3A3326"/>
                </a:solidFill>
                <a:latin typeface="游明朝"/>
                <a:ea typeface="游明朝"/>
              </a:rPr>
              <a:t>Baby &amp; Cute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7059168"/>
            <a:ext cx="18381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8C7339"/>
                </a:solidFill>
                <a:latin typeface="游ゴシック"/>
                <a:ea typeface="游ゴシック"/>
              </a:rPr>
              <a:t>可愛い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0886" y="6126480"/>
            <a:ext cx="2021078" cy="137160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70886" y="6126480"/>
            <a:ext cx="2021078" cy="54864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62326" y="6537960"/>
            <a:ext cx="18381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3A3326"/>
                </a:solidFill>
                <a:latin typeface="游明朝"/>
                <a:ea typeface="游明朝"/>
              </a:rPr>
              <a:t>Elegant &amp; Straight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62326" y="7059168"/>
            <a:ext cx="18381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8C7339"/>
                </a:solidFill>
                <a:latin typeface="游ゴシック"/>
                <a:ea typeface="游ゴシック"/>
              </a:rPr>
              <a:t>忘れ鼻・大人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74844" y="6126480"/>
            <a:ext cx="2021078" cy="137160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74844" y="6126480"/>
            <a:ext cx="2021078" cy="54864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66284" y="6537960"/>
            <a:ext cx="18381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3A3326"/>
                </a:solidFill>
                <a:latin typeface="游明朝"/>
                <a:ea typeface="游明朝"/>
              </a:rPr>
              <a:t>Dramatic &amp; Glamorous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6284" y="7059168"/>
            <a:ext cx="18381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8C7339"/>
                </a:solidFill>
                <a:latin typeface="游ゴシック"/>
                <a:ea typeface="游ゴシック"/>
              </a:rPr>
              <a:t>華やか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8778240"/>
            <a:ext cx="642899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A3326"/>
                </a:solidFill>
                <a:latin typeface="游明朝"/>
                <a:ea typeface="游明朝"/>
              </a:rPr>
              <a:t>羽瀬 和秀  ／  Dr. Hane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9125712"/>
            <a:ext cx="642899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7A7060"/>
                </a:solidFill>
                <a:latin typeface="游ゴシック"/>
                <a:ea typeface="游ゴシック"/>
              </a:rPr>
              <a:t>@zetith_hane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0688638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642899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569747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3A3326"/>
                </a:solidFill>
                <a:latin typeface="游明朝"/>
                <a:ea typeface="游明朝"/>
              </a:rPr>
              <a:t>この資料の見方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842" y="457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934E"/>
                </a:solidFill>
                <a:latin typeface="游明朝"/>
                <a:ea typeface="游明朝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6428994" cy="9525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642899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A3326"/>
                </a:solidFill>
                <a:latin typeface="游ゴシック"/>
                <a:ea typeface="游ゴシック"/>
              </a:rPr>
              <a:t>本カタログは、Dr.羽根の症例を「お悩み（部位）」で章立てし、各症例にはその仕上がりに最も近い「印象」を1つ表示しています。次ページの印象の説明と、巻頭の“印象×お悩みマトリクス”から、どちらの探し方でもご自身に近い症例に辿り着け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743200"/>
            <a:ext cx="3077337" cy="160020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743200"/>
            <a:ext cx="73152" cy="1600200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44368"/>
            <a:ext cx="262013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3A3326"/>
                </a:solidFill>
                <a:latin typeface="游明朝"/>
                <a:ea typeface="游明朝"/>
              </a:rPr>
              <a:t>印象（3タイプ）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310128"/>
            <a:ext cx="262013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B0934E"/>
                </a:solidFill>
                <a:latin typeface="游ゴシック"/>
                <a:ea typeface="游ゴシック"/>
              </a:rPr>
              <a:t>なりたい雰囲気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639312"/>
            <a:ext cx="262013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7A7060"/>
                </a:solidFill>
                <a:latin typeface="游ゴシック"/>
                <a:ea typeface="游ゴシック"/>
              </a:rPr>
              <a:t>可愛い ／ 忘れ鼻・大人 ／ 華やか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18585" y="2743200"/>
            <a:ext cx="3077337" cy="160020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18585" y="2743200"/>
            <a:ext cx="73152" cy="1600200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92905" y="2944368"/>
            <a:ext cx="262013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3A3326"/>
                </a:solidFill>
                <a:latin typeface="游明朝"/>
                <a:ea typeface="游明朝"/>
              </a:rPr>
              <a:t>お悩み（5部位）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2905" y="3310128"/>
            <a:ext cx="262013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B0934E"/>
                </a:solidFill>
                <a:latin typeface="游ゴシック"/>
                <a:ea typeface="游ゴシック"/>
              </a:rPr>
              <a:t>気になる部位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2905" y="3639312"/>
            <a:ext cx="262013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7A7060"/>
                </a:solidFill>
                <a:latin typeface="游ゴシック"/>
                <a:ea typeface="游ゴシック"/>
              </a:rPr>
              <a:t>鼻先 ／ 鼻筋・鼻背 ／ 小鼻・鼻の穴 ／ 全体・横顔 ／ 専門・修正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663440"/>
            <a:ext cx="642899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8C7339"/>
                </a:solidFill>
                <a:latin typeface="游明朝"/>
                <a:ea typeface="游明朝"/>
              </a:rPr>
              <a:t>各症例ページに載っていること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074920"/>
            <a:ext cx="303161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A3326"/>
                </a:solidFill>
                <a:latin typeface="游ゴシック"/>
                <a:ea typeface="游ゴシック"/>
              </a:rPr>
              <a:t>① お悩み・印象タグ　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7A7060"/>
                </a:solidFill>
                <a:latin typeface="游ゴシック"/>
                <a:ea typeface="游ゴシック"/>
              </a:rPr>
              <a:t>部位＋なりたい印象（複数可）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81425" y="5074920"/>
            <a:ext cx="303161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A3326"/>
                </a:solidFill>
                <a:latin typeface="游ゴシック"/>
                <a:ea typeface="游ゴシック"/>
              </a:rPr>
              <a:t>② Before / After　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7A7060"/>
                </a:solidFill>
                <a:latin typeface="游ゴシック"/>
                <a:ea typeface="游ゴシック"/>
              </a:rPr>
              <a:t>主役の角度を大きく＋必要に応じサブ角度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605272"/>
            <a:ext cx="303161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A3326"/>
                </a:solidFill>
                <a:latin typeface="游ゴシック"/>
                <a:ea typeface="游ゴシック"/>
              </a:rPr>
              <a:t>③ 設計のポイント　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7A7060"/>
                </a:solidFill>
                <a:latin typeface="游ゴシック"/>
                <a:ea typeface="游ゴシック"/>
              </a:rPr>
              <a:t>この鼻で“何を狙ったか”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81425" y="5605272"/>
            <a:ext cx="303161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A3326"/>
                </a:solidFill>
                <a:latin typeface="游ゴシック"/>
                <a:ea typeface="游ゴシック"/>
              </a:rPr>
              <a:t>④ 術式・使用材料　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7A7060"/>
                </a:solidFill>
                <a:latin typeface="游ゴシック"/>
                <a:ea typeface="游ゴシック"/>
              </a:rPr>
              <a:t>クローズド法／使用した材料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135624"/>
            <a:ext cx="303161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A3326"/>
                </a:solidFill>
                <a:latin typeface="游ゴシック"/>
                <a:ea typeface="游ゴシック"/>
              </a:rPr>
              <a:t>⑤ ダウンタイム　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7A7060"/>
                </a:solidFill>
                <a:latin typeface="游ゴシック"/>
                <a:ea typeface="游ゴシック"/>
              </a:rPr>
              <a:t>腫れ・内出血が引くまでの目安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81425" y="6135624"/>
            <a:ext cx="303161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A3326"/>
                </a:solidFill>
                <a:latin typeface="游ゴシック"/>
                <a:ea typeface="游ゴシック"/>
              </a:rPr>
              <a:t>⑥ リスク・副作用　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7A7060"/>
                </a:solidFill>
                <a:latin typeface="游ゴシック"/>
                <a:ea typeface="游ゴシック"/>
              </a:rPr>
              <a:t>起こりうる症状（必読）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665976"/>
            <a:ext cx="303161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A3326"/>
                </a:solidFill>
                <a:latin typeface="游ゴシック"/>
                <a:ea typeface="游ゴシック"/>
              </a:rPr>
              <a:t>⑦ 通常料金＋月々　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7A7060"/>
                </a:solidFill>
                <a:latin typeface="游ゴシック"/>
                <a:ea typeface="游ゴシック"/>
              </a:rPr>
              <a:t>税込・通常料金とローン例（モニターは別途案内）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81425" y="6665976"/>
            <a:ext cx="303161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A3326"/>
                </a:solidFill>
                <a:latin typeface="游ゴシック"/>
                <a:ea typeface="游ゴシック"/>
              </a:rPr>
              <a:t>⑧ 本人インタビュー　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7A7060"/>
                </a:solidFill>
                <a:latin typeface="游ゴシック"/>
                <a:ea typeface="游ゴシック"/>
              </a:rPr>
              <a:t>QRから“本人の声”動画へ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7863840"/>
            <a:ext cx="6428994" cy="173736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" y="8046720"/>
            <a:ext cx="57889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ゴシック"/>
                <a:ea typeface="游ゴシック"/>
              </a:rPr>
              <a:t>⚠ 必ずお読みください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" y="8412480"/>
            <a:ext cx="578891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3326"/>
                </a:solidFill>
                <a:latin typeface="游ゴシック"/>
                <a:ea typeface="游ゴシック"/>
              </a:rPr>
              <a:t>・掲載写真はご本人の同意を得て掲載しています。効果には個人差があります。
・鼻整形は自由診療（保険適用外）です。各症例に通常料金（税込）とリスクを記載しています。
・モニター価格・最新料金は院内／カウンセリングでご案内します（本資料には割引額を掲載していません）。
・本資料は手術を保証・推奨するものではなく、判断はカウンセリングで一緒に行います。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10304590"/>
            <a:ext cx="4500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鼻整形 デザインカタログ｜この資料の見方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762" y="1030459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Zetith Beauty Clinic Fukuoka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0688638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642899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ABOUT IMPRESSION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569747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3A3326"/>
                </a:solidFill>
                <a:latin typeface="游明朝"/>
                <a:ea typeface="游明朝"/>
              </a:rPr>
              <a:t>3つの印象とは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842" y="457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934E"/>
                </a:solidFill>
                <a:latin typeface="游明朝"/>
                <a:ea typeface="游明朝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6428994" cy="9525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642899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A3326"/>
                </a:solidFill>
                <a:latin typeface="游ゴシック"/>
                <a:ea typeface="游ゴシック"/>
              </a:rPr>
              <a:t>当院は「どこを変えるか」より「どんな印象になりたいか」から設計します。下の3つが、なりたい雰囲気の方向性です。各症例には、その仕上がりに最も近い印象を1つだけ表示しています。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97480"/>
            <a:ext cx="6428994" cy="196596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697480"/>
            <a:ext cx="91440" cy="1965960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898648"/>
            <a:ext cx="569747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3A3326"/>
                </a:solidFill>
                <a:latin typeface="游明朝"/>
                <a:ea typeface="游明朝"/>
              </a:rPr>
              <a:t>Baby &amp; Cute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355848"/>
            <a:ext cx="569747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8C7339"/>
                </a:solidFill>
                <a:latin typeface="游ゴシック"/>
                <a:ea typeface="游ゴシック"/>
              </a:rPr>
              <a:t>可愛い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685032"/>
            <a:ext cx="569747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7A7060"/>
                </a:solidFill>
                <a:latin typeface="游ゴシック"/>
                <a:ea typeface="游ゴシック"/>
              </a:rPr>
              <a:t>キーワード： 丸み・短さ・アップノーズ・あざと可愛い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995928"/>
            <a:ext cx="569747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8C7339"/>
                </a:solidFill>
                <a:latin typeface="游ゴシック"/>
                <a:ea typeface="游ゴシック"/>
              </a:rPr>
              <a:t>向いている方　</a:t>
            </a:r>
            <a:r>
              <a:rPr sz="1000" b="0">
                <a:solidFill>
                  <a:srgbClr val="3A3326"/>
                </a:solidFill>
                <a:latin typeface="游ゴシック"/>
                <a:ea typeface="游ゴシック"/>
              </a:rPr>
              <a:t>やわらかく親しみやすい印象にしたい方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288536"/>
            <a:ext cx="569747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8C7339"/>
                </a:solidFill>
                <a:latin typeface="游ゴシック"/>
                <a:ea typeface="游ゴシック"/>
              </a:rPr>
              <a:t>設計の方向　　</a:t>
            </a:r>
            <a:r>
              <a:rPr sz="1000" b="0">
                <a:solidFill>
                  <a:srgbClr val="3A3326"/>
                </a:solidFill>
                <a:latin typeface="游ゴシック"/>
                <a:ea typeface="游ゴシック"/>
              </a:rPr>
              <a:t>鼻先に丸みを残し、中顔面を短く、小鼻を上げて“あざと可愛い”バランスに。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864608"/>
            <a:ext cx="6428994" cy="196596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864608"/>
            <a:ext cx="91440" cy="1965960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065776"/>
            <a:ext cx="569747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3A3326"/>
                </a:solidFill>
                <a:latin typeface="游明朝"/>
                <a:ea typeface="游明朝"/>
              </a:rPr>
              <a:t>Elegant &amp; Straight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5522976"/>
            <a:ext cx="569747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8C7339"/>
                </a:solidFill>
                <a:latin typeface="游ゴシック"/>
                <a:ea typeface="游ゴシック"/>
              </a:rPr>
              <a:t>忘れ鼻・大人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852160"/>
            <a:ext cx="569747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7A7060"/>
                </a:solidFill>
                <a:latin typeface="游ゴシック"/>
                <a:ea typeface="游ゴシック"/>
              </a:rPr>
              <a:t>キーワード： まっすぐ・自然な高さ・やりすぎない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6163056"/>
            <a:ext cx="569747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8C7339"/>
                </a:solidFill>
                <a:latin typeface="游ゴシック"/>
                <a:ea typeface="游ゴシック"/>
              </a:rPr>
              <a:t>向いている方　</a:t>
            </a:r>
            <a:r>
              <a:rPr sz="1000" b="0">
                <a:solidFill>
                  <a:srgbClr val="3A3326"/>
                </a:solidFill>
                <a:latin typeface="游ゴシック"/>
                <a:ea typeface="游ゴシック"/>
              </a:rPr>
              <a:t>整形と気づかれず、横顔に品を出したい方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6455664"/>
            <a:ext cx="569747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8C7339"/>
                </a:solidFill>
                <a:latin typeface="游ゴシック"/>
                <a:ea typeface="游ゴシック"/>
              </a:rPr>
              <a:t>設計の方向　　</a:t>
            </a:r>
            <a:r>
              <a:rPr sz="1000" b="0">
                <a:solidFill>
                  <a:srgbClr val="3A3326"/>
                </a:solidFill>
                <a:latin typeface="游ゴシック"/>
                <a:ea typeface="游ゴシック"/>
              </a:rPr>
              <a:t>余計な凹凸だけを整え、自然なストレートラインで“バレない”自然さに。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7031736"/>
            <a:ext cx="6428994" cy="196596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7031736"/>
            <a:ext cx="91440" cy="1965960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7232904"/>
            <a:ext cx="569747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3A3326"/>
                </a:solidFill>
                <a:latin typeface="游明朝"/>
                <a:ea typeface="游明朝"/>
              </a:rPr>
              <a:t>Dramatic &amp; Glamorous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7690104"/>
            <a:ext cx="569747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8C7339"/>
                </a:solidFill>
                <a:latin typeface="游ゴシック"/>
                <a:ea typeface="游ゴシック"/>
              </a:rPr>
              <a:t>華やか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8019288"/>
            <a:ext cx="569747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7A7060"/>
                </a:solidFill>
                <a:latin typeface="游ゴシック"/>
                <a:ea typeface="游ゴシック"/>
              </a:rPr>
              <a:t>キーワード： 高さ・シャープ・Eライン・主役級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8330184"/>
            <a:ext cx="569747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8C7339"/>
                </a:solidFill>
                <a:latin typeface="游ゴシック"/>
                <a:ea typeface="游ゴシック"/>
              </a:rPr>
              <a:t>向いている方　</a:t>
            </a:r>
            <a:r>
              <a:rPr sz="1000" b="0">
                <a:solidFill>
                  <a:srgbClr val="3A3326"/>
                </a:solidFill>
                <a:latin typeface="游ゴシック"/>
                <a:ea typeface="游ゴシック"/>
              </a:rPr>
              <a:t>しっかり変化させて華やかにしたい方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8622792"/>
            <a:ext cx="569747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8C7339"/>
                </a:solidFill>
                <a:latin typeface="游ゴシック"/>
                <a:ea typeface="游ゴシック"/>
              </a:rPr>
              <a:t>設計の方向　　</a:t>
            </a:r>
            <a:r>
              <a:rPr sz="1000" b="0">
                <a:solidFill>
                  <a:srgbClr val="3A3326"/>
                </a:solidFill>
                <a:latin typeface="游ゴシック"/>
                <a:ea typeface="游ゴシック"/>
              </a:rPr>
              <a:t>鼻筋に高さ、鼻先をシャープに、Eラインまで設計して主役級の横顔に。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8823960"/>
            <a:ext cx="6428994" cy="77724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" y="8951976"/>
            <a:ext cx="578891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8C7339"/>
                </a:solidFill>
                <a:latin typeface="游ゴシック"/>
                <a:ea typeface="游ゴシック"/>
              </a:rPr>
              <a:t>ポイント　</a:t>
            </a:r>
            <a:r>
              <a:rPr sz="1050" b="0">
                <a:solidFill>
                  <a:srgbClr val="3A3326"/>
                </a:solidFill>
                <a:latin typeface="游ゴシック"/>
                <a:ea typeface="游ゴシック"/>
              </a:rPr>
              <a:t>同じお悩みでも、可愛い〜華やかまで“方向”を選べます。各症例の印象は、その方の仕上がりの一例です。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10304590"/>
            <a:ext cx="4500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鼻整形 デザインカタログ｜3つの印象とは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762" y="1030459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Zetith Beauty Clinic Fukuoka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0688638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642899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569747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3A3326"/>
                </a:solidFill>
                <a:latin typeface="游明朝"/>
                <a:ea typeface="游明朝"/>
              </a:rPr>
              <a:t>印象 × お悩み 目次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842" y="457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934E"/>
                </a:solidFill>
                <a:latin typeface="游明朝"/>
                <a:ea typeface="游明朝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6428994" cy="9525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00200"/>
            <a:ext cx="64289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A3326"/>
                </a:solidFill>
                <a:latin typeface="游ゴシック"/>
                <a:ea typeface="游ゴシック"/>
              </a:rPr>
              <a:t>縦＝お悩み（部位順）、横＝なりたい印象。各症例の印象は1つで、その列にページ番号が入ります。お悩みからでも印象からでも引けます。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2194560"/>
          <a:ext cx="6428993" cy="731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946"/>
                <a:gridCol w="964349"/>
                <a:gridCol w="964349"/>
                <a:gridCol w="964349"/>
              </a:tblGrid>
              <a:tr h="430305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游明朝"/>
                          <a:ea typeface="游明朝"/>
                        </a:rPr>
                        <a:t>お悩み（部位）</a:t>
                      </a:r>
                    </a:p>
                  </a:txBody>
                  <a:tcPr anchor="ctr" marL="60000" marR="40000" marT="8000" marB="8000">
                    <a:solidFill>
                      <a:srgbClr val="B093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游明朝"/>
                          <a:ea typeface="游明朝"/>
                        </a:rPr>
                        <a:t>可愛い</a:t>
                      </a:r>
                    </a:p>
                  </a:txBody>
                  <a:tcPr anchor="ctr" marL="60000" marR="40000" marT="8000" marB="8000">
                    <a:solidFill>
                      <a:srgbClr val="B093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游明朝"/>
                          <a:ea typeface="游明朝"/>
                        </a:rPr>
                        <a:t>忘れ鼻</a:t>
                      </a:r>
                    </a:p>
                  </a:txBody>
                  <a:tcPr anchor="ctr" marL="60000" marR="40000" marT="8000" marB="8000">
                    <a:solidFill>
                      <a:srgbClr val="B093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游明朝"/>
                          <a:ea typeface="游明朝"/>
                        </a:rPr>
                        <a:t>華やか</a:t>
                      </a:r>
                    </a:p>
                  </a:txBody>
                  <a:tcPr anchor="ctr" marL="60000" marR="40000" marT="8000" marB="8000">
                    <a:solidFill>
                      <a:srgbClr val="B0934E"/>
                    </a:solidFill>
                  </a:tcPr>
                </a:tc>
              </a:tr>
              <a:tr h="4303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［鼻先］団子鼻の解消</a:t>
                      </a:r>
                    </a:p>
                  </a:txBody>
                  <a:tcPr anchor="ctr" marL="60000" marR="40000" marT="8000" marB="8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8C7339"/>
                          </a:solidFill>
                          <a:latin typeface="游明朝"/>
                          <a:ea typeface="游明朝"/>
                        </a:rPr>
                        <a:t>P5</a:t>
                      </a:r>
                    </a:p>
                  </a:txBody>
                  <a:tcPr anchor="ctr" marL="60000" marR="40000" marT="8000" marB="8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2BAAA"/>
                          </a:solidFill>
                          <a:latin typeface="游明朝"/>
                          <a:ea typeface="游明朝"/>
                        </a:rPr>
                        <a:t>—</a:t>
                      </a:r>
                    </a:p>
                  </a:txBody>
                  <a:tcPr anchor="ctr" marL="60000" marR="40000" marT="8000" marB="8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2BAAA"/>
                          </a:solidFill>
                          <a:latin typeface="游明朝"/>
                          <a:ea typeface="游明朝"/>
                        </a:rPr>
                        <a:t>—</a:t>
                      </a:r>
                    </a:p>
                  </a:txBody>
                  <a:tcPr anchor="ctr" marL="60000" marR="40000" marT="8000" marB="8000">
                    <a:solidFill>
                      <a:srgbClr val="FDFBF6"/>
                    </a:solidFill>
                  </a:tcPr>
                </a:tc>
              </a:tr>
              <a:tr h="4303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［鼻先］鼻先が低い・小さい（鼻先を出す）</a:t>
                      </a:r>
                    </a:p>
                  </a:txBody>
                  <a:tcPr anchor="ctr" marL="60000" marR="40000" marT="8000" marB="8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2BAAA"/>
                          </a:solidFill>
                          <a:latin typeface="游明朝"/>
                          <a:ea typeface="游明朝"/>
                        </a:rPr>
                        <a:t>—</a:t>
                      </a:r>
                    </a:p>
                  </a:txBody>
                  <a:tcPr anchor="ctr" marL="60000" marR="40000" marT="8000" marB="8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2BAAA"/>
                          </a:solidFill>
                          <a:latin typeface="游明朝"/>
                          <a:ea typeface="游明朝"/>
                        </a:rPr>
                        <a:t>—</a:t>
                      </a:r>
                    </a:p>
                  </a:txBody>
                  <a:tcPr anchor="ctr" marL="60000" marR="40000" marT="8000" marB="8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8C7339"/>
                          </a:solidFill>
                          <a:latin typeface="游明朝"/>
                          <a:ea typeface="游明朝"/>
                        </a:rPr>
                        <a:t>P6</a:t>
                      </a:r>
                    </a:p>
                  </a:txBody>
                  <a:tcPr anchor="ctr" marL="60000" marR="40000" marT="8000" marB="8000">
                    <a:solidFill>
                      <a:srgbClr val="F3ECDD"/>
                    </a:solidFill>
                  </a:tcPr>
                </a:tc>
              </a:tr>
              <a:tr h="4303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［鼻先］魔女鼻・垂れ鼻（下向きを整える）</a:t>
                      </a:r>
                    </a:p>
                  </a:txBody>
                  <a:tcPr anchor="ctr" marL="60000" marR="40000" marT="8000" marB="8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8C7339"/>
                          </a:solidFill>
                          <a:latin typeface="游明朝"/>
                          <a:ea typeface="游明朝"/>
                        </a:rPr>
                        <a:t>P7</a:t>
                      </a:r>
                    </a:p>
                  </a:txBody>
                  <a:tcPr anchor="ctr" marL="60000" marR="40000" marT="8000" marB="8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2BAAA"/>
                          </a:solidFill>
                          <a:latin typeface="游明朝"/>
                          <a:ea typeface="游明朝"/>
                        </a:rPr>
                        <a:t>—</a:t>
                      </a:r>
                    </a:p>
                  </a:txBody>
                  <a:tcPr anchor="ctr" marL="60000" marR="40000" marT="8000" marB="8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2BAAA"/>
                          </a:solidFill>
                          <a:latin typeface="游明朝"/>
                          <a:ea typeface="游明朝"/>
                        </a:rPr>
                        <a:t>—</a:t>
                      </a:r>
                    </a:p>
                  </a:txBody>
                  <a:tcPr anchor="ctr" marL="60000" marR="40000" marT="8000" marB="8000">
                    <a:solidFill>
                      <a:srgbClr val="FDFBF6"/>
                    </a:solidFill>
                  </a:tcPr>
                </a:tc>
              </a:tr>
              <a:tr h="4303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［鼻先］鼻先の溝・凹凸の解消</a:t>
                      </a:r>
                    </a:p>
                  </a:txBody>
                  <a:tcPr anchor="ctr" marL="60000" marR="40000" marT="8000" marB="8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2BAAA"/>
                          </a:solidFill>
                          <a:latin typeface="游明朝"/>
                          <a:ea typeface="游明朝"/>
                        </a:rPr>
                        <a:t>—</a:t>
                      </a:r>
                    </a:p>
                  </a:txBody>
                  <a:tcPr anchor="ctr" marL="60000" marR="40000" marT="8000" marB="8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8C7339"/>
                          </a:solidFill>
                          <a:latin typeface="游明朝"/>
                          <a:ea typeface="游明朝"/>
                        </a:rPr>
                        <a:t>P8</a:t>
                      </a:r>
                    </a:p>
                  </a:txBody>
                  <a:tcPr anchor="ctr" marL="60000" marR="40000" marT="8000" marB="8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2BAAA"/>
                          </a:solidFill>
                          <a:latin typeface="游明朝"/>
                          <a:ea typeface="游明朝"/>
                        </a:rPr>
                        <a:t>—</a:t>
                      </a:r>
                    </a:p>
                  </a:txBody>
                  <a:tcPr anchor="ctr" marL="60000" marR="40000" marT="8000" marB="8000">
                    <a:solidFill>
                      <a:srgbClr val="F3ECDD"/>
                    </a:solidFill>
                  </a:tcPr>
                </a:tc>
              </a:tr>
              <a:tr h="4303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［鼻筋・鼻背］鼻筋が低い（隆鼻）</a:t>
                      </a:r>
                    </a:p>
                  </a:txBody>
                  <a:tcPr anchor="ctr" marL="60000" marR="40000" marT="8000" marB="8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2BAAA"/>
                          </a:solidFill>
                          <a:latin typeface="游明朝"/>
                          <a:ea typeface="游明朝"/>
                        </a:rPr>
                        <a:t>—</a:t>
                      </a:r>
                    </a:p>
                  </a:txBody>
                  <a:tcPr anchor="ctr" marL="60000" marR="40000" marT="8000" marB="8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2BAAA"/>
                          </a:solidFill>
                          <a:latin typeface="游明朝"/>
                          <a:ea typeface="游明朝"/>
                        </a:rPr>
                        <a:t>—</a:t>
                      </a:r>
                    </a:p>
                  </a:txBody>
                  <a:tcPr anchor="ctr" marL="60000" marR="40000" marT="8000" marB="8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8C7339"/>
                          </a:solidFill>
                          <a:latin typeface="游明朝"/>
                          <a:ea typeface="游明朝"/>
                        </a:rPr>
                        <a:t>P10</a:t>
                      </a:r>
                    </a:p>
                  </a:txBody>
                  <a:tcPr anchor="ctr" marL="60000" marR="40000" marT="8000" marB="8000">
                    <a:solidFill>
                      <a:srgbClr val="FDFBF6"/>
                    </a:solidFill>
                  </a:tcPr>
                </a:tc>
              </a:tr>
              <a:tr h="4303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［鼻筋・鼻背］鷲鼻・ハンプの解消</a:t>
                      </a:r>
                    </a:p>
                  </a:txBody>
                  <a:tcPr anchor="ctr" marL="60000" marR="40000" marT="8000" marB="8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2BAAA"/>
                          </a:solidFill>
                          <a:latin typeface="游明朝"/>
                          <a:ea typeface="游明朝"/>
                        </a:rPr>
                        <a:t>—</a:t>
                      </a:r>
                    </a:p>
                  </a:txBody>
                  <a:tcPr anchor="ctr" marL="60000" marR="40000" marT="8000" marB="8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8C7339"/>
                          </a:solidFill>
                          <a:latin typeface="游明朝"/>
                          <a:ea typeface="游明朝"/>
                        </a:rPr>
                        <a:t>P11</a:t>
                      </a:r>
                    </a:p>
                  </a:txBody>
                  <a:tcPr anchor="ctr" marL="60000" marR="40000" marT="8000" marB="8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2BAAA"/>
                          </a:solidFill>
                          <a:latin typeface="游明朝"/>
                          <a:ea typeface="游明朝"/>
                        </a:rPr>
                        <a:t>—</a:t>
                      </a:r>
                    </a:p>
                  </a:txBody>
                  <a:tcPr anchor="ctr" marL="60000" marR="40000" marT="8000" marB="8000">
                    <a:solidFill>
                      <a:srgbClr val="F3ECDD"/>
                    </a:solidFill>
                  </a:tcPr>
                </a:tc>
              </a:tr>
              <a:tr h="4303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［鼻筋・鼻背］斜鼻・鼻筋の曲がり</a:t>
                      </a:r>
                    </a:p>
                  </a:txBody>
                  <a:tcPr anchor="ctr" marL="60000" marR="40000" marT="8000" marB="8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2BAAA"/>
                          </a:solidFill>
                          <a:latin typeface="游明朝"/>
                          <a:ea typeface="游明朝"/>
                        </a:rPr>
                        <a:t>—</a:t>
                      </a:r>
                    </a:p>
                  </a:txBody>
                  <a:tcPr anchor="ctr" marL="60000" marR="40000" marT="8000" marB="8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8C7339"/>
                          </a:solidFill>
                          <a:latin typeface="游明朝"/>
                          <a:ea typeface="游明朝"/>
                        </a:rPr>
                        <a:t>P12</a:t>
                      </a:r>
                    </a:p>
                  </a:txBody>
                  <a:tcPr anchor="ctr" marL="60000" marR="40000" marT="8000" marB="8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2BAAA"/>
                          </a:solidFill>
                          <a:latin typeface="游明朝"/>
                          <a:ea typeface="游明朝"/>
                        </a:rPr>
                        <a:t>—</a:t>
                      </a:r>
                    </a:p>
                  </a:txBody>
                  <a:tcPr anchor="ctr" marL="60000" marR="40000" marT="8000" marB="8000">
                    <a:solidFill>
                      <a:srgbClr val="FDFBF6"/>
                    </a:solidFill>
                  </a:tcPr>
                </a:tc>
              </a:tr>
              <a:tr h="4303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［鼻筋・鼻背］鼻筋・鼻骨の幅が広い（骨切り幅寄せ）</a:t>
                      </a:r>
                    </a:p>
                  </a:txBody>
                  <a:tcPr anchor="ctr" marL="60000" marR="40000" marT="8000" marB="8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2BAAA"/>
                          </a:solidFill>
                          <a:latin typeface="游明朝"/>
                          <a:ea typeface="游明朝"/>
                        </a:rPr>
                        <a:t>—</a:t>
                      </a:r>
                    </a:p>
                  </a:txBody>
                  <a:tcPr anchor="ctr" marL="60000" marR="40000" marT="8000" marB="8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2BAAA"/>
                          </a:solidFill>
                          <a:latin typeface="游明朝"/>
                          <a:ea typeface="游明朝"/>
                        </a:rPr>
                        <a:t>—</a:t>
                      </a:r>
                    </a:p>
                  </a:txBody>
                  <a:tcPr anchor="ctr" marL="60000" marR="40000" marT="8000" marB="8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8C7339"/>
                          </a:solidFill>
                          <a:latin typeface="游明朝"/>
                          <a:ea typeface="游明朝"/>
                        </a:rPr>
                        <a:t>P13</a:t>
                      </a:r>
                    </a:p>
                  </a:txBody>
                  <a:tcPr anchor="ctr" marL="60000" marR="40000" marT="8000" marB="8000">
                    <a:solidFill>
                      <a:srgbClr val="F3ECDD"/>
                    </a:solidFill>
                  </a:tcPr>
                </a:tc>
              </a:tr>
              <a:tr h="4303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［小鼻・鼻の穴］小鼻が大きい・広い（小鼻縮小）</a:t>
                      </a:r>
                    </a:p>
                  </a:txBody>
                  <a:tcPr anchor="ctr" marL="60000" marR="40000" marT="8000" marB="8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8C7339"/>
                          </a:solidFill>
                          <a:latin typeface="游明朝"/>
                          <a:ea typeface="游明朝"/>
                        </a:rPr>
                        <a:t>P15</a:t>
                      </a:r>
                    </a:p>
                  </a:txBody>
                  <a:tcPr anchor="ctr" marL="60000" marR="40000" marT="8000" marB="8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2BAAA"/>
                          </a:solidFill>
                          <a:latin typeface="游明朝"/>
                          <a:ea typeface="游明朝"/>
                        </a:rPr>
                        <a:t>—</a:t>
                      </a:r>
                    </a:p>
                  </a:txBody>
                  <a:tcPr anchor="ctr" marL="60000" marR="40000" marT="8000" marB="8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2BAAA"/>
                          </a:solidFill>
                          <a:latin typeface="游明朝"/>
                          <a:ea typeface="游明朝"/>
                        </a:rPr>
                        <a:t>—</a:t>
                      </a:r>
                    </a:p>
                  </a:txBody>
                  <a:tcPr anchor="ctr" marL="60000" marR="40000" marT="8000" marB="8000">
                    <a:solidFill>
                      <a:srgbClr val="FDFBF6"/>
                    </a:solidFill>
                  </a:tcPr>
                </a:tc>
              </a:tr>
              <a:tr h="4303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［小鼻・鼻の穴］鼻翼が下がっている（ACR）</a:t>
                      </a:r>
                    </a:p>
                  </a:txBody>
                  <a:tcPr anchor="ctr" marL="60000" marR="40000" marT="8000" marB="8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8C7339"/>
                          </a:solidFill>
                          <a:latin typeface="游明朝"/>
                          <a:ea typeface="游明朝"/>
                        </a:rPr>
                        <a:t>P16</a:t>
                      </a:r>
                    </a:p>
                  </a:txBody>
                  <a:tcPr anchor="ctr" marL="60000" marR="40000" marT="8000" marB="8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2BAAA"/>
                          </a:solidFill>
                          <a:latin typeface="游明朝"/>
                          <a:ea typeface="游明朝"/>
                        </a:rPr>
                        <a:t>—</a:t>
                      </a:r>
                    </a:p>
                  </a:txBody>
                  <a:tcPr anchor="ctr" marL="60000" marR="40000" marT="8000" marB="8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2BAAA"/>
                          </a:solidFill>
                          <a:latin typeface="游明朝"/>
                          <a:ea typeface="游明朝"/>
                        </a:rPr>
                        <a:t>—</a:t>
                      </a:r>
                    </a:p>
                  </a:txBody>
                  <a:tcPr anchor="ctr" marL="60000" marR="40000" marT="8000" marB="8000">
                    <a:solidFill>
                      <a:srgbClr val="F3ECDD"/>
                    </a:solidFill>
                  </a:tcPr>
                </a:tc>
              </a:tr>
              <a:tr h="4303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［小鼻・鼻の穴］鼻の穴が目立つ・左右差</a:t>
                      </a:r>
                    </a:p>
                  </a:txBody>
                  <a:tcPr anchor="ctr" marL="60000" marR="40000" marT="8000" marB="8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2BAAA"/>
                          </a:solidFill>
                          <a:latin typeface="游明朝"/>
                          <a:ea typeface="游明朝"/>
                        </a:rPr>
                        <a:t>—</a:t>
                      </a:r>
                    </a:p>
                  </a:txBody>
                  <a:tcPr anchor="ctr" marL="60000" marR="40000" marT="8000" marB="8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8C7339"/>
                          </a:solidFill>
                          <a:latin typeface="游明朝"/>
                          <a:ea typeface="游明朝"/>
                        </a:rPr>
                        <a:t>P17</a:t>
                      </a:r>
                    </a:p>
                  </a:txBody>
                  <a:tcPr anchor="ctr" marL="60000" marR="40000" marT="8000" marB="8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2BAAA"/>
                          </a:solidFill>
                          <a:latin typeface="游明朝"/>
                          <a:ea typeface="游明朝"/>
                        </a:rPr>
                        <a:t>—</a:t>
                      </a:r>
                    </a:p>
                  </a:txBody>
                  <a:tcPr anchor="ctr" marL="60000" marR="40000" marT="8000" marB="8000">
                    <a:solidFill>
                      <a:srgbClr val="FDFBF6"/>
                    </a:solidFill>
                  </a:tcPr>
                </a:tc>
              </a:tr>
              <a:tr h="4303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［全体・横顔］中顔面が長い（中顔面短縮）</a:t>
                      </a:r>
                    </a:p>
                  </a:txBody>
                  <a:tcPr anchor="ctr" marL="60000" marR="40000" marT="8000" marB="8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8C7339"/>
                          </a:solidFill>
                          <a:latin typeface="游明朝"/>
                          <a:ea typeface="游明朝"/>
                        </a:rPr>
                        <a:t>P19</a:t>
                      </a:r>
                    </a:p>
                  </a:txBody>
                  <a:tcPr anchor="ctr" marL="60000" marR="40000" marT="8000" marB="8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2BAAA"/>
                          </a:solidFill>
                          <a:latin typeface="游明朝"/>
                          <a:ea typeface="游明朝"/>
                        </a:rPr>
                        <a:t>—</a:t>
                      </a:r>
                    </a:p>
                  </a:txBody>
                  <a:tcPr anchor="ctr" marL="60000" marR="40000" marT="8000" marB="8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2BAAA"/>
                          </a:solidFill>
                          <a:latin typeface="游明朝"/>
                          <a:ea typeface="游明朝"/>
                        </a:rPr>
                        <a:t>—</a:t>
                      </a:r>
                    </a:p>
                  </a:txBody>
                  <a:tcPr anchor="ctr" marL="60000" marR="40000" marT="8000" marB="8000">
                    <a:solidFill>
                      <a:srgbClr val="F3ECDD"/>
                    </a:solidFill>
                  </a:tcPr>
                </a:tc>
              </a:tr>
              <a:tr h="4303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［全体・横顔］短鼻・豚鼻（鼻を下ろす）</a:t>
                      </a:r>
                    </a:p>
                  </a:txBody>
                  <a:tcPr anchor="ctr" marL="60000" marR="40000" marT="8000" marB="8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2BAAA"/>
                          </a:solidFill>
                          <a:latin typeface="游明朝"/>
                          <a:ea typeface="游明朝"/>
                        </a:rPr>
                        <a:t>—</a:t>
                      </a:r>
                    </a:p>
                  </a:txBody>
                  <a:tcPr anchor="ctr" marL="60000" marR="40000" marT="8000" marB="8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2BAAA"/>
                          </a:solidFill>
                          <a:latin typeface="游明朝"/>
                          <a:ea typeface="游明朝"/>
                        </a:rPr>
                        <a:t>—</a:t>
                      </a:r>
                    </a:p>
                  </a:txBody>
                  <a:tcPr anchor="ctr" marL="60000" marR="40000" marT="8000" marB="8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8C7339"/>
                          </a:solidFill>
                          <a:latin typeface="游明朝"/>
                          <a:ea typeface="游明朝"/>
                        </a:rPr>
                        <a:t>P20</a:t>
                      </a:r>
                    </a:p>
                  </a:txBody>
                  <a:tcPr anchor="ctr" marL="60000" marR="40000" marT="8000" marB="8000">
                    <a:solidFill>
                      <a:srgbClr val="FDFBF6"/>
                    </a:solidFill>
                  </a:tcPr>
                </a:tc>
              </a:tr>
              <a:tr h="4303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［全体・横顔］鼻の付け根が低い・Eライン（貴族手術）</a:t>
                      </a:r>
                    </a:p>
                  </a:txBody>
                  <a:tcPr anchor="ctr" marL="60000" marR="40000" marT="8000" marB="8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2BAAA"/>
                          </a:solidFill>
                          <a:latin typeface="游明朝"/>
                          <a:ea typeface="游明朝"/>
                        </a:rPr>
                        <a:t>—</a:t>
                      </a:r>
                    </a:p>
                  </a:txBody>
                  <a:tcPr anchor="ctr" marL="60000" marR="40000" marT="8000" marB="8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2BAAA"/>
                          </a:solidFill>
                          <a:latin typeface="游明朝"/>
                          <a:ea typeface="游明朝"/>
                        </a:rPr>
                        <a:t>—</a:t>
                      </a:r>
                    </a:p>
                  </a:txBody>
                  <a:tcPr anchor="ctr" marL="60000" marR="40000" marT="8000" marB="8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8C7339"/>
                          </a:solidFill>
                          <a:latin typeface="游明朝"/>
                          <a:ea typeface="游明朝"/>
                        </a:rPr>
                        <a:t>P21</a:t>
                      </a:r>
                    </a:p>
                  </a:txBody>
                  <a:tcPr anchor="ctr" marL="60000" marR="40000" marT="8000" marB="8000">
                    <a:solidFill>
                      <a:srgbClr val="F3ECDD"/>
                    </a:solidFill>
                  </a:tcPr>
                </a:tc>
              </a:tr>
              <a:tr h="4303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［専門・修正］拘縮鼻の修正（肋軟骨）</a:t>
                      </a:r>
                    </a:p>
                  </a:txBody>
                  <a:tcPr anchor="ctr" marL="60000" marR="40000" marT="8000" marB="8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2BAAA"/>
                          </a:solidFill>
                          <a:latin typeface="游明朝"/>
                          <a:ea typeface="游明朝"/>
                        </a:rPr>
                        <a:t>—</a:t>
                      </a:r>
                    </a:p>
                  </a:txBody>
                  <a:tcPr anchor="ctr" marL="60000" marR="40000" marT="8000" marB="8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8C7339"/>
                          </a:solidFill>
                          <a:latin typeface="游明朝"/>
                          <a:ea typeface="游明朝"/>
                        </a:rPr>
                        <a:t>P23</a:t>
                      </a:r>
                    </a:p>
                  </a:txBody>
                  <a:tcPr anchor="ctr" marL="60000" marR="40000" marT="8000" marB="8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2BAAA"/>
                          </a:solidFill>
                          <a:latin typeface="游明朝"/>
                          <a:ea typeface="游明朝"/>
                        </a:rPr>
                        <a:t>—</a:t>
                      </a:r>
                    </a:p>
                  </a:txBody>
                  <a:tcPr anchor="ctr" marL="60000" marR="40000" marT="8000" marB="8000">
                    <a:solidFill>
                      <a:srgbClr val="FDFBF6"/>
                    </a:solidFill>
                  </a:tcPr>
                </a:tc>
              </a:tr>
              <a:tr h="430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［専門・修正］他院修正・外傷後の変形</a:t>
                      </a:r>
                    </a:p>
                  </a:txBody>
                  <a:tcPr anchor="ctr" marL="60000" marR="40000" marT="8000" marB="8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2BAAA"/>
                          </a:solidFill>
                          <a:latin typeface="游明朝"/>
                          <a:ea typeface="游明朝"/>
                        </a:rPr>
                        <a:t>—</a:t>
                      </a:r>
                    </a:p>
                  </a:txBody>
                  <a:tcPr anchor="ctr" marL="60000" marR="40000" marT="8000" marB="8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8C7339"/>
                          </a:solidFill>
                          <a:latin typeface="游明朝"/>
                          <a:ea typeface="游明朝"/>
                        </a:rPr>
                        <a:t>P24</a:t>
                      </a:r>
                    </a:p>
                  </a:txBody>
                  <a:tcPr anchor="ctr" marL="60000" marR="40000" marT="8000" marB="8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2BAAA"/>
                          </a:solidFill>
                          <a:latin typeface="游明朝"/>
                          <a:ea typeface="游明朝"/>
                        </a:rPr>
                        <a:t>—</a:t>
                      </a:r>
                    </a:p>
                  </a:txBody>
                  <a:tcPr anchor="ctr" marL="60000" marR="40000" marT="8000" marB="8000">
                    <a:solidFill>
                      <a:srgbClr val="F3ECDD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10304590"/>
            <a:ext cx="4500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鼻整形 デザインカタログ｜印象 × お悩み 目次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762" y="1030459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Zetith Beauty Clinic Fukuoka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0688638"/>
          </a:xfrm>
          <a:prstGeom prst="rect">
            <a:avLst/>
          </a:prstGeom>
          <a:solidFill>
            <a:srgbClr val="26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7562850" cy="9525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48558"/>
            <a:ext cx="7562850" cy="9525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5842" y="457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游明朝"/>
                <a:ea typeface="游明朝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97280"/>
            <a:ext cx="642899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0934E"/>
                </a:solidFill>
                <a:latin typeface="游ゴシック"/>
                <a:ea typeface="游ゴシック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468880"/>
            <a:ext cx="642899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游明朝"/>
                <a:ea typeface="游明朝"/>
              </a:rPr>
              <a:t>THE NOSE TIP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429000"/>
            <a:ext cx="64289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B0934E"/>
                </a:solidFill>
                <a:latin typeface="游明朝"/>
                <a:ea typeface="游明朝"/>
              </a:rPr>
              <a:t>― お悩み：鼻先 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114800"/>
            <a:ext cx="642899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7DFCE"/>
                </a:solidFill>
                <a:latin typeface="游ゴシック"/>
                <a:ea typeface="游ゴシック"/>
              </a:rPr>
              <a:t>団子鼻・低い・向き・凹凸——鼻先の印象を決めるお悩み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15568" y="5074920"/>
            <a:ext cx="5331714" cy="694944"/>
          </a:xfrm>
          <a:prstGeom prst="roundRect">
            <a:avLst/>
          </a:prstGeom>
          <a:solidFill>
            <a:srgbClr val="332E25"/>
          </a:solidFill>
          <a:ln w="9525">
            <a:solidFill>
              <a:srgbClr val="B09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44168" y="5074920"/>
            <a:ext cx="30175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B0934E"/>
                </a:solidFill>
                <a:latin typeface="游明朝"/>
                <a:ea typeface="游明朝"/>
              </a:rPr>
              <a:t>団子鼻の解消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5074920"/>
            <a:ext cx="1856994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7DFCE"/>
                </a:solidFill>
                <a:latin typeface="游ゴシック"/>
                <a:ea typeface="游ゴシック"/>
              </a:rPr>
              <a:t>丸い鼻先を引き締め、可愛い〜華やかへ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5568" y="5916168"/>
            <a:ext cx="5331714" cy="694944"/>
          </a:xfrm>
          <a:prstGeom prst="roundRect">
            <a:avLst/>
          </a:prstGeom>
          <a:solidFill>
            <a:srgbClr val="332E25"/>
          </a:solidFill>
          <a:ln w="9525">
            <a:solidFill>
              <a:srgbClr val="B09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4168" y="5916168"/>
            <a:ext cx="30175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B0934E"/>
                </a:solidFill>
                <a:latin typeface="游明朝"/>
                <a:ea typeface="游明朝"/>
              </a:rPr>
              <a:t>鼻先が低い・小さい（鼻先を出す）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5916168"/>
            <a:ext cx="1856994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7DFCE"/>
                </a:solidFill>
                <a:latin typeface="游ゴシック"/>
                <a:ea typeface="游ゴシック"/>
              </a:rPr>
              <a:t>低い鼻先に高さと方向を出す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15568" y="6757416"/>
            <a:ext cx="5331714" cy="694944"/>
          </a:xfrm>
          <a:prstGeom prst="roundRect">
            <a:avLst/>
          </a:prstGeom>
          <a:solidFill>
            <a:srgbClr val="332E25"/>
          </a:solidFill>
          <a:ln w="9525">
            <a:solidFill>
              <a:srgbClr val="B09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44168" y="6757416"/>
            <a:ext cx="30175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B0934E"/>
                </a:solidFill>
                <a:latin typeface="游明朝"/>
                <a:ea typeface="游明朝"/>
              </a:rPr>
              <a:t>魔女鼻・垂れ鼻（下向きを整える）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6757416"/>
            <a:ext cx="1856994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7DFCE"/>
                </a:solidFill>
                <a:latin typeface="游ゴシック"/>
                <a:ea typeface="游ゴシック"/>
              </a:rPr>
              <a:t>下を向いた鼻先を自然に引き上げる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15568" y="7598664"/>
            <a:ext cx="5331714" cy="694944"/>
          </a:xfrm>
          <a:prstGeom prst="roundRect">
            <a:avLst/>
          </a:prstGeom>
          <a:solidFill>
            <a:srgbClr val="332E25"/>
          </a:solidFill>
          <a:ln w="9525">
            <a:solidFill>
              <a:srgbClr val="B09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44168" y="7598664"/>
            <a:ext cx="30175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B0934E"/>
                </a:solidFill>
                <a:latin typeface="游明朝"/>
                <a:ea typeface="游明朝"/>
              </a:rPr>
              <a:t>鼻先の溝・凹凸の解消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7598664"/>
            <a:ext cx="1856994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7DFCE"/>
                </a:solidFill>
                <a:latin typeface="游ゴシック"/>
                <a:ea typeface="游ゴシック"/>
              </a:rPr>
              <a:t>鼻先の溝・割れ・凹凸をなめらかに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10304590"/>
            <a:ext cx="4500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C9BEAA"/>
                </a:solidFill>
                <a:latin typeface="游ゴシック"/>
                <a:ea typeface="游ゴシック"/>
              </a:rPr>
              <a:t>鼻整形 デザインカタログ｜THE NOSE TIP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762" y="1030459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C9BEAA"/>
                </a:solidFill>
                <a:latin typeface="游ゴシック"/>
                <a:ea typeface="游ゴシック"/>
              </a:rPr>
              <a:t>Zetith Beauty Clinic Fukuoka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ounded Rectangle 11"/>
          <p:cNvSpPr/>
          <p:nvPr/>
        </p:nvSpPr>
        <p:spPr>
          <a:xfrm>
            <a:off x="566928" y="1691640"/>
            <a:ext cx="6428994" cy="393192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1"/>
          </p:nvPr>
        </p:nvSpPr>
        <p:spPr/>
      </p:sp>
      <p:sp>
        <p:nvSpPr>
          <p:cNvPr id="4" name="TextBox 3"/>
          <p:cNvSpPr txBox="1"/>
          <p:nvPr/>
        </p:nvSpPr>
        <p:spPr>
          <a:xfrm>
            <a:off x="566928" y="457200"/>
            <a:ext cx="642899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CASE 01 ／ THE NOSE TIP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642899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3A3326"/>
                </a:solidFill>
                <a:latin typeface="游明朝"/>
                <a:ea typeface="游明朝"/>
              </a:rPr>
              <a:t>団子鼻の解消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842" y="457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934E"/>
                </a:solidFill>
                <a:latin typeface="游明朝"/>
                <a:ea typeface="游明朝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1417320" cy="237744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74160"/>
            <a:ext cx="1417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8C7339"/>
                </a:solidFill>
                <a:latin typeface="游ゴシック"/>
                <a:ea typeface="游ゴシック"/>
              </a:rPr>
              <a:t>部位：鼻先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93976" y="1280160"/>
            <a:ext cx="868680" cy="237744"/>
          </a:xfrm>
          <a:prstGeom prst="round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93976" y="1274160"/>
            <a:ext cx="8686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游ゴシック"/>
                <a:ea typeface="游ゴシック"/>
              </a:rPr>
              <a:t>可愛い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2722" y="1278160"/>
            <a:ext cx="2743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7A7060"/>
                </a:solidFill>
                <a:latin typeface="游ゴシック"/>
                <a:ea typeface="游ゴシック"/>
              </a:rPr>
              <a:t>クローズド法　｜　20代／横顔：ストレート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1874519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明朝"/>
                <a:ea typeface="游明朝"/>
              </a:rPr>
              <a:t>Before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8585" y="1874519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明朝"/>
                <a:ea typeface="游明朝"/>
              </a:rPr>
              <a:t>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1874519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0934E"/>
                </a:solidFill>
                <a:latin typeface="游明朝"/>
                <a:ea typeface="游明朝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486400"/>
            <a:ext cx="642899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7A7060"/>
                </a:solidFill>
                <a:latin typeface="游ゴシック"/>
                <a:ea typeface="游ゴシック"/>
              </a:rPr>
              <a:t>▲ Before・After それぞれの枠をクリックして写真を挿入（自動で枠いっぱいに配置されます）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897880"/>
            <a:ext cx="6428994" cy="54864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897880"/>
            <a:ext cx="1371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8C7339"/>
                </a:solidFill>
                <a:latin typeface="游ゴシック"/>
                <a:ea typeface="游ゴシック"/>
              </a:rPr>
              <a:t>設計のポイント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67128" y="5897880"/>
            <a:ext cx="460019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A3326"/>
                </a:solidFill>
                <a:latin typeface="游ゴシック"/>
                <a:ea typeface="游ゴシック"/>
              </a:rPr>
              <a:t>鼻翼から鼻先まで引き締め、丸みを残すか・シャープにするかで印象を作る。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66928" y="6583680"/>
          <a:ext cx="6428993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538"/>
                <a:gridCol w="4757455"/>
              </a:tblGrid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術式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鼻尖形成＋鼻尖縮小（クローズド法）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使用材料／麻酔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自家組織（耳介軟骨） ／ 静脈麻酔＋局所麻酔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ダウンタイム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腫れのピーク3〜6日／2週間でマスクで隠せる程度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566928" y="7772400"/>
            <a:ext cx="3077337" cy="137160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7772400"/>
            <a:ext cx="73152" cy="1371600"/>
          </a:xfrm>
          <a:prstGeom prst="rect">
            <a:avLst/>
          </a:prstGeom>
          <a:solidFill>
            <a:srgbClr val="B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7900416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B0553A"/>
                </a:solidFill>
                <a:latin typeface="游ゴシック"/>
                <a:ea typeface="游ゴシック"/>
              </a:rPr>
              <a:t>リスク・副作用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8229600"/>
            <a:ext cx="266585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869" b="0">
                <a:solidFill>
                  <a:srgbClr val="3A3326"/>
                </a:solidFill>
                <a:latin typeface="游ゴシック"/>
                <a:ea typeface="游ゴシック"/>
              </a:rPr>
              <a:t>・腫れ、内出血、痛み（数日〜2週間）
・左右差、知覚の鈍さが一時的に出ることがあります
・仕上がりに個人差があり、修正が必要な場合があります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18585" y="7772400"/>
            <a:ext cx="3077337" cy="137160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74617" y="7900416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8C7339"/>
                </a:solidFill>
                <a:latin typeface="游ゴシック"/>
                <a:ea typeface="游ゴシック"/>
              </a:rPr>
              <a:t>通常料金（税込）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74617" y="8202168"/>
            <a:ext cx="26658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3A3326"/>
                </a:solidFill>
                <a:latin typeface="游明朝"/>
                <a:ea typeface="游明朝"/>
              </a:rPr>
              <a:t>¥440,000〜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74617" y="8659368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医療ローン　</a:t>
            </a:r>
            <a:r>
              <a:rPr sz="1200" b="1">
                <a:solidFill>
                  <a:srgbClr val="8C7339"/>
                </a:solidFill>
                <a:latin typeface="游ゴシック"/>
                <a:ea typeface="游ゴシック"/>
              </a:rPr>
              <a:t>月々 ¥7,800〜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74617" y="8933688"/>
            <a:ext cx="266585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※60回の一例。部分／全額モニター・最新料金は院内・カウンセリングで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9235440"/>
            <a:ext cx="6428994" cy="82296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9354312"/>
            <a:ext cx="588035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B0934E"/>
                </a:solidFill>
                <a:latin typeface="游ゴシック"/>
                <a:ea typeface="游ゴシック"/>
              </a:rPr>
              <a:t>患者さまの声 ／ Dr.コメント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9619488"/>
            <a:ext cx="58803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3326"/>
                </a:solidFill>
                <a:latin typeface="游ゴシック"/>
                <a:ea typeface="游ゴシック"/>
              </a:rPr>
              <a:t>丸い鼻先を整えるだけで顔の印象が大きく変わります。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10304590"/>
            <a:ext cx="4500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鼻整形 デザインカタログ｜Case 01｜団子鼻の解消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762" y="1030459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Zetith Beauty Clinic Fukuoka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ounded Rectangle 11"/>
          <p:cNvSpPr/>
          <p:nvPr/>
        </p:nvSpPr>
        <p:spPr>
          <a:xfrm>
            <a:off x="566928" y="1691640"/>
            <a:ext cx="6428994" cy="393192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1"/>
          </p:nvPr>
        </p:nvSpPr>
        <p:spPr/>
      </p:sp>
      <p:sp>
        <p:nvSpPr>
          <p:cNvPr id="4" name="TextBox 3"/>
          <p:cNvSpPr txBox="1"/>
          <p:nvPr/>
        </p:nvSpPr>
        <p:spPr>
          <a:xfrm>
            <a:off x="566928" y="457200"/>
            <a:ext cx="642899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CASE 02 ／ THE NOSE TIP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642899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3A3326"/>
                </a:solidFill>
                <a:latin typeface="游明朝"/>
                <a:ea typeface="游明朝"/>
              </a:rPr>
              <a:t>鼻先が低い・小さい（鼻先を出す）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842" y="457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934E"/>
                </a:solidFill>
                <a:latin typeface="游明朝"/>
                <a:ea typeface="游明朝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1417320" cy="237744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74160"/>
            <a:ext cx="1417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8C7339"/>
                </a:solidFill>
                <a:latin typeface="游ゴシック"/>
                <a:ea typeface="游ゴシック"/>
              </a:rPr>
              <a:t>部位：鼻先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93976" y="1280160"/>
            <a:ext cx="868680" cy="237744"/>
          </a:xfrm>
          <a:prstGeom prst="round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93976" y="1274160"/>
            <a:ext cx="8686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游ゴシック"/>
                <a:ea typeface="游ゴシック"/>
              </a:rPr>
              <a:t>華やか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2722" y="1278160"/>
            <a:ext cx="2743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7A7060"/>
                </a:solidFill>
                <a:latin typeface="游ゴシック"/>
                <a:ea typeface="游ゴシック"/>
              </a:rPr>
              <a:t>クローズド法　｜　30代／横顔：ストレート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1874519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明朝"/>
                <a:ea typeface="游明朝"/>
              </a:rPr>
              <a:t>Before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8585" y="1874519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明朝"/>
                <a:ea typeface="游明朝"/>
              </a:rPr>
              <a:t>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1874519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0934E"/>
                </a:solidFill>
                <a:latin typeface="游明朝"/>
                <a:ea typeface="游明朝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486400"/>
            <a:ext cx="642899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7A7060"/>
                </a:solidFill>
                <a:latin typeface="游ゴシック"/>
                <a:ea typeface="游ゴシック"/>
              </a:rPr>
              <a:t>▲ Before・After それぞれの枠をクリックして写真を挿入（自動で枠いっぱいに配置されます）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897880"/>
            <a:ext cx="6428994" cy="54864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897880"/>
            <a:ext cx="1371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8C7339"/>
                </a:solidFill>
                <a:latin typeface="游ゴシック"/>
                <a:ea typeface="游ゴシック"/>
              </a:rPr>
              <a:t>設計のポイント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67128" y="5897880"/>
            <a:ext cx="460019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A3326"/>
                </a:solidFill>
                <a:latin typeface="游ゴシック"/>
                <a:ea typeface="游ゴシック"/>
              </a:rPr>
              <a:t>鼻先に高さと方向を作り、のっぺり感を解消して立体的に。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66928" y="6583680"/>
          <a:ext cx="6428993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538"/>
                <a:gridCol w="4757455"/>
              </a:tblGrid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術式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鼻尖形成＋軟骨移植（クローズド法）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使用材料／麻酔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自家組織（耳介・鼻中隔軟骨） ／ 静脈麻酔＋局所麻酔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ダウンタイム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腫れのピーク3〜6日／ギプス固定約7日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566928" y="7772400"/>
            <a:ext cx="3077337" cy="137160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7772400"/>
            <a:ext cx="73152" cy="1371600"/>
          </a:xfrm>
          <a:prstGeom prst="rect">
            <a:avLst/>
          </a:prstGeom>
          <a:solidFill>
            <a:srgbClr val="B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7900416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B0553A"/>
                </a:solidFill>
                <a:latin typeface="游ゴシック"/>
                <a:ea typeface="游ゴシック"/>
              </a:rPr>
              <a:t>リスク・副作用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8229600"/>
            <a:ext cx="266585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869" b="0">
                <a:solidFill>
                  <a:srgbClr val="3A3326"/>
                </a:solidFill>
                <a:latin typeface="游ゴシック"/>
                <a:ea typeface="游ゴシック"/>
              </a:rPr>
              <a:t>・腫れ、内出血、痛み、感染のリスク
・移植軟骨の輪郭が出る・後戻りの可能性
・効果に個人差があります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18585" y="7772400"/>
            <a:ext cx="3077337" cy="137160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74617" y="7900416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8C7339"/>
                </a:solidFill>
                <a:latin typeface="游ゴシック"/>
                <a:ea typeface="游ゴシック"/>
              </a:rPr>
              <a:t>通常料金（税込）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74617" y="8202168"/>
            <a:ext cx="26658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3A3326"/>
                </a:solidFill>
                <a:latin typeface="游明朝"/>
                <a:ea typeface="游明朝"/>
              </a:rPr>
              <a:t>¥495,000〜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74617" y="8659368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医療ローン　</a:t>
            </a:r>
            <a:r>
              <a:rPr sz="1200" b="1">
                <a:solidFill>
                  <a:srgbClr val="8C7339"/>
                </a:solidFill>
                <a:latin typeface="游ゴシック"/>
                <a:ea typeface="游ゴシック"/>
              </a:rPr>
              <a:t>月々 ¥8,800〜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74617" y="8933688"/>
            <a:ext cx="266585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※60回の一例。部分／全額モニター・最新料金は院内・カウンセリングで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9235440"/>
            <a:ext cx="6428994" cy="82296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9354312"/>
            <a:ext cx="588035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B0934E"/>
                </a:solidFill>
                <a:latin typeface="游ゴシック"/>
                <a:ea typeface="游ゴシック"/>
              </a:rPr>
              <a:t>患者さまの声 ／ Dr.コメント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9619488"/>
            <a:ext cx="58803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3326"/>
                </a:solidFill>
                <a:latin typeface="游ゴシック"/>
                <a:ea typeface="游ゴシック"/>
              </a:rPr>
              <a:t>鼻先が出るだけで横顔が引き締まります。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10304590"/>
            <a:ext cx="4500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鼻整形 デザインカタログ｜Case 02｜鼻先が低い・小さい（鼻先を出す）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762" y="1030459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Zetith Beauty Clinic Fukuoka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ounded Rectangle 11"/>
          <p:cNvSpPr/>
          <p:nvPr/>
        </p:nvSpPr>
        <p:spPr>
          <a:xfrm>
            <a:off x="566928" y="1691640"/>
            <a:ext cx="6428994" cy="393192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1"/>
          </p:nvPr>
        </p:nvSpPr>
        <p:spPr/>
      </p:sp>
      <p:sp>
        <p:nvSpPr>
          <p:cNvPr id="4" name="TextBox 3"/>
          <p:cNvSpPr txBox="1"/>
          <p:nvPr/>
        </p:nvSpPr>
        <p:spPr>
          <a:xfrm>
            <a:off x="566928" y="457200"/>
            <a:ext cx="642899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CASE 03 ／ THE NOSE TIP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642899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3A3326"/>
                </a:solidFill>
                <a:latin typeface="游明朝"/>
                <a:ea typeface="游明朝"/>
              </a:rPr>
              <a:t>魔女鼻・垂れ鼻（下向きを整える）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842" y="457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934E"/>
                </a:solidFill>
                <a:latin typeface="游明朝"/>
                <a:ea typeface="游明朝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1417320" cy="237744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74160"/>
            <a:ext cx="1417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8C7339"/>
                </a:solidFill>
                <a:latin typeface="游ゴシック"/>
                <a:ea typeface="游ゴシック"/>
              </a:rPr>
              <a:t>部位：鼻先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93976" y="1280160"/>
            <a:ext cx="868680" cy="237744"/>
          </a:xfrm>
          <a:prstGeom prst="round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93976" y="1274160"/>
            <a:ext cx="8686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游ゴシック"/>
                <a:ea typeface="游ゴシック"/>
              </a:rPr>
              <a:t>可愛い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2722" y="1278160"/>
            <a:ext cx="2743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7A7060"/>
                </a:solidFill>
                <a:latin typeface="游ゴシック"/>
                <a:ea typeface="游ゴシック"/>
              </a:rPr>
              <a:t>クローズド法　｜　30代／横顔：ストレート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1874519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明朝"/>
                <a:ea typeface="游明朝"/>
              </a:rPr>
              <a:t>Before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8585" y="1874519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明朝"/>
                <a:ea typeface="游明朝"/>
              </a:rPr>
              <a:t>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1874519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0934E"/>
                </a:solidFill>
                <a:latin typeface="游明朝"/>
                <a:ea typeface="游明朝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486400"/>
            <a:ext cx="642899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7A7060"/>
                </a:solidFill>
                <a:latin typeface="游ゴシック"/>
                <a:ea typeface="游ゴシック"/>
              </a:rPr>
              <a:t>▲ Before・After それぞれの枠をクリックして写真を挿入（自動で枠いっぱいに配置されます）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897880"/>
            <a:ext cx="6428994" cy="54864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897880"/>
            <a:ext cx="1371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8C7339"/>
                </a:solidFill>
                <a:latin typeface="游ゴシック"/>
                <a:ea typeface="游ゴシック"/>
              </a:rPr>
              <a:t>設計のポイント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67128" y="5897880"/>
            <a:ext cx="460019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A3326"/>
                </a:solidFill>
                <a:latin typeface="游ゴシック"/>
                <a:ea typeface="游ゴシック"/>
              </a:rPr>
              <a:t>下に向いた鼻先を引き上げ、やわらかく自然な向きへ。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66928" y="6583680"/>
          <a:ext cx="6428993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538"/>
                <a:gridCol w="4757455"/>
              </a:tblGrid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術式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鼻尖形成＋鼻中隔調整（クローズド法）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使用材料／麻酔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自家組織（鼻中隔・耳介軟骨） ／ 静脈麻酔＋局所麻酔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ダウンタイム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腫れのピーク3〜6日／ギプス固定約7日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566928" y="7772400"/>
            <a:ext cx="3077337" cy="137160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7772400"/>
            <a:ext cx="73152" cy="1371600"/>
          </a:xfrm>
          <a:prstGeom prst="rect">
            <a:avLst/>
          </a:prstGeom>
          <a:solidFill>
            <a:srgbClr val="B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7900416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B0553A"/>
                </a:solidFill>
                <a:latin typeface="游ゴシック"/>
                <a:ea typeface="游ゴシック"/>
              </a:rPr>
              <a:t>リスク・副作用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8229600"/>
            <a:ext cx="266585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869" b="0">
                <a:solidFill>
                  <a:srgbClr val="3A3326"/>
                </a:solidFill>
                <a:latin typeface="游ゴシック"/>
                <a:ea typeface="游ゴシック"/>
              </a:rPr>
              <a:t>・腫れ、内出血、痛み（数日〜2週間）
・左右差、知覚の鈍さが一時的に出ることがあります
・仕上がりに個人差があり、修正が必要な場合があります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18585" y="7772400"/>
            <a:ext cx="3077337" cy="137160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74617" y="7900416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8C7339"/>
                </a:solidFill>
                <a:latin typeface="游ゴシック"/>
                <a:ea typeface="游ゴシック"/>
              </a:rPr>
              <a:t>通常料金（税込）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74617" y="8202168"/>
            <a:ext cx="26658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3A3326"/>
                </a:solidFill>
                <a:latin typeface="游明朝"/>
                <a:ea typeface="游明朝"/>
              </a:rPr>
              <a:t>¥495,000〜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74617" y="8659368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医療ローン　</a:t>
            </a:r>
            <a:r>
              <a:rPr sz="1200" b="1">
                <a:solidFill>
                  <a:srgbClr val="8C7339"/>
                </a:solidFill>
                <a:latin typeface="游ゴシック"/>
                <a:ea typeface="游ゴシック"/>
              </a:rPr>
              <a:t>月々 ¥8,800〜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74617" y="8933688"/>
            <a:ext cx="266585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※60回の一例。部分／全額モニター・最新料金は院内・カウンセリングで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9235440"/>
            <a:ext cx="6428994" cy="82296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9354312"/>
            <a:ext cx="588035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B0934E"/>
                </a:solidFill>
                <a:latin typeface="游ゴシック"/>
                <a:ea typeface="游ゴシック"/>
              </a:rPr>
              <a:t>患者さまの声 ／ Dr.コメント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9619488"/>
            <a:ext cx="58803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3326"/>
                </a:solidFill>
                <a:latin typeface="游ゴシック"/>
                <a:ea typeface="游ゴシック"/>
              </a:rPr>
              <a:t>下向きの鼻先が上がると若々しい印象に。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10304590"/>
            <a:ext cx="4500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鼻整形 デザインカタログ｜Case 03｜魔女鼻・垂れ鼻（下向きを整える）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762" y="1030459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Zetith Beauty Clinic Fukuoka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ounded Rectangle 11"/>
          <p:cNvSpPr/>
          <p:nvPr/>
        </p:nvSpPr>
        <p:spPr>
          <a:xfrm>
            <a:off x="566928" y="1691640"/>
            <a:ext cx="6428994" cy="393192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1"/>
          </p:nvPr>
        </p:nvSpPr>
        <p:spPr/>
      </p:sp>
      <p:sp>
        <p:nvSpPr>
          <p:cNvPr id="4" name="TextBox 3"/>
          <p:cNvSpPr txBox="1"/>
          <p:nvPr/>
        </p:nvSpPr>
        <p:spPr>
          <a:xfrm>
            <a:off x="566928" y="457200"/>
            <a:ext cx="642899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CASE 04 ／ THE NOSE TIP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642899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3A3326"/>
                </a:solidFill>
                <a:latin typeface="游明朝"/>
                <a:ea typeface="游明朝"/>
              </a:rPr>
              <a:t>鼻先の溝・凹凸の解消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842" y="457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934E"/>
                </a:solidFill>
                <a:latin typeface="游明朝"/>
                <a:ea typeface="游明朝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1417320" cy="237744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74160"/>
            <a:ext cx="1417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8C7339"/>
                </a:solidFill>
                <a:latin typeface="游ゴシック"/>
                <a:ea typeface="游ゴシック"/>
              </a:rPr>
              <a:t>部位：鼻先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93976" y="1280160"/>
            <a:ext cx="868680" cy="237744"/>
          </a:xfrm>
          <a:prstGeom prst="round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93976" y="1274160"/>
            <a:ext cx="8686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游ゴシック"/>
                <a:ea typeface="游ゴシック"/>
              </a:rPr>
              <a:t>忘れ鼻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2722" y="1278160"/>
            <a:ext cx="2743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7A7060"/>
                </a:solidFill>
                <a:latin typeface="游ゴシック"/>
                <a:ea typeface="游ゴシック"/>
              </a:rPr>
              <a:t>クローズド法　｜　20代／横顔：ストレート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1874519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明朝"/>
                <a:ea typeface="游明朝"/>
              </a:rPr>
              <a:t>Before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8585" y="1874519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明朝"/>
                <a:ea typeface="游明朝"/>
              </a:rPr>
              <a:t>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1874519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0934E"/>
                </a:solidFill>
                <a:latin typeface="游明朝"/>
                <a:ea typeface="游明朝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486400"/>
            <a:ext cx="642899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7A7060"/>
                </a:solidFill>
                <a:latin typeface="游ゴシック"/>
                <a:ea typeface="游ゴシック"/>
              </a:rPr>
              <a:t>▲ Before・After それぞれの枠をクリックして写真を挿入（自動で枠いっぱいに配置されます）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897880"/>
            <a:ext cx="6428994" cy="54864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897880"/>
            <a:ext cx="1371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8C7339"/>
                </a:solidFill>
                <a:latin typeface="游ゴシック"/>
                <a:ea typeface="游ゴシック"/>
              </a:rPr>
              <a:t>設計のポイント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67128" y="5897880"/>
            <a:ext cx="460019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A3326"/>
                </a:solidFill>
                <a:latin typeface="游ゴシック"/>
                <a:ea typeface="游ゴシック"/>
              </a:rPr>
              <a:t>鼻先の溝や凹凸をならし、なめらかで写真映えする鼻先に。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66928" y="6583680"/>
          <a:ext cx="6428993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538"/>
                <a:gridCol w="4757455"/>
              </a:tblGrid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術式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鼻尖形成＋軟骨移植（クローズド法）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使用材料／麻酔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自家組織（耳介軟骨） ／ 静脈麻酔＋局所麻酔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ダウンタイム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腫れのピーク3〜6日／2週間でマスクで隠せる程度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566928" y="7772400"/>
            <a:ext cx="3077337" cy="137160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7772400"/>
            <a:ext cx="73152" cy="1371600"/>
          </a:xfrm>
          <a:prstGeom prst="rect">
            <a:avLst/>
          </a:prstGeom>
          <a:solidFill>
            <a:srgbClr val="B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7900416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B0553A"/>
                </a:solidFill>
                <a:latin typeface="游ゴシック"/>
                <a:ea typeface="游ゴシック"/>
              </a:rPr>
              <a:t>リスク・副作用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8229600"/>
            <a:ext cx="266585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869" b="0">
                <a:solidFill>
                  <a:srgbClr val="3A3326"/>
                </a:solidFill>
                <a:latin typeface="游ゴシック"/>
                <a:ea typeface="游ゴシック"/>
              </a:rPr>
              <a:t>・腫れ、内出血、痛み（数日〜2週間）
・左右差、知覚の鈍さが一時的に出ることがあります
・仕上がりに個人差があり、修正が必要な場合があります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18585" y="7772400"/>
            <a:ext cx="3077337" cy="137160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74617" y="7900416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8C7339"/>
                </a:solidFill>
                <a:latin typeface="游ゴシック"/>
                <a:ea typeface="游ゴシック"/>
              </a:rPr>
              <a:t>通常料金（税込）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74617" y="8202168"/>
            <a:ext cx="26658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3A3326"/>
                </a:solidFill>
                <a:latin typeface="游明朝"/>
                <a:ea typeface="游明朝"/>
              </a:rPr>
              <a:t>¥460,000〜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74617" y="8659368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医療ローン　</a:t>
            </a:r>
            <a:r>
              <a:rPr sz="1200" b="1">
                <a:solidFill>
                  <a:srgbClr val="8C7339"/>
                </a:solidFill>
                <a:latin typeface="游ゴシック"/>
                <a:ea typeface="游ゴシック"/>
              </a:rPr>
              <a:t>月々 ¥8,200〜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74617" y="8933688"/>
            <a:ext cx="266585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※60回の一例。部分／全額モニター・最新料金は院内・カウンセリングで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9235440"/>
            <a:ext cx="6428994" cy="82296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9354312"/>
            <a:ext cx="588035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B0934E"/>
                </a:solidFill>
                <a:latin typeface="游ゴシック"/>
                <a:ea typeface="游ゴシック"/>
              </a:rPr>
              <a:t>患者さまの声 ／ Dr.コメント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9619488"/>
            <a:ext cx="58803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3326"/>
                </a:solidFill>
                <a:latin typeface="游ゴシック"/>
                <a:ea typeface="游ゴシック"/>
              </a:rPr>
              <a:t>光の当たる鼻先の凹凸をならすと印象が整います。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10304590"/>
            <a:ext cx="4500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鼻整形 デザインカタログ｜Case 04｜鼻先の溝・凹凸の解消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762" y="1030459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Zetith Beauty Clinic Fukuoka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0688638"/>
          </a:xfrm>
          <a:prstGeom prst="rect">
            <a:avLst/>
          </a:prstGeom>
          <a:solidFill>
            <a:srgbClr val="26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7562850" cy="9525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48558"/>
            <a:ext cx="7562850" cy="9525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5842" y="457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游明朝"/>
                <a:ea typeface="游明朝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97280"/>
            <a:ext cx="642899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0934E"/>
                </a:solidFill>
                <a:latin typeface="游ゴシック"/>
                <a:ea typeface="游ゴシック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468880"/>
            <a:ext cx="642899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游明朝"/>
                <a:ea typeface="游明朝"/>
              </a:rPr>
              <a:t>THE 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429000"/>
            <a:ext cx="64289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B0934E"/>
                </a:solidFill>
                <a:latin typeface="游明朝"/>
                <a:ea typeface="游明朝"/>
              </a:rPr>
              <a:t>― お悩み：鼻筋・鼻背 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114800"/>
            <a:ext cx="642899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7DFCE"/>
                </a:solidFill>
                <a:latin typeface="游ゴシック"/>
                <a:ea typeface="游ゴシック"/>
              </a:rPr>
              <a:t>低い・鷲鼻・曲がり・幅広——鼻筋のお悩み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15568" y="5074920"/>
            <a:ext cx="5331714" cy="694944"/>
          </a:xfrm>
          <a:prstGeom prst="roundRect">
            <a:avLst/>
          </a:prstGeom>
          <a:solidFill>
            <a:srgbClr val="332E25"/>
          </a:solidFill>
          <a:ln w="9525">
            <a:solidFill>
              <a:srgbClr val="B09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44168" y="5074920"/>
            <a:ext cx="30175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B0934E"/>
                </a:solidFill>
                <a:latin typeface="游明朝"/>
                <a:ea typeface="游明朝"/>
              </a:rPr>
              <a:t>鼻筋が低い（隆鼻）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5074920"/>
            <a:ext cx="1856994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7DFCE"/>
                </a:solidFill>
                <a:latin typeface="游ゴシック"/>
                <a:ea typeface="游ゴシック"/>
              </a:rPr>
              <a:t>鼻筋に自然な高さとラインを出す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5568" y="5916168"/>
            <a:ext cx="5331714" cy="694944"/>
          </a:xfrm>
          <a:prstGeom prst="roundRect">
            <a:avLst/>
          </a:prstGeom>
          <a:solidFill>
            <a:srgbClr val="332E25"/>
          </a:solidFill>
          <a:ln w="9525">
            <a:solidFill>
              <a:srgbClr val="B09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4168" y="5916168"/>
            <a:ext cx="30175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B0934E"/>
                </a:solidFill>
                <a:latin typeface="游明朝"/>
                <a:ea typeface="游明朝"/>
              </a:rPr>
              <a:t>鷲鼻・ハンプの解消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5916168"/>
            <a:ext cx="1856994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7DFCE"/>
                </a:solidFill>
                <a:latin typeface="游ゴシック"/>
                <a:ea typeface="游ゴシック"/>
              </a:rPr>
              <a:t>鼻筋の出っ張りを削ってまっすぐに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15568" y="6757416"/>
            <a:ext cx="5331714" cy="694944"/>
          </a:xfrm>
          <a:prstGeom prst="roundRect">
            <a:avLst/>
          </a:prstGeom>
          <a:solidFill>
            <a:srgbClr val="332E25"/>
          </a:solidFill>
          <a:ln w="9525">
            <a:solidFill>
              <a:srgbClr val="B09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44168" y="6757416"/>
            <a:ext cx="30175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B0934E"/>
                </a:solidFill>
                <a:latin typeface="游明朝"/>
                <a:ea typeface="游明朝"/>
              </a:rPr>
              <a:t>斜鼻・鼻筋の曲がり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6757416"/>
            <a:ext cx="1856994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7DFCE"/>
                </a:solidFill>
                <a:latin typeface="游ゴシック"/>
                <a:ea typeface="游ゴシック"/>
              </a:rPr>
              <a:t>曲がった鼻筋をまっすぐ整える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15568" y="7598664"/>
            <a:ext cx="5331714" cy="694944"/>
          </a:xfrm>
          <a:prstGeom prst="roundRect">
            <a:avLst/>
          </a:prstGeom>
          <a:solidFill>
            <a:srgbClr val="332E25"/>
          </a:solidFill>
          <a:ln w="9525">
            <a:solidFill>
              <a:srgbClr val="B09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44168" y="7598664"/>
            <a:ext cx="30175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B0934E"/>
                </a:solidFill>
                <a:latin typeface="游明朝"/>
                <a:ea typeface="游明朝"/>
              </a:rPr>
              <a:t>鼻筋・鼻骨の幅が広い（骨切り幅寄せ）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7598664"/>
            <a:ext cx="1856994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7DFCE"/>
                </a:solidFill>
                <a:latin typeface="游ゴシック"/>
                <a:ea typeface="游ゴシック"/>
              </a:rPr>
              <a:t>広がった鼻骨を寄せて細い鼻筋に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10304590"/>
            <a:ext cx="4500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C9BEAA"/>
                </a:solidFill>
                <a:latin typeface="游ゴシック"/>
                <a:ea typeface="游ゴシック"/>
              </a:rPr>
              <a:t>鼻整形 デザインカタログ｜THE BRIDGE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762" y="1030459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C9BEAA"/>
                </a:solidFill>
                <a:latin typeface="游ゴシック"/>
                <a:ea typeface="游ゴシック"/>
              </a:rPr>
              <a:t>Zetith Beauty Clinic Fukuoka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ounded Rectangle 11"/>
          <p:cNvSpPr/>
          <p:nvPr/>
        </p:nvSpPr>
        <p:spPr>
          <a:xfrm>
            <a:off x="566928" y="1691640"/>
            <a:ext cx="6428994" cy="393192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1"/>
          </p:nvPr>
        </p:nvSpPr>
        <p:spPr/>
      </p:sp>
      <p:sp>
        <p:nvSpPr>
          <p:cNvPr id="4" name="TextBox 3"/>
          <p:cNvSpPr txBox="1"/>
          <p:nvPr/>
        </p:nvSpPr>
        <p:spPr>
          <a:xfrm>
            <a:off x="566928" y="457200"/>
            <a:ext cx="642899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CASE 05 ／ THE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642899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3A3326"/>
                </a:solidFill>
                <a:latin typeface="游明朝"/>
                <a:ea typeface="游明朝"/>
              </a:rPr>
              <a:t>鼻筋が低い（隆鼻）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842" y="457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934E"/>
                </a:solidFill>
                <a:latin typeface="游明朝"/>
                <a:ea typeface="游明朝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1417320" cy="237744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74160"/>
            <a:ext cx="1417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8C7339"/>
                </a:solidFill>
                <a:latin typeface="游ゴシック"/>
                <a:ea typeface="游ゴシック"/>
              </a:rPr>
              <a:t>部位：鼻筋・鼻背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93976" y="1280160"/>
            <a:ext cx="868680" cy="237744"/>
          </a:xfrm>
          <a:prstGeom prst="round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93976" y="1274160"/>
            <a:ext cx="8686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游ゴシック"/>
                <a:ea typeface="游ゴシック"/>
              </a:rPr>
              <a:t>華やか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2722" y="1278160"/>
            <a:ext cx="2743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7A7060"/>
                </a:solidFill>
                <a:latin typeface="游ゴシック"/>
                <a:ea typeface="游ゴシック"/>
              </a:rPr>
              <a:t>クローズド法　｜　20代／横顔：ストレート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1874519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明朝"/>
                <a:ea typeface="游明朝"/>
              </a:rPr>
              <a:t>Before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8585" y="1874519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明朝"/>
                <a:ea typeface="游明朝"/>
              </a:rPr>
              <a:t>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1874519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0934E"/>
                </a:solidFill>
                <a:latin typeface="游明朝"/>
                <a:ea typeface="游明朝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486400"/>
            <a:ext cx="642899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7A7060"/>
                </a:solidFill>
                <a:latin typeface="游ゴシック"/>
                <a:ea typeface="游ゴシック"/>
              </a:rPr>
              <a:t>▲ Before・After それぞれの枠をクリックして写真を挿入（自動で枠いっぱいに配置されます）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897880"/>
            <a:ext cx="6428994" cy="54864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897880"/>
            <a:ext cx="1371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8C7339"/>
                </a:solidFill>
                <a:latin typeface="游ゴシック"/>
                <a:ea typeface="游ゴシック"/>
              </a:rPr>
              <a:t>設計のポイント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67128" y="5897880"/>
            <a:ext cx="460019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A3326"/>
                </a:solidFill>
                <a:latin typeface="游ゴシック"/>
                <a:ea typeface="游ゴシック"/>
              </a:rPr>
              <a:t>鼻筋に自然な高さとまっすぐなラインを。やりすぎず横顔の品格を。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66928" y="6583680"/>
          <a:ext cx="6428993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538"/>
                <a:gridCol w="4757455"/>
              </a:tblGrid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術式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隆鼻術（プロテーゼ）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使用材料／麻酔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プロテーゼ（シリコン）／ご希望で自家組織 ／ 静脈麻酔＋局所麻酔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ダウンタイム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腫れのピーク3〜6日／ギプス固定約7日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566928" y="7772400"/>
            <a:ext cx="3077337" cy="137160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7772400"/>
            <a:ext cx="73152" cy="1371600"/>
          </a:xfrm>
          <a:prstGeom prst="rect">
            <a:avLst/>
          </a:prstGeom>
          <a:solidFill>
            <a:srgbClr val="B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7900416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B0553A"/>
                </a:solidFill>
                <a:latin typeface="游ゴシック"/>
                <a:ea typeface="游ゴシック"/>
              </a:rPr>
              <a:t>リスク・副作用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8229600"/>
            <a:ext cx="266585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869" b="0">
                <a:solidFill>
                  <a:srgbClr val="3A3326"/>
                </a:solidFill>
                <a:latin typeface="游ゴシック"/>
                <a:ea typeface="游ゴシック"/>
              </a:rPr>
              <a:t>・腫れ、内出血、痛み、感染のリスク
・プロテーゼのズレ・輪郭の浮き出しの可能性
・効果に個人差があり、抜去や入れ替えが必要な場合があります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18585" y="7772400"/>
            <a:ext cx="3077337" cy="137160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74617" y="7900416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8C7339"/>
                </a:solidFill>
                <a:latin typeface="游ゴシック"/>
                <a:ea typeface="游ゴシック"/>
              </a:rPr>
              <a:t>通常料金（税込）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74617" y="8202168"/>
            <a:ext cx="26658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3A3326"/>
                </a:solidFill>
                <a:latin typeface="游明朝"/>
                <a:ea typeface="游明朝"/>
              </a:rPr>
              <a:t>¥385,000〜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74617" y="8659368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医療ローン　</a:t>
            </a:r>
            <a:r>
              <a:rPr sz="1200" b="1">
                <a:solidFill>
                  <a:srgbClr val="8C7339"/>
                </a:solidFill>
                <a:latin typeface="游ゴシック"/>
                <a:ea typeface="游ゴシック"/>
              </a:rPr>
              <a:t>月々 ¥6,900〜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74617" y="8933688"/>
            <a:ext cx="266585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※60回の一例。部分／全額モニター・最新料金は院内・カウンセリングで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9235440"/>
            <a:ext cx="6428994" cy="82296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9354312"/>
            <a:ext cx="588035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B0934E"/>
                </a:solidFill>
                <a:latin typeface="游ゴシック"/>
                <a:ea typeface="游ゴシック"/>
              </a:rPr>
              <a:t>患者さまの声 ／ Dr.コメント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9619488"/>
            <a:ext cx="58803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3326"/>
                </a:solidFill>
                <a:latin typeface="游ゴシック"/>
                <a:ea typeface="游ゴシック"/>
              </a:rPr>
              <a:t>鼻筋が通るだけで正面も横顔も洗練されます。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10304590"/>
            <a:ext cx="4500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鼻整形 デザインカタログ｜Case 05｜鼻筋が低い（隆鼻）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762" y="1030459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Zetith Beauty Clinic Fukuoka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ounded Rectangle 11"/>
          <p:cNvSpPr/>
          <p:nvPr/>
        </p:nvSpPr>
        <p:spPr>
          <a:xfrm>
            <a:off x="566928" y="1691640"/>
            <a:ext cx="6428994" cy="393192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1"/>
          </p:nvPr>
        </p:nvSpPr>
        <p:spPr/>
      </p:sp>
      <p:sp>
        <p:nvSpPr>
          <p:cNvPr id="4" name="TextBox 3"/>
          <p:cNvSpPr txBox="1"/>
          <p:nvPr/>
        </p:nvSpPr>
        <p:spPr>
          <a:xfrm>
            <a:off x="566928" y="457200"/>
            <a:ext cx="642899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CASE 06 ／ THE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642899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3A3326"/>
                </a:solidFill>
                <a:latin typeface="游明朝"/>
                <a:ea typeface="游明朝"/>
              </a:rPr>
              <a:t>鷲鼻・ハンプの解消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842" y="457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934E"/>
                </a:solidFill>
                <a:latin typeface="游明朝"/>
                <a:ea typeface="游明朝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1417320" cy="237744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74160"/>
            <a:ext cx="1417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8C7339"/>
                </a:solidFill>
                <a:latin typeface="游ゴシック"/>
                <a:ea typeface="游ゴシック"/>
              </a:rPr>
              <a:t>部位：鼻筋・鼻背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93976" y="1280160"/>
            <a:ext cx="868680" cy="237744"/>
          </a:xfrm>
          <a:prstGeom prst="round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93976" y="1274160"/>
            <a:ext cx="8686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游ゴシック"/>
                <a:ea typeface="游ゴシック"/>
              </a:rPr>
              <a:t>忘れ鼻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2722" y="1278160"/>
            <a:ext cx="2743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7A7060"/>
                </a:solidFill>
                <a:latin typeface="游ゴシック"/>
                <a:ea typeface="游ゴシック"/>
              </a:rPr>
              <a:t>クローズド法　｜　40代／横顔：ストレート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1874519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明朝"/>
                <a:ea typeface="游明朝"/>
              </a:rPr>
              <a:t>Before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8585" y="1874519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明朝"/>
                <a:ea typeface="游明朝"/>
              </a:rPr>
              <a:t>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1874519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0934E"/>
                </a:solidFill>
                <a:latin typeface="游明朝"/>
                <a:ea typeface="游明朝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486400"/>
            <a:ext cx="642899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7A7060"/>
                </a:solidFill>
                <a:latin typeface="游ゴシック"/>
                <a:ea typeface="游ゴシック"/>
              </a:rPr>
              <a:t>▲ Before・After それぞれの枠をクリックして写真を挿入（自動で枠いっぱいに配置されます）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897880"/>
            <a:ext cx="6428994" cy="54864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897880"/>
            <a:ext cx="1371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8C7339"/>
                </a:solidFill>
                <a:latin typeface="游ゴシック"/>
                <a:ea typeface="游ゴシック"/>
              </a:rPr>
              <a:t>設計のポイント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67128" y="5897880"/>
            <a:ext cx="460019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A3326"/>
                </a:solidFill>
                <a:latin typeface="游ゴシック"/>
                <a:ea typeface="游ゴシック"/>
              </a:rPr>
              <a:t>鼻筋の出っ張りを削り、まっすぐ上品な横顔へ。下げて可愛くも。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66928" y="6583680"/>
          <a:ext cx="6428993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538"/>
                <a:gridCol w="4757455"/>
              </a:tblGrid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術式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ハンプ切除＋鼻尖形成（クローズド法）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使用材料／麻酔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自家組織（耳介軟骨） ／ 静脈麻酔＋局所麻酔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ダウンタイム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腫れのピーク3〜6日／ギプス固定約7日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566928" y="7772400"/>
            <a:ext cx="3077337" cy="137160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7772400"/>
            <a:ext cx="73152" cy="1371600"/>
          </a:xfrm>
          <a:prstGeom prst="rect">
            <a:avLst/>
          </a:prstGeom>
          <a:solidFill>
            <a:srgbClr val="B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7900416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B0553A"/>
                </a:solidFill>
                <a:latin typeface="游ゴシック"/>
                <a:ea typeface="游ゴシック"/>
              </a:rPr>
              <a:t>リスク・副作用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8229600"/>
            <a:ext cx="266585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869" b="0">
                <a:solidFill>
                  <a:srgbClr val="3A3326"/>
                </a:solidFill>
                <a:latin typeface="游ゴシック"/>
                <a:ea typeface="游ゴシック"/>
              </a:rPr>
              <a:t>・腫れ、内出血、痛み、感染のリスク
・段差・左右差・後戻りの可能性
・効果に個人差があり、追加矯正が必要な場合があります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18585" y="7772400"/>
            <a:ext cx="3077337" cy="137160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74617" y="7900416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8C7339"/>
                </a:solidFill>
                <a:latin typeface="游ゴシック"/>
                <a:ea typeface="游ゴシック"/>
              </a:rPr>
              <a:t>通常料金（税込）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74617" y="8202168"/>
            <a:ext cx="26658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3A3326"/>
                </a:solidFill>
                <a:latin typeface="游明朝"/>
                <a:ea typeface="游明朝"/>
              </a:rPr>
              <a:t>¥495,000〜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74617" y="8659368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医療ローン　</a:t>
            </a:r>
            <a:r>
              <a:rPr sz="1200" b="1">
                <a:solidFill>
                  <a:srgbClr val="8C7339"/>
                </a:solidFill>
                <a:latin typeface="游ゴシック"/>
                <a:ea typeface="游ゴシック"/>
              </a:rPr>
              <a:t>月々 ¥8,800〜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74617" y="8933688"/>
            <a:ext cx="266585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※60回の一例。部分／全額モニター・最新料金は院内・カウンセリングで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9235440"/>
            <a:ext cx="6428994" cy="82296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9354312"/>
            <a:ext cx="588035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B0934E"/>
                </a:solidFill>
                <a:latin typeface="游ゴシック"/>
                <a:ea typeface="游ゴシック"/>
              </a:rPr>
              <a:t>患者さまの声 ／ Dr.コメント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9619488"/>
            <a:ext cx="58803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3326"/>
                </a:solidFill>
                <a:latin typeface="游ゴシック"/>
                <a:ea typeface="游ゴシック"/>
              </a:rPr>
              <a:t>横顔の引っかかりが消えると品が出ます。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10304590"/>
            <a:ext cx="4500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鼻整形 デザインカタログ｜Case 06｜鷲鼻・ハンプの解消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762" y="1030459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Zetith Beauty Clinic Fukuoka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ounded Rectangle 11"/>
          <p:cNvSpPr/>
          <p:nvPr/>
        </p:nvSpPr>
        <p:spPr>
          <a:xfrm>
            <a:off x="566928" y="1691640"/>
            <a:ext cx="6428994" cy="393192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1"/>
          </p:nvPr>
        </p:nvSpPr>
        <p:spPr/>
      </p:sp>
      <p:sp>
        <p:nvSpPr>
          <p:cNvPr id="4" name="TextBox 3"/>
          <p:cNvSpPr txBox="1"/>
          <p:nvPr/>
        </p:nvSpPr>
        <p:spPr>
          <a:xfrm>
            <a:off x="566928" y="457200"/>
            <a:ext cx="642899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CASE 07 ／ THE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642899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3A3326"/>
                </a:solidFill>
                <a:latin typeface="游明朝"/>
                <a:ea typeface="游明朝"/>
              </a:rPr>
              <a:t>斜鼻・鼻筋の曲がり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842" y="457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934E"/>
                </a:solidFill>
                <a:latin typeface="游明朝"/>
                <a:ea typeface="游明朝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1417320" cy="237744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74160"/>
            <a:ext cx="1417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8C7339"/>
                </a:solidFill>
                <a:latin typeface="游ゴシック"/>
                <a:ea typeface="游ゴシック"/>
              </a:rPr>
              <a:t>部位：鼻筋・鼻背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93976" y="1280160"/>
            <a:ext cx="868680" cy="237744"/>
          </a:xfrm>
          <a:prstGeom prst="round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93976" y="1274160"/>
            <a:ext cx="8686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游ゴシック"/>
                <a:ea typeface="游ゴシック"/>
              </a:rPr>
              <a:t>忘れ鼻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2722" y="1278160"/>
            <a:ext cx="2743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7A7060"/>
                </a:solidFill>
                <a:latin typeface="游ゴシック"/>
                <a:ea typeface="游ゴシック"/>
              </a:rPr>
              <a:t>クローズド法　｜　30代／横顔：ストレート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1874519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明朝"/>
                <a:ea typeface="游明朝"/>
              </a:rPr>
              <a:t>Before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8585" y="1874519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明朝"/>
                <a:ea typeface="游明朝"/>
              </a:rPr>
              <a:t>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1874519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0934E"/>
                </a:solidFill>
                <a:latin typeface="游明朝"/>
                <a:ea typeface="游明朝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486400"/>
            <a:ext cx="642899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7A7060"/>
                </a:solidFill>
                <a:latin typeface="游ゴシック"/>
                <a:ea typeface="游ゴシック"/>
              </a:rPr>
              <a:t>▲ Before・After それぞれの枠をクリックして写真を挿入（自動で枠いっぱいに配置されます）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897880"/>
            <a:ext cx="6428994" cy="54864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897880"/>
            <a:ext cx="1371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8C7339"/>
                </a:solidFill>
                <a:latin typeface="游ゴシック"/>
                <a:ea typeface="游ゴシック"/>
              </a:rPr>
              <a:t>設計のポイント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67128" y="5897880"/>
            <a:ext cx="460019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A3326"/>
                </a:solidFill>
                <a:latin typeface="游ゴシック"/>
                <a:ea typeface="游ゴシック"/>
              </a:rPr>
              <a:t>曲がった鼻筋をまっすぐに。見た目と通りの両面から整える。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66928" y="6583680"/>
          <a:ext cx="6428993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538"/>
                <a:gridCol w="4757455"/>
              </a:tblGrid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術式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鼻骨骨切り＋（必要に応じ）鼻中隔矯正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使用材料／麻酔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自家組織／必要に応じプロテーゼ ／ 静脈麻酔または全身麻酔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ダウンタイム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腫れのピーク1週前後／ギプス固定約7日／内出血が出やすい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566928" y="7772400"/>
            <a:ext cx="3077337" cy="137160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7772400"/>
            <a:ext cx="73152" cy="1371600"/>
          </a:xfrm>
          <a:prstGeom prst="rect">
            <a:avLst/>
          </a:prstGeom>
          <a:solidFill>
            <a:srgbClr val="B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7900416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B0553A"/>
                </a:solidFill>
                <a:latin typeface="游ゴシック"/>
                <a:ea typeface="游ゴシック"/>
              </a:rPr>
              <a:t>リスク・副作用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8229600"/>
            <a:ext cx="266585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869" b="0">
                <a:solidFill>
                  <a:srgbClr val="3A3326"/>
                </a:solidFill>
                <a:latin typeface="游ゴシック"/>
                <a:ea typeface="游ゴシック"/>
              </a:rPr>
              <a:t>・腫れ、内出血、痛み、感染のリスク
・完全な左右対称・直線化は保証できません
・後戻り・追加矯正が必要な場合があります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18585" y="7772400"/>
            <a:ext cx="3077337" cy="137160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74617" y="7900416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8C7339"/>
                </a:solidFill>
                <a:latin typeface="游ゴシック"/>
                <a:ea typeface="游ゴシック"/>
              </a:rPr>
              <a:t>通常料金（税込）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74617" y="8202168"/>
            <a:ext cx="26658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3A3326"/>
                </a:solidFill>
                <a:latin typeface="游明朝"/>
                <a:ea typeface="游明朝"/>
              </a:rPr>
              <a:t>¥550,000〜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74617" y="8659368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医療ローン　</a:t>
            </a:r>
            <a:r>
              <a:rPr sz="1200" b="1">
                <a:solidFill>
                  <a:srgbClr val="8C7339"/>
                </a:solidFill>
                <a:latin typeface="游ゴシック"/>
                <a:ea typeface="游ゴシック"/>
              </a:rPr>
              <a:t>月々 ¥9,800〜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74617" y="8933688"/>
            <a:ext cx="266585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※60回の一例。部分／全額モニター・最新料金は院内・カウンセリングで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9235440"/>
            <a:ext cx="6428994" cy="82296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9354312"/>
            <a:ext cx="588035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B0934E"/>
                </a:solidFill>
                <a:latin typeface="游ゴシック"/>
                <a:ea typeface="游ゴシック"/>
              </a:rPr>
              <a:t>患者さまの声 ／ Dr.コメント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9619488"/>
            <a:ext cx="58803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3326"/>
                </a:solidFill>
                <a:latin typeface="游ゴシック"/>
                <a:ea typeface="游ゴシック"/>
              </a:rPr>
              <a:t>長年の鼻筋の曲がりが整いました。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10304590"/>
            <a:ext cx="4500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鼻整形 デザインカタログ｜Case 07｜斜鼻・鼻筋の曲がり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762" y="1030459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Zetith Beauty Clinic Fukuoka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ounded Rectangle 11"/>
          <p:cNvSpPr/>
          <p:nvPr/>
        </p:nvSpPr>
        <p:spPr>
          <a:xfrm>
            <a:off x="566928" y="1691640"/>
            <a:ext cx="6428994" cy="393192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1"/>
          </p:nvPr>
        </p:nvSpPr>
        <p:spPr/>
      </p:sp>
      <p:sp>
        <p:nvSpPr>
          <p:cNvPr id="4" name="TextBox 3"/>
          <p:cNvSpPr txBox="1"/>
          <p:nvPr/>
        </p:nvSpPr>
        <p:spPr>
          <a:xfrm>
            <a:off x="566928" y="457200"/>
            <a:ext cx="642899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CASE 08 ／ THE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642899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3A3326"/>
                </a:solidFill>
                <a:latin typeface="游明朝"/>
                <a:ea typeface="游明朝"/>
              </a:rPr>
              <a:t>鼻筋・鼻骨の幅が広い（骨切り幅寄せ）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842" y="457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934E"/>
                </a:solidFill>
                <a:latin typeface="游明朝"/>
                <a:ea typeface="游明朝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1417320" cy="237744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74160"/>
            <a:ext cx="1417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8C7339"/>
                </a:solidFill>
                <a:latin typeface="游ゴシック"/>
                <a:ea typeface="游ゴシック"/>
              </a:rPr>
              <a:t>部位：鼻筋・鼻背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93976" y="1280160"/>
            <a:ext cx="868680" cy="237744"/>
          </a:xfrm>
          <a:prstGeom prst="round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93976" y="1274160"/>
            <a:ext cx="8686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游ゴシック"/>
                <a:ea typeface="游ゴシック"/>
              </a:rPr>
              <a:t>華やか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2722" y="1278160"/>
            <a:ext cx="2743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7A7060"/>
                </a:solidFill>
                <a:latin typeface="游ゴシック"/>
                <a:ea typeface="游ゴシック"/>
              </a:rPr>
              <a:t>クローズド法　｜　20代／横顔：ストレート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1874519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明朝"/>
                <a:ea typeface="游明朝"/>
              </a:rPr>
              <a:t>Before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8585" y="1874519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明朝"/>
                <a:ea typeface="游明朝"/>
              </a:rPr>
              <a:t>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1874519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0934E"/>
                </a:solidFill>
                <a:latin typeface="游明朝"/>
                <a:ea typeface="游明朝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486400"/>
            <a:ext cx="642899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7A7060"/>
                </a:solidFill>
                <a:latin typeface="游ゴシック"/>
                <a:ea typeface="游ゴシック"/>
              </a:rPr>
              <a:t>▲ Before・After それぞれの枠をクリックして写真を挿入（自動で枠いっぱいに配置されます）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897880"/>
            <a:ext cx="6428994" cy="54864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897880"/>
            <a:ext cx="1371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8C7339"/>
                </a:solidFill>
                <a:latin typeface="游ゴシック"/>
                <a:ea typeface="游ゴシック"/>
              </a:rPr>
              <a:t>設計のポイント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67128" y="5897880"/>
            <a:ext cx="460019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A3326"/>
                </a:solidFill>
                <a:latin typeface="游ゴシック"/>
                <a:ea typeface="游ゴシック"/>
              </a:rPr>
              <a:t>広がった鼻骨を内側に寄せ、すっきり細い鼻筋に。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66928" y="6583680"/>
          <a:ext cx="6428993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538"/>
                <a:gridCol w="4757455"/>
              </a:tblGrid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術式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鼻骨骨切り（幅寄せ）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使用材料／麻酔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（必要に応じ）プロテーゼ・自家組織 ／ 静脈麻酔または全身麻酔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ダウンタイム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腫れのピーク1週前後／ギプス固定約7日／内出血が出やすい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566928" y="7772400"/>
            <a:ext cx="3077337" cy="137160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7772400"/>
            <a:ext cx="73152" cy="1371600"/>
          </a:xfrm>
          <a:prstGeom prst="rect">
            <a:avLst/>
          </a:prstGeom>
          <a:solidFill>
            <a:srgbClr val="B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7900416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B0553A"/>
                </a:solidFill>
                <a:latin typeface="游ゴシック"/>
                <a:ea typeface="游ゴシック"/>
              </a:rPr>
              <a:t>リスク・副作用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8229600"/>
            <a:ext cx="266585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869" b="0">
                <a:solidFill>
                  <a:srgbClr val="3A3326"/>
                </a:solidFill>
                <a:latin typeface="游ゴシック"/>
                <a:ea typeface="游ゴシック"/>
              </a:rPr>
              <a:t>・腫れ、内出血、痛み、感染のリスク
・段差・左右差・後戻りの可能性
・効果に個人差があり、追加矯正が必要な場合があります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18585" y="7772400"/>
            <a:ext cx="3077337" cy="137160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74617" y="7900416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8C7339"/>
                </a:solidFill>
                <a:latin typeface="游ゴシック"/>
                <a:ea typeface="游ゴシック"/>
              </a:rPr>
              <a:t>通常料金（税込）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74617" y="8202168"/>
            <a:ext cx="26658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3A3326"/>
                </a:solidFill>
                <a:latin typeface="游明朝"/>
                <a:ea typeface="游明朝"/>
              </a:rPr>
              <a:t>¥550,000〜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74617" y="8659368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医療ローン　</a:t>
            </a:r>
            <a:r>
              <a:rPr sz="1200" b="1">
                <a:solidFill>
                  <a:srgbClr val="8C7339"/>
                </a:solidFill>
                <a:latin typeface="游ゴシック"/>
                <a:ea typeface="游ゴシック"/>
              </a:rPr>
              <a:t>月々 ¥9,800〜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74617" y="8933688"/>
            <a:ext cx="266585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※60回の一例。部分／全額モニター・最新料金は院内・カウンセリングで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9235440"/>
            <a:ext cx="6428994" cy="82296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9354312"/>
            <a:ext cx="588035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B0934E"/>
                </a:solidFill>
                <a:latin typeface="游ゴシック"/>
                <a:ea typeface="游ゴシック"/>
              </a:rPr>
              <a:t>患者さまの声 ／ Dr.コメント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9619488"/>
            <a:ext cx="58803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3326"/>
                </a:solidFill>
                <a:latin typeface="游ゴシック"/>
                <a:ea typeface="游ゴシック"/>
              </a:rPr>
              <a:t>正面の鼻筋が細くなって小顔見えします。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10304590"/>
            <a:ext cx="4500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鼻整形 デザインカタログ｜Case 08｜鼻筋・鼻骨の幅が広い（骨切り幅寄せ）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762" y="1030459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Zetith Beauty Clinic Fukuoka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0688638"/>
          </a:xfrm>
          <a:prstGeom prst="rect">
            <a:avLst/>
          </a:prstGeom>
          <a:solidFill>
            <a:srgbClr val="26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7562850" cy="9525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48558"/>
            <a:ext cx="7562850" cy="9525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5842" y="457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游明朝"/>
                <a:ea typeface="游明朝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97280"/>
            <a:ext cx="642899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0934E"/>
                </a:solidFill>
                <a:latin typeface="游ゴシック"/>
                <a:ea typeface="游ゴシック"/>
              </a:rPr>
              <a:t>CHAPTER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468880"/>
            <a:ext cx="642899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游明朝"/>
                <a:ea typeface="游明朝"/>
              </a:rPr>
              <a:t>NOSTRILS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429000"/>
            <a:ext cx="64289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B0934E"/>
                </a:solidFill>
                <a:latin typeface="游明朝"/>
                <a:ea typeface="游明朝"/>
              </a:rPr>
              <a:t>― お悩み：小鼻・鼻の穴 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114800"/>
            <a:ext cx="642899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7DFCE"/>
                </a:solidFill>
                <a:latin typeface="游ゴシック"/>
                <a:ea typeface="游ゴシック"/>
              </a:rPr>
              <a:t>小鼻・鼻翼・鼻の穴の見え方のお悩み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15568" y="5074920"/>
            <a:ext cx="5331714" cy="694944"/>
          </a:xfrm>
          <a:prstGeom prst="roundRect">
            <a:avLst/>
          </a:prstGeom>
          <a:solidFill>
            <a:srgbClr val="332E25"/>
          </a:solidFill>
          <a:ln w="9525">
            <a:solidFill>
              <a:srgbClr val="B09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44168" y="5074920"/>
            <a:ext cx="30175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B0934E"/>
                </a:solidFill>
                <a:latin typeface="游明朝"/>
                <a:ea typeface="游明朝"/>
              </a:rPr>
              <a:t>小鼻が大きい・広い（小鼻縮小）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5074920"/>
            <a:ext cx="1856994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7DFCE"/>
                </a:solidFill>
                <a:latin typeface="游ゴシック"/>
                <a:ea typeface="游ゴシック"/>
              </a:rPr>
              <a:t>小鼻の広がりを自然に抑える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5568" y="5916168"/>
            <a:ext cx="5331714" cy="694944"/>
          </a:xfrm>
          <a:prstGeom prst="roundRect">
            <a:avLst/>
          </a:prstGeom>
          <a:solidFill>
            <a:srgbClr val="332E25"/>
          </a:solidFill>
          <a:ln w="9525">
            <a:solidFill>
              <a:srgbClr val="B09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4168" y="5916168"/>
            <a:ext cx="30175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B0934E"/>
                </a:solidFill>
                <a:latin typeface="游明朝"/>
                <a:ea typeface="游明朝"/>
              </a:rPr>
              <a:t>鼻翼が下がっている（ACR）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5916168"/>
            <a:ext cx="1856994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7DFCE"/>
                </a:solidFill>
                <a:latin typeface="游ゴシック"/>
                <a:ea typeface="游ゴシック"/>
              </a:rPr>
              <a:t>鼻翼を上げてあざと可愛い正面に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15568" y="6757416"/>
            <a:ext cx="5331714" cy="694944"/>
          </a:xfrm>
          <a:prstGeom prst="roundRect">
            <a:avLst/>
          </a:prstGeom>
          <a:solidFill>
            <a:srgbClr val="332E25"/>
          </a:solidFill>
          <a:ln w="9525">
            <a:solidFill>
              <a:srgbClr val="B09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44168" y="6757416"/>
            <a:ext cx="30175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B0934E"/>
                </a:solidFill>
                <a:latin typeface="游明朝"/>
                <a:ea typeface="游明朝"/>
              </a:rPr>
              <a:t>鼻の穴が目立つ・左右差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6757416"/>
            <a:ext cx="1856994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7DFCE"/>
                </a:solidFill>
                <a:latin typeface="游ゴシック"/>
                <a:ea typeface="游ゴシック"/>
              </a:rPr>
              <a:t>鼻の穴の見え方・左右差を整える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10304590"/>
            <a:ext cx="4500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C9BEAA"/>
                </a:solidFill>
                <a:latin typeface="游ゴシック"/>
                <a:ea typeface="游ゴシック"/>
              </a:rPr>
              <a:t>鼻整形 デザインカタログ｜NOSTRILS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762" y="1030459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C9BEAA"/>
                </a:solidFill>
                <a:latin typeface="游ゴシック"/>
                <a:ea typeface="游ゴシック"/>
              </a:rPr>
              <a:t>Zetith Beauty Clinic Fukuoka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ounded Rectangle 11"/>
          <p:cNvSpPr/>
          <p:nvPr/>
        </p:nvSpPr>
        <p:spPr>
          <a:xfrm>
            <a:off x="566928" y="1691640"/>
            <a:ext cx="6428994" cy="393192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1"/>
          </p:nvPr>
        </p:nvSpPr>
        <p:spPr/>
      </p:sp>
      <p:sp>
        <p:nvSpPr>
          <p:cNvPr id="4" name="TextBox 3"/>
          <p:cNvSpPr txBox="1"/>
          <p:nvPr/>
        </p:nvSpPr>
        <p:spPr>
          <a:xfrm>
            <a:off x="566928" y="457200"/>
            <a:ext cx="642899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CASE 09 ／ NOSTRILS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642899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3A3326"/>
                </a:solidFill>
                <a:latin typeface="游明朝"/>
                <a:ea typeface="游明朝"/>
              </a:rPr>
              <a:t>小鼻が大きい・広い（小鼻縮小）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842" y="457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934E"/>
                </a:solidFill>
                <a:latin typeface="游明朝"/>
                <a:ea typeface="游明朝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1417320" cy="237744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74160"/>
            <a:ext cx="1417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8C7339"/>
                </a:solidFill>
                <a:latin typeface="游ゴシック"/>
                <a:ea typeface="游ゴシック"/>
              </a:rPr>
              <a:t>部位：小鼻・鼻の穴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93976" y="1280160"/>
            <a:ext cx="868680" cy="237744"/>
          </a:xfrm>
          <a:prstGeom prst="round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93976" y="1274160"/>
            <a:ext cx="8686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游ゴシック"/>
                <a:ea typeface="游ゴシック"/>
              </a:rPr>
              <a:t>可愛い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2722" y="1278160"/>
            <a:ext cx="2743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7A7060"/>
                </a:solidFill>
                <a:latin typeface="游ゴシック"/>
                <a:ea typeface="游ゴシック"/>
              </a:rPr>
              <a:t>クローズド法　｜　30代／横顔：半ラウンド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1874519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明朝"/>
                <a:ea typeface="游明朝"/>
              </a:rPr>
              <a:t>Before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8585" y="1874519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明朝"/>
                <a:ea typeface="游明朝"/>
              </a:rPr>
              <a:t>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1874519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0934E"/>
                </a:solidFill>
                <a:latin typeface="游明朝"/>
                <a:ea typeface="游明朝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486400"/>
            <a:ext cx="642899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7A7060"/>
                </a:solidFill>
                <a:latin typeface="游ゴシック"/>
                <a:ea typeface="游ゴシック"/>
              </a:rPr>
              <a:t>▲ Before・After それぞれの枠をクリックして写真を挿入（自動で枠いっぱいに配置されます）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897880"/>
            <a:ext cx="6428994" cy="54864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897880"/>
            <a:ext cx="1371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8C7339"/>
                </a:solidFill>
                <a:latin typeface="游ゴシック"/>
                <a:ea typeface="游ゴシック"/>
              </a:rPr>
              <a:t>設計のポイント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67128" y="5897880"/>
            <a:ext cx="460019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A3326"/>
                </a:solidFill>
                <a:latin typeface="游ゴシック"/>
                <a:ea typeface="游ゴシック"/>
              </a:rPr>
              <a:t>小鼻の広がりだけを抑え、印象を壊さない引き算の設計。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66928" y="6583680"/>
          <a:ext cx="6428993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538"/>
                <a:gridCol w="4757455"/>
              </a:tblGrid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術式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小鼻縮小（内側＋外側）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使用材料／麻酔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（材料なし） ／ 局所麻酔（ご希望で静脈麻酔）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ダウンタイム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腫れ・内出血は軽め／抜糸5〜7日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566928" y="7772400"/>
            <a:ext cx="3077337" cy="137160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7772400"/>
            <a:ext cx="73152" cy="1371600"/>
          </a:xfrm>
          <a:prstGeom prst="rect">
            <a:avLst/>
          </a:prstGeom>
          <a:solidFill>
            <a:srgbClr val="B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7900416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B0553A"/>
                </a:solidFill>
                <a:latin typeface="游ゴシック"/>
                <a:ea typeface="游ゴシック"/>
              </a:rPr>
              <a:t>リスク・副作用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8229600"/>
            <a:ext cx="266585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869" b="0">
                <a:solidFill>
                  <a:srgbClr val="3A3326"/>
                </a:solidFill>
                <a:latin typeface="游ゴシック"/>
                <a:ea typeface="游ゴシック"/>
              </a:rPr>
              <a:t>・腫れ、内出血、傷あと（徐々に目立ちにくく）
・左右差、後戻りが生じる可能性
・仕上がりに個人差があります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18585" y="7772400"/>
            <a:ext cx="3077337" cy="137160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74617" y="7900416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8C7339"/>
                </a:solidFill>
                <a:latin typeface="游ゴシック"/>
                <a:ea typeface="游ゴシック"/>
              </a:rPr>
              <a:t>通常料金（税込）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74617" y="8202168"/>
            <a:ext cx="26658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3A3326"/>
                </a:solidFill>
                <a:latin typeface="游明朝"/>
                <a:ea typeface="游明朝"/>
              </a:rPr>
              <a:t>¥330,000〜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74617" y="8659368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医療ローン　</a:t>
            </a:r>
            <a:r>
              <a:rPr sz="1200" b="1">
                <a:solidFill>
                  <a:srgbClr val="8C7339"/>
                </a:solidFill>
                <a:latin typeface="游ゴシック"/>
                <a:ea typeface="游ゴシック"/>
              </a:rPr>
              <a:t>月々 ¥5,900〜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74617" y="8933688"/>
            <a:ext cx="266585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※60回の一例。部分／全額モニター・最新料金は院内・カウンセリングで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9235440"/>
            <a:ext cx="6428994" cy="82296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9354312"/>
            <a:ext cx="588035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B0934E"/>
                </a:solidFill>
                <a:latin typeface="游ゴシック"/>
                <a:ea typeface="游ゴシック"/>
              </a:rPr>
              <a:t>患者さまの声 ／ Dr.コメント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9619488"/>
            <a:ext cx="58803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3326"/>
                </a:solidFill>
                <a:latin typeface="游ゴシック"/>
                <a:ea typeface="游ゴシック"/>
              </a:rPr>
              <a:t>小さくしすぎず、正面の余白だけ整えました。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10304590"/>
            <a:ext cx="4500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鼻整形 デザインカタログ｜Case 09｜小鼻が大きい・広い（小鼻縮小）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762" y="1030459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Zetith Beauty Clinic Fukuoka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ounded Rectangle 11"/>
          <p:cNvSpPr/>
          <p:nvPr/>
        </p:nvSpPr>
        <p:spPr>
          <a:xfrm>
            <a:off x="566928" y="1691640"/>
            <a:ext cx="6428994" cy="393192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1"/>
          </p:nvPr>
        </p:nvSpPr>
        <p:spPr/>
      </p:sp>
      <p:sp>
        <p:nvSpPr>
          <p:cNvPr id="4" name="TextBox 3"/>
          <p:cNvSpPr txBox="1"/>
          <p:nvPr/>
        </p:nvSpPr>
        <p:spPr>
          <a:xfrm>
            <a:off x="566928" y="457200"/>
            <a:ext cx="642899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CASE 10 ／ NOSTRILS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642899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3A3326"/>
                </a:solidFill>
                <a:latin typeface="游明朝"/>
                <a:ea typeface="游明朝"/>
              </a:rPr>
              <a:t>鼻翼が下がっている（ACR）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842" y="457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934E"/>
                </a:solidFill>
                <a:latin typeface="游明朝"/>
                <a:ea typeface="游明朝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1417320" cy="237744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74160"/>
            <a:ext cx="1417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8C7339"/>
                </a:solidFill>
                <a:latin typeface="游ゴシック"/>
                <a:ea typeface="游ゴシック"/>
              </a:rPr>
              <a:t>部位：小鼻・鼻の穴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93976" y="1280160"/>
            <a:ext cx="868680" cy="237744"/>
          </a:xfrm>
          <a:prstGeom prst="round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93976" y="1274160"/>
            <a:ext cx="8686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游ゴシック"/>
                <a:ea typeface="游ゴシック"/>
              </a:rPr>
              <a:t>可愛い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2722" y="1278160"/>
            <a:ext cx="2743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7A7060"/>
                </a:solidFill>
                <a:latin typeface="游ゴシック"/>
                <a:ea typeface="游ゴシック"/>
              </a:rPr>
              <a:t>クローズド法　｜　20代／横顔：半ラウンド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1874519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明朝"/>
                <a:ea typeface="游明朝"/>
              </a:rPr>
              <a:t>Before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8585" y="1874519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明朝"/>
                <a:ea typeface="游明朝"/>
              </a:rPr>
              <a:t>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1874519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0934E"/>
                </a:solidFill>
                <a:latin typeface="游明朝"/>
                <a:ea typeface="游明朝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486400"/>
            <a:ext cx="642899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7A7060"/>
                </a:solidFill>
                <a:latin typeface="游ゴシック"/>
                <a:ea typeface="游ゴシック"/>
              </a:rPr>
              <a:t>▲ Before・After それぞれの枠をクリックして写真を挿入（自動で枠いっぱいに配置されます）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897880"/>
            <a:ext cx="6428994" cy="54864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897880"/>
            <a:ext cx="1371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8C7339"/>
                </a:solidFill>
                <a:latin typeface="游ゴシック"/>
                <a:ea typeface="游ゴシック"/>
              </a:rPr>
              <a:t>設計のポイント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67128" y="5897880"/>
            <a:ext cx="460019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A3326"/>
                </a:solidFill>
                <a:latin typeface="游ゴシック"/>
                <a:ea typeface="游ゴシック"/>
              </a:rPr>
              <a:t>鼻を下ろしながら小鼻を上げ、あざと可愛いバランスへ。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66928" y="6583680"/>
          <a:ext cx="6428993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538"/>
                <a:gridCol w="4757455"/>
              </a:tblGrid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術式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ACR（鼻翼縁挙上）＋鼻尖形成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使用材料／麻酔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自家組織（耳介軟骨） ／ 静脈麻酔＋局所麻酔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ダウンタイム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腫れのピーク3〜6日／抜糸5〜7日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566928" y="7772400"/>
            <a:ext cx="3077337" cy="137160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7772400"/>
            <a:ext cx="73152" cy="1371600"/>
          </a:xfrm>
          <a:prstGeom prst="rect">
            <a:avLst/>
          </a:prstGeom>
          <a:solidFill>
            <a:srgbClr val="B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7900416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B0553A"/>
                </a:solidFill>
                <a:latin typeface="游ゴシック"/>
                <a:ea typeface="游ゴシック"/>
              </a:rPr>
              <a:t>リスク・副作用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8229600"/>
            <a:ext cx="266585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869" b="0">
                <a:solidFill>
                  <a:srgbClr val="3A3326"/>
                </a:solidFill>
                <a:latin typeface="游ゴシック"/>
                <a:ea typeface="游ゴシック"/>
              </a:rPr>
              <a:t>・腫れ、内出血、傷あと（徐々に目立ちにくく）
・左右差、後戻りが生じる可能性
・仕上がりに個人差があります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18585" y="7772400"/>
            <a:ext cx="3077337" cy="137160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74617" y="7900416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8C7339"/>
                </a:solidFill>
                <a:latin typeface="游ゴシック"/>
                <a:ea typeface="游ゴシック"/>
              </a:rPr>
              <a:t>通常料金（税込）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74617" y="8202168"/>
            <a:ext cx="26658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3A3326"/>
                </a:solidFill>
                <a:latin typeface="游明朝"/>
                <a:ea typeface="游明朝"/>
              </a:rPr>
              <a:t>¥440,000〜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74617" y="8659368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医療ローン　</a:t>
            </a:r>
            <a:r>
              <a:rPr sz="1200" b="1">
                <a:solidFill>
                  <a:srgbClr val="8C7339"/>
                </a:solidFill>
                <a:latin typeface="游ゴシック"/>
                <a:ea typeface="游ゴシック"/>
              </a:rPr>
              <a:t>月々 ¥7,800〜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74617" y="8933688"/>
            <a:ext cx="266585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※60回の一例。部分／全額モニター・最新料金は院内・カウンセリングで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9235440"/>
            <a:ext cx="6428994" cy="82296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9354312"/>
            <a:ext cx="588035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B0934E"/>
                </a:solidFill>
                <a:latin typeface="游ゴシック"/>
                <a:ea typeface="游ゴシック"/>
              </a:rPr>
              <a:t>患者さまの声 ／ Dr.コメント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9619488"/>
            <a:ext cx="58803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3326"/>
                </a:solidFill>
                <a:latin typeface="游ゴシック"/>
                <a:ea typeface="游ゴシック"/>
              </a:rPr>
              <a:t>正面の印象があざと可愛くなる繊細な調整です。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10304590"/>
            <a:ext cx="4500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鼻整形 デザインカタログ｜Case 10｜鼻翼が下がっている（ACR）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762" y="1030459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Zetith Beauty Clinic Fukuoka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ounded Rectangle 11"/>
          <p:cNvSpPr/>
          <p:nvPr/>
        </p:nvSpPr>
        <p:spPr>
          <a:xfrm>
            <a:off x="566928" y="1691640"/>
            <a:ext cx="6428994" cy="393192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1"/>
          </p:nvPr>
        </p:nvSpPr>
        <p:spPr/>
      </p:sp>
      <p:sp>
        <p:nvSpPr>
          <p:cNvPr id="4" name="TextBox 3"/>
          <p:cNvSpPr txBox="1"/>
          <p:nvPr/>
        </p:nvSpPr>
        <p:spPr>
          <a:xfrm>
            <a:off x="566928" y="457200"/>
            <a:ext cx="642899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CASE 11 ／ NOSTRILS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642899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3A3326"/>
                </a:solidFill>
                <a:latin typeface="游明朝"/>
                <a:ea typeface="游明朝"/>
              </a:rPr>
              <a:t>鼻の穴が目立つ・左右差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842" y="457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934E"/>
                </a:solidFill>
                <a:latin typeface="游明朝"/>
                <a:ea typeface="游明朝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1417320" cy="237744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74160"/>
            <a:ext cx="1417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8C7339"/>
                </a:solidFill>
                <a:latin typeface="游ゴシック"/>
                <a:ea typeface="游ゴシック"/>
              </a:rPr>
              <a:t>部位：小鼻・鼻の穴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93976" y="1280160"/>
            <a:ext cx="868680" cy="237744"/>
          </a:xfrm>
          <a:prstGeom prst="round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93976" y="1274160"/>
            <a:ext cx="8686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游ゴシック"/>
                <a:ea typeface="游ゴシック"/>
              </a:rPr>
              <a:t>忘れ鼻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2722" y="1278160"/>
            <a:ext cx="2743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7A7060"/>
                </a:solidFill>
                <a:latin typeface="游ゴシック"/>
                <a:ea typeface="游ゴシック"/>
              </a:rPr>
              <a:t>クローズド法　｜　20代／横顔：ストレート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1874519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明朝"/>
                <a:ea typeface="游明朝"/>
              </a:rPr>
              <a:t>Before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8585" y="1874519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明朝"/>
                <a:ea typeface="游明朝"/>
              </a:rPr>
              <a:t>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1874519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0934E"/>
                </a:solidFill>
                <a:latin typeface="游明朝"/>
                <a:ea typeface="游明朝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486400"/>
            <a:ext cx="642899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7A7060"/>
                </a:solidFill>
                <a:latin typeface="游ゴシック"/>
                <a:ea typeface="游ゴシック"/>
              </a:rPr>
              <a:t>▲ Before・After それぞれの枠をクリックして写真を挿入（自動で枠いっぱいに配置されます）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897880"/>
            <a:ext cx="6428994" cy="54864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897880"/>
            <a:ext cx="1371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8C7339"/>
                </a:solidFill>
                <a:latin typeface="游ゴシック"/>
                <a:ea typeface="游ゴシック"/>
              </a:rPr>
              <a:t>設計のポイント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67128" y="5897880"/>
            <a:ext cx="460019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A3326"/>
                </a:solidFill>
                <a:latin typeface="游ゴシック"/>
                <a:ea typeface="游ゴシック"/>
              </a:rPr>
              <a:t>正面・下からの鼻の穴の見え方と左右差を整える。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66928" y="6583680"/>
          <a:ext cx="6428993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538"/>
                <a:gridCol w="4757455"/>
              </a:tblGrid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術式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鼻尖形成＋小鼻・鼻柱の調整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使用材料／麻酔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自家組織（耳介・鼻中隔軟骨） ／ 静脈麻酔＋局所麻酔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ダウンタイム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腫れのピーク3〜6日／抜糸5〜7日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566928" y="7772400"/>
            <a:ext cx="3077337" cy="137160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7772400"/>
            <a:ext cx="73152" cy="1371600"/>
          </a:xfrm>
          <a:prstGeom prst="rect">
            <a:avLst/>
          </a:prstGeom>
          <a:solidFill>
            <a:srgbClr val="B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7900416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B0553A"/>
                </a:solidFill>
                <a:latin typeface="游ゴシック"/>
                <a:ea typeface="游ゴシック"/>
              </a:rPr>
              <a:t>リスク・副作用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8229600"/>
            <a:ext cx="266585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869" b="0">
                <a:solidFill>
                  <a:srgbClr val="3A3326"/>
                </a:solidFill>
                <a:latin typeface="游ゴシック"/>
                <a:ea typeface="游ゴシック"/>
              </a:rPr>
              <a:t>・腫れ、内出血、痛み、左右差の可能性
・完全な左右対称は保証できません
・効果に個人差があります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18585" y="7772400"/>
            <a:ext cx="3077337" cy="137160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74617" y="7900416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8C7339"/>
                </a:solidFill>
                <a:latin typeface="游ゴシック"/>
                <a:ea typeface="游ゴシック"/>
              </a:rPr>
              <a:t>通常料金（税込）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74617" y="8202168"/>
            <a:ext cx="26658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3A3326"/>
                </a:solidFill>
                <a:latin typeface="游明朝"/>
                <a:ea typeface="游明朝"/>
              </a:rPr>
              <a:t>¥440,000〜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74617" y="8659368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医療ローン　</a:t>
            </a:r>
            <a:r>
              <a:rPr sz="1200" b="1">
                <a:solidFill>
                  <a:srgbClr val="8C7339"/>
                </a:solidFill>
                <a:latin typeface="游ゴシック"/>
                <a:ea typeface="游ゴシック"/>
              </a:rPr>
              <a:t>月々 ¥7,800〜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74617" y="8933688"/>
            <a:ext cx="266585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※60回の一例。部分／全額モニター・最新料金は院内・カウンセリングで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9235440"/>
            <a:ext cx="6428994" cy="82296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9354312"/>
            <a:ext cx="588035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B0934E"/>
                </a:solidFill>
                <a:latin typeface="游ゴシック"/>
                <a:ea typeface="游ゴシック"/>
              </a:rPr>
              <a:t>患者さまの声 ／ Dr.コメント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9619488"/>
            <a:ext cx="58803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3326"/>
                </a:solidFill>
                <a:latin typeface="游ゴシック"/>
                <a:ea typeface="游ゴシック"/>
              </a:rPr>
              <a:t>正面から鼻の穴が見えにくくなりました。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10304590"/>
            <a:ext cx="4500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鼻整形 デザインカタログ｜Case 11｜鼻の穴が目立つ・左右差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762" y="1030459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Zetith Beauty Clinic Fukuoka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0688638"/>
          </a:xfrm>
          <a:prstGeom prst="rect">
            <a:avLst/>
          </a:prstGeom>
          <a:solidFill>
            <a:srgbClr val="26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7562850" cy="9525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48558"/>
            <a:ext cx="7562850" cy="9525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5842" y="457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游明朝"/>
                <a:ea typeface="游明朝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97280"/>
            <a:ext cx="642899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0934E"/>
                </a:solidFill>
                <a:latin typeface="游ゴシック"/>
                <a:ea typeface="游ゴシック"/>
              </a:rPr>
              <a:t>CHAPTER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468880"/>
            <a:ext cx="642899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游明朝"/>
                <a:ea typeface="游明朝"/>
              </a:rPr>
              <a:t>BALANCE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429000"/>
            <a:ext cx="64289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B0934E"/>
                </a:solidFill>
                <a:latin typeface="游明朝"/>
                <a:ea typeface="游明朝"/>
              </a:rPr>
              <a:t>― お悩み：全体・横顔 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114800"/>
            <a:ext cx="642899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7DFCE"/>
                </a:solidFill>
                <a:latin typeface="游ゴシック"/>
                <a:ea typeface="游ゴシック"/>
              </a:rPr>
              <a:t>鼻の長さ・向き・Eライン——全体バランスのお悩み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15568" y="5074920"/>
            <a:ext cx="5331714" cy="694944"/>
          </a:xfrm>
          <a:prstGeom prst="roundRect">
            <a:avLst/>
          </a:prstGeom>
          <a:solidFill>
            <a:srgbClr val="332E25"/>
          </a:solidFill>
          <a:ln w="9525">
            <a:solidFill>
              <a:srgbClr val="B09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44168" y="5074920"/>
            <a:ext cx="30175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B0934E"/>
                </a:solidFill>
                <a:latin typeface="游明朝"/>
                <a:ea typeface="游明朝"/>
              </a:rPr>
              <a:t>中顔面が長い（中顔面短縮）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5074920"/>
            <a:ext cx="1856994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7DFCE"/>
                </a:solidFill>
                <a:latin typeface="游ゴシック"/>
                <a:ea typeface="游ゴシック"/>
              </a:rPr>
              <a:t>鼻の長さを調整して小顔印象に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5568" y="5916168"/>
            <a:ext cx="5331714" cy="694944"/>
          </a:xfrm>
          <a:prstGeom prst="roundRect">
            <a:avLst/>
          </a:prstGeom>
          <a:solidFill>
            <a:srgbClr val="332E25"/>
          </a:solidFill>
          <a:ln w="9525">
            <a:solidFill>
              <a:srgbClr val="B09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4168" y="5916168"/>
            <a:ext cx="30175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B0934E"/>
                </a:solidFill>
                <a:latin typeface="游明朝"/>
                <a:ea typeface="游明朝"/>
              </a:rPr>
              <a:t>短鼻・豚鼻（鼻を下ろす）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5916168"/>
            <a:ext cx="1856994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7DFCE"/>
                </a:solidFill>
                <a:latin typeface="游ゴシック"/>
                <a:ea typeface="游ゴシック"/>
              </a:rPr>
              <a:t>上向きの鼻先を下ろして整える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15568" y="6757416"/>
            <a:ext cx="5331714" cy="694944"/>
          </a:xfrm>
          <a:prstGeom prst="roundRect">
            <a:avLst/>
          </a:prstGeom>
          <a:solidFill>
            <a:srgbClr val="332E25"/>
          </a:solidFill>
          <a:ln w="9525">
            <a:solidFill>
              <a:srgbClr val="B09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44168" y="6757416"/>
            <a:ext cx="30175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B0934E"/>
                </a:solidFill>
                <a:latin typeface="游明朝"/>
                <a:ea typeface="游明朝"/>
              </a:rPr>
              <a:t>鼻の付け根が低い・Eライン（貴族手術）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6757416"/>
            <a:ext cx="1856994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7DFCE"/>
                </a:solidFill>
                <a:latin typeface="游ゴシック"/>
                <a:ea typeface="游ゴシック"/>
              </a:rPr>
              <a:t>付け根を起こしてEラインを作る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10304590"/>
            <a:ext cx="4500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C9BEAA"/>
                </a:solidFill>
                <a:latin typeface="游ゴシック"/>
                <a:ea typeface="游ゴシック"/>
              </a:rPr>
              <a:t>鼻整形 デザインカタログ｜BALANCE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762" y="1030459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C9BEAA"/>
                </a:solidFill>
                <a:latin typeface="游ゴシック"/>
                <a:ea typeface="游ゴシック"/>
              </a:rPr>
              <a:t>Zetith Beauty Clinic Fukuoka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ounded Rectangle 11"/>
          <p:cNvSpPr/>
          <p:nvPr/>
        </p:nvSpPr>
        <p:spPr>
          <a:xfrm>
            <a:off x="566928" y="1691640"/>
            <a:ext cx="6428994" cy="393192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1"/>
          </p:nvPr>
        </p:nvSpPr>
        <p:spPr/>
      </p:sp>
      <p:sp>
        <p:nvSpPr>
          <p:cNvPr id="4" name="TextBox 3"/>
          <p:cNvSpPr txBox="1"/>
          <p:nvPr/>
        </p:nvSpPr>
        <p:spPr>
          <a:xfrm>
            <a:off x="566928" y="457200"/>
            <a:ext cx="642899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CASE 12 ／ 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642899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3A3326"/>
                </a:solidFill>
                <a:latin typeface="游明朝"/>
                <a:ea typeface="游明朝"/>
              </a:rPr>
              <a:t>中顔面が長い（中顔面短縮）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842" y="457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934E"/>
                </a:solidFill>
                <a:latin typeface="游明朝"/>
                <a:ea typeface="游明朝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1417320" cy="237744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74160"/>
            <a:ext cx="1417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8C7339"/>
                </a:solidFill>
                <a:latin typeface="游ゴシック"/>
                <a:ea typeface="游ゴシック"/>
              </a:rPr>
              <a:t>部位：全体・横顔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93976" y="1280160"/>
            <a:ext cx="868680" cy="237744"/>
          </a:xfrm>
          <a:prstGeom prst="round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93976" y="1274160"/>
            <a:ext cx="8686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游ゴシック"/>
                <a:ea typeface="游ゴシック"/>
              </a:rPr>
              <a:t>可愛い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2722" y="1278160"/>
            <a:ext cx="2743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7A7060"/>
                </a:solidFill>
                <a:latin typeface="游ゴシック"/>
                <a:ea typeface="游ゴシック"/>
              </a:rPr>
              <a:t>クローズド法　｜　20代／横顔：ストレート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1874519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明朝"/>
                <a:ea typeface="游明朝"/>
              </a:rPr>
              <a:t>Before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8585" y="1874519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明朝"/>
                <a:ea typeface="游明朝"/>
              </a:rPr>
              <a:t>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1874519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0934E"/>
                </a:solidFill>
                <a:latin typeface="游明朝"/>
                <a:ea typeface="游明朝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486400"/>
            <a:ext cx="642899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7A7060"/>
                </a:solidFill>
                <a:latin typeface="游ゴシック"/>
                <a:ea typeface="游ゴシック"/>
              </a:rPr>
              <a:t>▲ Before・After それぞれの枠をクリックして写真を挿入（自動で枠いっぱいに配置されます）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897880"/>
            <a:ext cx="6428994" cy="54864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897880"/>
            <a:ext cx="1371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8C7339"/>
                </a:solidFill>
                <a:latin typeface="游ゴシック"/>
                <a:ea typeface="游ゴシック"/>
              </a:rPr>
              <a:t>設計のポイント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67128" y="5897880"/>
            <a:ext cx="460019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A3326"/>
                </a:solidFill>
                <a:latin typeface="游ゴシック"/>
                <a:ea typeface="游ゴシック"/>
              </a:rPr>
              <a:t>鼻根から上方向へ鼻長を調整し、間延びを抑えて小顔印象に。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66928" y="6583680"/>
          <a:ext cx="6428993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538"/>
                <a:gridCol w="4757455"/>
              </a:tblGrid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術式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鼻尖形成＋鼻中隔調整（クローズド法）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使用材料／麻酔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自家組織（耳介・鼻中隔軟骨） ／ 静脈麻酔＋局所麻酔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ダウンタイム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腫れのピーク3〜6日／2週間でメイクで隠せる程度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566928" y="7772400"/>
            <a:ext cx="3077337" cy="137160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7772400"/>
            <a:ext cx="73152" cy="1371600"/>
          </a:xfrm>
          <a:prstGeom prst="rect">
            <a:avLst/>
          </a:prstGeom>
          <a:solidFill>
            <a:srgbClr val="B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7900416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B0553A"/>
                </a:solidFill>
                <a:latin typeface="游ゴシック"/>
                <a:ea typeface="游ゴシック"/>
              </a:rPr>
              <a:t>リスク・副作用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8229600"/>
            <a:ext cx="266585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869" b="0">
                <a:solidFill>
                  <a:srgbClr val="3A3326"/>
                </a:solidFill>
                <a:latin typeface="游ゴシック"/>
                <a:ea typeface="游ゴシック"/>
              </a:rPr>
              <a:t>・腫れ、内出血、痛み、感染のリスク
・移植軟骨の輪郭が出る・後戻りの可能性
・効果に個人差があります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18585" y="7772400"/>
            <a:ext cx="3077337" cy="137160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74617" y="7900416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8C7339"/>
                </a:solidFill>
                <a:latin typeface="游ゴシック"/>
                <a:ea typeface="游ゴシック"/>
              </a:rPr>
              <a:t>通常料金（税込）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74617" y="8202168"/>
            <a:ext cx="26658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3A3326"/>
                </a:solidFill>
                <a:latin typeface="游明朝"/>
                <a:ea typeface="游明朝"/>
              </a:rPr>
              <a:t>¥495,000〜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74617" y="8659368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医療ローン　</a:t>
            </a:r>
            <a:r>
              <a:rPr sz="1200" b="1">
                <a:solidFill>
                  <a:srgbClr val="8C7339"/>
                </a:solidFill>
                <a:latin typeface="游ゴシック"/>
                <a:ea typeface="游ゴシック"/>
              </a:rPr>
              <a:t>月々 ¥8,800〜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74617" y="8933688"/>
            <a:ext cx="266585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※60回の一例。部分／全額モニター・最新料金は院内・カウンセリングで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9235440"/>
            <a:ext cx="6428994" cy="82296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9354312"/>
            <a:ext cx="588035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B0934E"/>
                </a:solidFill>
                <a:latin typeface="游ゴシック"/>
                <a:ea typeface="游ゴシック"/>
              </a:rPr>
              <a:t>患者さまの声 ／ Dr.コメント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9619488"/>
            <a:ext cx="58803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3326"/>
                </a:solidFill>
                <a:latin typeface="游ゴシック"/>
                <a:ea typeface="游ゴシック"/>
              </a:rPr>
              <a:t>鼻の長さが変わるだけで顔が小さく見えます。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10304590"/>
            <a:ext cx="4500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鼻整形 デザインカタログ｜Case 12｜中顔面が長い（中顔面短縮）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762" y="1030459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Zetith Beauty Clinic Fukuoka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ounded Rectangle 11"/>
          <p:cNvSpPr/>
          <p:nvPr/>
        </p:nvSpPr>
        <p:spPr>
          <a:xfrm>
            <a:off x="566928" y="1691640"/>
            <a:ext cx="6428994" cy="393192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1"/>
          </p:nvPr>
        </p:nvSpPr>
        <p:spPr/>
      </p:sp>
      <p:sp>
        <p:nvSpPr>
          <p:cNvPr id="4" name="TextBox 3"/>
          <p:cNvSpPr txBox="1"/>
          <p:nvPr/>
        </p:nvSpPr>
        <p:spPr>
          <a:xfrm>
            <a:off x="566928" y="457200"/>
            <a:ext cx="642899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CASE 13 ／ 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642899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3A3326"/>
                </a:solidFill>
                <a:latin typeface="游明朝"/>
                <a:ea typeface="游明朝"/>
              </a:rPr>
              <a:t>短鼻・豚鼻（鼻を下ろす）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842" y="457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934E"/>
                </a:solidFill>
                <a:latin typeface="游明朝"/>
                <a:ea typeface="游明朝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1417320" cy="237744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74160"/>
            <a:ext cx="1417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8C7339"/>
                </a:solidFill>
                <a:latin typeface="游ゴシック"/>
                <a:ea typeface="游ゴシック"/>
              </a:rPr>
              <a:t>部位：全体・横顔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93976" y="1280160"/>
            <a:ext cx="868680" cy="237744"/>
          </a:xfrm>
          <a:prstGeom prst="round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93976" y="1274160"/>
            <a:ext cx="8686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游ゴシック"/>
                <a:ea typeface="游ゴシック"/>
              </a:rPr>
              <a:t>華やか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2722" y="1278160"/>
            <a:ext cx="2743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7A7060"/>
                </a:solidFill>
                <a:latin typeface="游ゴシック"/>
                <a:ea typeface="游ゴシック"/>
              </a:rPr>
              <a:t>クローズド法　｜　20代／横顔：ストレート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1874519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明朝"/>
                <a:ea typeface="游明朝"/>
              </a:rPr>
              <a:t>Before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8585" y="1874519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明朝"/>
                <a:ea typeface="游明朝"/>
              </a:rPr>
              <a:t>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1874519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0934E"/>
                </a:solidFill>
                <a:latin typeface="游明朝"/>
                <a:ea typeface="游明朝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486400"/>
            <a:ext cx="642899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7A7060"/>
                </a:solidFill>
                <a:latin typeface="游ゴシック"/>
                <a:ea typeface="游ゴシック"/>
              </a:rPr>
              <a:t>▲ Before・After それぞれの枠をクリックして写真を挿入（自動で枠いっぱいに配置されます）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897880"/>
            <a:ext cx="6428994" cy="54864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897880"/>
            <a:ext cx="1371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8C7339"/>
                </a:solidFill>
                <a:latin typeface="游ゴシック"/>
                <a:ea typeface="游ゴシック"/>
              </a:rPr>
              <a:t>設計のポイント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67128" y="5897880"/>
            <a:ext cx="460019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A3326"/>
                </a:solidFill>
                <a:latin typeface="游ゴシック"/>
                <a:ea typeface="游ゴシック"/>
              </a:rPr>
              <a:t>上向きの鼻先を自然に下ろし、向きと高さを整える。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66928" y="6583680"/>
          <a:ext cx="6428993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538"/>
                <a:gridCol w="4757455"/>
              </a:tblGrid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術式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鼻中隔延長＋鼻尖形成（クローズド法）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使用材料／麻酔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自家組織（鼻中隔・耳介軟骨） ／ 静脈麻酔＋局所麻酔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ダウンタイム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腫れのピーク3〜6日／ギプス固定約7日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566928" y="7772400"/>
            <a:ext cx="3077337" cy="137160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7772400"/>
            <a:ext cx="73152" cy="1371600"/>
          </a:xfrm>
          <a:prstGeom prst="rect">
            <a:avLst/>
          </a:prstGeom>
          <a:solidFill>
            <a:srgbClr val="B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7900416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B0553A"/>
                </a:solidFill>
                <a:latin typeface="游ゴシック"/>
                <a:ea typeface="游ゴシック"/>
              </a:rPr>
              <a:t>リスク・副作用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8229600"/>
            <a:ext cx="266585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869" b="0">
                <a:solidFill>
                  <a:srgbClr val="3A3326"/>
                </a:solidFill>
                <a:latin typeface="游ゴシック"/>
                <a:ea typeface="游ゴシック"/>
              </a:rPr>
              <a:t>・腫れ、内出血、痛み、感染のリスク
・延長量により後戻り・知覚の鈍さの可能性
・効果に個人差があり、修正が必要な場合があります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18585" y="7772400"/>
            <a:ext cx="3077337" cy="137160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74617" y="7900416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8C7339"/>
                </a:solidFill>
                <a:latin typeface="游ゴシック"/>
                <a:ea typeface="游ゴシック"/>
              </a:rPr>
              <a:t>通常料金（税込）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74617" y="8202168"/>
            <a:ext cx="26658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3A3326"/>
                </a:solidFill>
                <a:latin typeface="游明朝"/>
                <a:ea typeface="游明朝"/>
              </a:rPr>
              <a:t>¥550,000〜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74617" y="8659368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医療ローン　</a:t>
            </a:r>
            <a:r>
              <a:rPr sz="1200" b="1">
                <a:solidFill>
                  <a:srgbClr val="8C7339"/>
                </a:solidFill>
                <a:latin typeface="游ゴシック"/>
                <a:ea typeface="游ゴシック"/>
              </a:rPr>
              <a:t>月々 ¥9,800〜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74617" y="8933688"/>
            <a:ext cx="266585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※60回の一例。部分／全額モニター・最新料金は院内・カウンセリングで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9235440"/>
            <a:ext cx="6428994" cy="82296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9354312"/>
            <a:ext cx="588035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B0934E"/>
                </a:solidFill>
                <a:latin typeface="游ゴシック"/>
                <a:ea typeface="游ゴシック"/>
              </a:rPr>
              <a:t>患者さまの声 ／ Dr.コメント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9619488"/>
            <a:ext cx="58803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3326"/>
                </a:solidFill>
                <a:latin typeface="游ゴシック"/>
                <a:ea typeface="游ゴシック"/>
              </a:rPr>
              <a:t>上向きの鼻が下りて横顔が一段上がりました。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10304590"/>
            <a:ext cx="4500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鼻整形 デザインカタログ｜Case 13｜短鼻・豚鼻（鼻を下ろす）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762" y="1030459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Zetith Beauty Clinic Fukuoka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ounded Rectangle 11"/>
          <p:cNvSpPr/>
          <p:nvPr/>
        </p:nvSpPr>
        <p:spPr>
          <a:xfrm>
            <a:off x="566928" y="1691640"/>
            <a:ext cx="6428994" cy="393192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1"/>
          </p:nvPr>
        </p:nvSpPr>
        <p:spPr/>
      </p:sp>
      <p:sp>
        <p:nvSpPr>
          <p:cNvPr id="4" name="TextBox 3"/>
          <p:cNvSpPr txBox="1"/>
          <p:nvPr/>
        </p:nvSpPr>
        <p:spPr>
          <a:xfrm>
            <a:off x="566928" y="457200"/>
            <a:ext cx="642899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CASE 14 ／ 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642899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3A3326"/>
                </a:solidFill>
                <a:latin typeface="游明朝"/>
                <a:ea typeface="游明朝"/>
              </a:rPr>
              <a:t>鼻の付け根が低い・Eライン（貴族手術）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842" y="457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934E"/>
                </a:solidFill>
                <a:latin typeface="游明朝"/>
                <a:ea typeface="游明朝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1417320" cy="237744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74160"/>
            <a:ext cx="1417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8C7339"/>
                </a:solidFill>
                <a:latin typeface="游ゴシック"/>
                <a:ea typeface="游ゴシック"/>
              </a:rPr>
              <a:t>部位：全体・横顔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93976" y="1280160"/>
            <a:ext cx="868680" cy="237744"/>
          </a:xfrm>
          <a:prstGeom prst="round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93976" y="1274160"/>
            <a:ext cx="8686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游ゴシック"/>
                <a:ea typeface="游ゴシック"/>
              </a:rPr>
              <a:t>華やか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2722" y="1278160"/>
            <a:ext cx="2743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7A7060"/>
                </a:solidFill>
                <a:latin typeface="游ゴシック"/>
                <a:ea typeface="游ゴシック"/>
              </a:rPr>
              <a:t>クローズド法　｜　30代／横顔：ストレート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1874519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明朝"/>
                <a:ea typeface="游明朝"/>
              </a:rPr>
              <a:t>Before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8585" y="1874519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明朝"/>
                <a:ea typeface="游明朝"/>
              </a:rPr>
              <a:t>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1874519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0934E"/>
                </a:solidFill>
                <a:latin typeface="游明朝"/>
                <a:ea typeface="游明朝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486400"/>
            <a:ext cx="642899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7A7060"/>
                </a:solidFill>
                <a:latin typeface="游ゴシック"/>
                <a:ea typeface="游ゴシック"/>
              </a:rPr>
              <a:t>▲ Before・After それぞれの枠をクリックして写真を挿入（自動で枠いっぱいに配置されます）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897880"/>
            <a:ext cx="6428994" cy="54864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897880"/>
            <a:ext cx="1371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8C7339"/>
                </a:solidFill>
                <a:latin typeface="游ゴシック"/>
                <a:ea typeface="游ゴシック"/>
              </a:rPr>
              <a:t>設計のポイント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67128" y="5897880"/>
            <a:ext cx="460019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A3326"/>
                </a:solidFill>
                <a:latin typeface="游ゴシック"/>
                <a:ea typeface="游ゴシック"/>
              </a:rPr>
              <a:t>鼻の付け根を起こし、横顔の表現力（Eライン）を演出。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66928" y="6583680"/>
          <a:ext cx="6428993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538"/>
                <a:gridCol w="4757455"/>
              </a:tblGrid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術式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貴族手術（鼻基底）＋隆鼻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使用材料／麻酔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プロテーゼ／ヒアルロン酸／自家組織 ／ 静脈麻酔＋局所麻酔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ダウンタイム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腫れのピーク3〜6日／内出血が出ることがあります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566928" y="7772400"/>
            <a:ext cx="3077337" cy="137160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7772400"/>
            <a:ext cx="73152" cy="1371600"/>
          </a:xfrm>
          <a:prstGeom prst="rect">
            <a:avLst/>
          </a:prstGeom>
          <a:solidFill>
            <a:srgbClr val="B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7900416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B0553A"/>
                </a:solidFill>
                <a:latin typeface="游ゴシック"/>
                <a:ea typeface="游ゴシック"/>
              </a:rPr>
              <a:t>リスク・副作用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8229600"/>
            <a:ext cx="266585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869" b="0">
                <a:solidFill>
                  <a:srgbClr val="3A3326"/>
                </a:solidFill>
                <a:latin typeface="游ゴシック"/>
                <a:ea typeface="游ゴシック"/>
              </a:rPr>
              <a:t>・腫れ、内出血、痛み、感染のリスク
・左右差・吸収（ヒアルロン酸の場合）の可能性
・効果に個人差があります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18585" y="7772400"/>
            <a:ext cx="3077337" cy="137160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74617" y="7900416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8C7339"/>
                </a:solidFill>
                <a:latin typeface="游ゴシック"/>
                <a:ea typeface="游ゴシック"/>
              </a:rPr>
              <a:t>通常料金（税込）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74617" y="8202168"/>
            <a:ext cx="26658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3A3326"/>
                </a:solidFill>
                <a:latin typeface="游明朝"/>
                <a:ea typeface="游明朝"/>
              </a:rPr>
              <a:t>¥385,000〜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74617" y="8659368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医療ローン　</a:t>
            </a:r>
            <a:r>
              <a:rPr sz="1200" b="1">
                <a:solidFill>
                  <a:srgbClr val="8C7339"/>
                </a:solidFill>
                <a:latin typeface="游ゴシック"/>
                <a:ea typeface="游ゴシック"/>
              </a:rPr>
              <a:t>月々 ¥6,900〜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74617" y="8933688"/>
            <a:ext cx="266585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※60回の一例。部分／全額モニター・最新料金は院内・カウンセリングで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9235440"/>
            <a:ext cx="6428994" cy="82296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9354312"/>
            <a:ext cx="588035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B0934E"/>
                </a:solidFill>
                <a:latin typeface="游ゴシック"/>
                <a:ea typeface="游ゴシック"/>
              </a:rPr>
              <a:t>患者さまの声 ／ Dr.コメント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9619488"/>
            <a:ext cx="58803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3326"/>
                </a:solidFill>
                <a:latin typeface="游ゴシック"/>
                <a:ea typeface="游ゴシック"/>
              </a:rPr>
              <a:t>付け根を起こすとEラインと立体感が出ます。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10304590"/>
            <a:ext cx="4500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鼻整形 デザインカタログ｜Case 14｜鼻の付け根が低い・Eライン（貴族手術）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762" y="1030459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Zetith Beauty Clinic Fukuoka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0688638"/>
          </a:xfrm>
          <a:prstGeom prst="rect">
            <a:avLst/>
          </a:prstGeom>
          <a:solidFill>
            <a:srgbClr val="26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7562850" cy="9525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48558"/>
            <a:ext cx="7562850" cy="9525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5842" y="457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游明朝"/>
                <a:ea typeface="游明朝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97280"/>
            <a:ext cx="642899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0934E"/>
                </a:solidFill>
                <a:latin typeface="游ゴシック"/>
                <a:ea typeface="游ゴシック"/>
              </a:rPr>
              <a:t>CHAPTER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468880"/>
            <a:ext cx="642899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游明朝"/>
                <a:ea typeface="游明朝"/>
              </a:rPr>
              <a:t>REVISION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429000"/>
            <a:ext cx="64289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B0934E"/>
                </a:solidFill>
                <a:latin typeface="游明朝"/>
                <a:ea typeface="游明朝"/>
              </a:rPr>
              <a:t>― お悩み：専門・修正 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114800"/>
            <a:ext cx="642899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7DFCE"/>
                </a:solidFill>
                <a:latin typeface="游ゴシック"/>
                <a:ea typeface="游ゴシック"/>
              </a:rPr>
              <a:t>拘縮・他院修正・外傷——専門的な修正のお悩み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15568" y="5074920"/>
            <a:ext cx="5331714" cy="694944"/>
          </a:xfrm>
          <a:prstGeom prst="roundRect">
            <a:avLst/>
          </a:prstGeom>
          <a:solidFill>
            <a:srgbClr val="332E25"/>
          </a:solidFill>
          <a:ln w="9525">
            <a:solidFill>
              <a:srgbClr val="B09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44168" y="5074920"/>
            <a:ext cx="30175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B0934E"/>
                </a:solidFill>
                <a:latin typeface="游明朝"/>
                <a:ea typeface="游明朝"/>
              </a:rPr>
              <a:t>拘縮鼻の修正（肋軟骨）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5074920"/>
            <a:ext cx="1856994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7DFCE"/>
                </a:solidFill>
                <a:latin typeface="游ゴシック"/>
                <a:ea typeface="游ゴシック"/>
              </a:rPr>
              <a:t>拘縮した鼻を肋軟骨で作り直す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5568" y="5916168"/>
            <a:ext cx="5331714" cy="694944"/>
          </a:xfrm>
          <a:prstGeom prst="roundRect">
            <a:avLst/>
          </a:prstGeom>
          <a:solidFill>
            <a:srgbClr val="332E25"/>
          </a:solidFill>
          <a:ln w="9525">
            <a:solidFill>
              <a:srgbClr val="B09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4168" y="5916168"/>
            <a:ext cx="30175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B0934E"/>
                </a:solidFill>
                <a:latin typeface="游明朝"/>
                <a:ea typeface="游明朝"/>
              </a:rPr>
              <a:t>他院修正・外傷後の変形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5916168"/>
            <a:ext cx="1856994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7DFCE"/>
                </a:solidFill>
                <a:latin typeface="游ゴシック"/>
                <a:ea typeface="游ゴシック"/>
              </a:rPr>
              <a:t>他院修正・外傷後の変形に対応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0304590"/>
            <a:ext cx="4500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C9BEAA"/>
                </a:solidFill>
                <a:latin typeface="游ゴシック"/>
                <a:ea typeface="游ゴシック"/>
              </a:rPr>
              <a:t>鼻整形 デザインカタログ｜REVISION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762" y="1030459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C9BEAA"/>
                </a:solidFill>
                <a:latin typeface="游ゴシック"/>
                <a:ea typeface="游ゴシック"/>
              </a:rPr>
              <a:t>Zetith Beauty Clinic Fukuoka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ounded Rectangle 11"/>
          <p:cNvSpPr/>
          <p:nvPr/>
        </p:nvSpPr>
        <p:spPr>
          <a:xfrm>
            <a:off x="566928" y="1691640"/>
            <a:ext cx="6428994" cy="393192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1"/>
          </p:nvPr>
        </p:nvSpPr>
        <p:spPr/>
      </p:sp>
      <p:sp>
        <p:nvSpPr>
          <p:cNvPr id="4" name="TextBox 3"/>
          <p:cNvSpPr txBox="1"/>
          <p:nvPr/>
        </p:nvSpPr>
        <p:spPr>
          <a:xfrm>
            <a:off x="566928" y="457200"/>
            <a:ext cx="642899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CASE 15 ／ REVISION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642899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3A3326"/>
                </a:solidFill>
                <a:latin typeface="游明朝"/>
                <a:ea typeface="游明朝"/>
              </a:rPr>
              <a:t>拘縮鼻の修正（肋軟骨）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842" y="457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934E"/>
                </a:solidFill>
                <a:latin typeface="游明朝"/>
                <a:ea typeface="游明朝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1417320" cy="237744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74160"/>
            <a:ext cx="1417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8C7339"/>
                </a:solidFill>
                <a:latin typeface="游ゴシック"/>
                <a:ea typeface="游ゴシック"/>
              </a:rPr>
              <a:t>部位：専門・修正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93976" y="1280160"/>
            <a:ext cx="868680" cy="237744"/>
          </a:xfrm>
          <a:prstGeom prst="round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93976" y="1274160"/>
            <a:ext cx="8686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游ゴシック"/>
                <a:ea typeface="游ゴシック"/>
              </a:rPr>
              <a:t>忘れ鼻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2722" y="1278160"/>
            <a:ext cx="2743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7A7060"/>
                </a:solidFill>
                <a:latin typeface="游ゴシック"/>
                <a:ea typeface="游ゴシック"/>
              </a:rPr>
              <a:t>クローズド法　｜　30代／横顔：ストレート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1874519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明朝"/>
                <a:ea typeface="游明朝"/>
              </a:rPr>
              <a:t>Before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8585" y="1874519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明朝"/>
                <a:ea typeface="游明朝"/>
              </a:rPr>
              <a:t>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1874519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0934E"/>
                </a:solidFill>
                <a:latin typeface="游明朝"/>
                <a:ea typeface="游明朝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486400"/>
            <a:ext cx="642899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7A7060"/>
                </a:solidFill>
                <a:latin typeface="游ゴシック"/>
                <a:ea typeface="游ゴシック"/>
              </a:rPr>
              <a:t>▲ Before・After それぞれの枠をクリックして写真を挿入（自動で枠いっぱいに配置されます）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897880"/>
            <a:ext cx="6428994" cy="54864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897880"/>
            <a:ext cx="1371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8C7339"/>
                </a:solidFill>
                <a:latin typeface="游ゴシック"/>
                <a:ea typeface="游ゴシック"/>
              </a:rPr>
              <a:t>設計のポイント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67128" y="5897880"/>
            <a:ext cx="460019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A3326"/>
                </a:solidFill>
                <a:latin typeface="游ゴシック"/>
                <a:ea typeface="游ゴシック"/>
              </a:rPr>
              <a:t>拘縮した鼻を肋軟骨で土台から作り直し、立体感を取り戻す。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66928" y="6583680"/>
          <a:ext cx="6428993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538"/>
                <a:gridCol w="4757455"/>
              </a:tblGrid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術式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拘縮鼻修正＋肋軟骨移植（鼻中隔延長）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使用材料／麻酔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自家組織（肋軟骨） ／ 全身麻酔または静脈麻酔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ダウンタイム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腫れのピーク1週前後／ギプス固定約7日／採取部の痛み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566928" y="7772400"/>
            <a:ext cx="3077337" cy="137160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7772400"/>
            <a:ext cx="73152" cy="1371600"/>
          </a:xfrm>
          <a:prstGeom prst="rect">
            <a:avLst/>
          </a:prstGeom>
          <a:solidFill>
            <a:srgbClr val="B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7900416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B0553A"/>
                </a:solidFill>
                <a:latin typeface="游ゴシック"/>
                <a:ea typeface="游ゴシック"/>
              </a:rPr>
              <a:t>リスク・副作用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8229600"/>
            <a:ext cx="266585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869" b="0">
                <a:solidFill>
                  <a:srgbClr val="3A3326"/>
                </a:solidFill>
                <a:latin typeface="游ゴシック"/>
                <a:ea typeface="游ゴシック"/>
              </a:rPr>
              <a:t>・腫れ、内出血、痛み、感染のリスク
・肋軟骨採取部の傷あと・痛み・気胸（稀）
・難症例のため効果に個人差があり、追加修正の可能性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18585" y="7772400"/>
            <a:ext cx="3077337" cy="137160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74617" y="7900416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8C7339"/>
                </a:solidFill>
                <a:latin typeface="游ゴシック"/>
                <a:ea typeface="游ゴシック"/>
              </a:rPr>
              <a:t>通常料金（税込）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74617" y="8202168"/>
            <a:ext cx="26658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3A3326"/>
                </a:solidFill>
                <a:latin typeface="游明朝"/>
                <a:ea typeface="游明朝"/>
              </a:rPr>
              <a:t>¥880,000〜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74617" y="8659368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医療ローン　</a:t>
            </a:r>
            <a:r>
              <a:rPr sz="1200" b="1">
                <a:solidFill>
                  <a:srgbClr val="8C7339"/>
                </a:solidFill>
                <a:latin typeface="游ゴシック"/>
                <a:ea typeface="游ゴシック"/>
              </a:rPr>
              <a:t>月々 ¥15,800〜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74617" y="8933688"/>
            <a:ext cx="266585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※60回の一例。部分／全額モニター・最新料金は院内・カウンセリングで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9235440"/>
            <a:ext cx="6428994" cy="82296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9354312"/>
            <a:ext cx="588035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B0934E"/>
                </a:solidFill>
                <a:latin typeface="游ゴシック"/>
                <a:ea typeface="游ゴシック"/>
              </a:rPr>
              <a:t>患者さまの声 ／ Dr.コメント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9619488"/>
            <a:ext cx="58803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3326"/>
                </a:solidFill>
                <a:latin typeface="游ゴシック"/>
                <a:ea typeface="游ゴシック"/>
              </a:rPr>
              <a:t>難しい拘縮も肋軟骨でしっかり作り直せます。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10304590"/>
            <a:ext cx="4500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鼻整形 デザインカタログ｜Case 15｜拘縮鼻の修正（肋軟骨）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762" y="1030459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Zetith Beauty Clinic Fukuoka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ounded Rectangle 11"/>
          <p:cNvSpPr/>
          <p:nvPr/>
        </p:nvSpPr>
        <p:spPr>
          <a:xfrm>
            <a:off x="566928" y="1691640"/>
            <a:ext cx="6428994" cy="393192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1"/>
          </p:nvPr>
        </p:nvSpPr>
        <p:spPr/>
      </p:sp>
      <p:sp>
        <p:nvSpPr>
          <p:cNvPr id="4" name="TextBox 3"/>
          <p:cNvSpPr txBox="1"/>
          <p:nvPr/>
        </p:nvSpPr>
        <p:spPr>
          <a:xfrm>
            <a:off x="566928" y="457200"/>
            <a:ext cx="642899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CASE 16 ／ REVISION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642899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3A3326"/>
                </a:solidFill>
                <a:latin typeface="游明朝"/>
                <a:ea typeface="游明朝"/>
              </a:rPr>
              <a:t>他院修正・外傷後の変形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842" y="457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934E"/>
                </a:solidFill>
                <a:latin typeface="游明朝"/>
                <a:ea typeface="游明朝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1417320" cy="237744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74160"/>
            <a:ext cx="1417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8C7339"/>
                </a:solidFill>
                <a:latin typeface="游ゴシック"/>
                <a:ea typeface="游ゴシック"/>
              </a:rPr>
              <a:t>部位：専門・修正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93976" y="1280160"/>
            <a:ext cx="868680" cy="237744"/>
          </a:xfrm>
          <a:prstGeom prst="round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93976" y="1274160"/>
            <a:ext cx="8686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游ゴシック"/>
                <a:ea typeface="游ゴシック"/>
              </a:rPr>
              <a:t>忘れ鼻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2722" y="1278160"/>
            <a:ext cx="2743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7A7060"/>
                </a:solidFill>
                <a:latin typeface="游ゴシック"/>
                <a:ea typeface="游ゴシック"/>
              </a:rPr>
              <a:t>クローズド法　｜　—／横顔：—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1874519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明朝"/>
                <a:ea typeface="游明朝"/>
              </a:rPr>
              <a:t>Before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8585" y="1874519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明朝"/>
                <a:ea typeface="游明朝"/>
              </a:rPr>
              <a:t>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1874519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0934E"/>
                </a:solidFill>
                <a:latin typeface="游明朝"/>
                <a:ea typeface="游明朝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486400"/>
            <a:ext cx="642899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7A7060"/>
                </a:solidFill>
                <a:latin typeface="游ゴシック"/>
                <a:ea typeface="游ゴシック"/>
              </a:rPr>
              <a:t>▲ Before・After それぞれの枠をクリックして写真を挿入（自動で枠いっぱいに配置されます）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897880"/>
            <a:ext cx="6428994" cy="54864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897880"/>
            <a:ext cx="1371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8C7339"/>
                </a:solidFill>
                <a:latin typeface="游ゴシック"/>
                <a:ea typeface="游ゴシック"/>
              </a:rPr>
              <a:t>設計のポイント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67128" y="5897880"/>
            <a:ext cx="460019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A3326"/>
                </a:solidFill>
                <a:latin typeface="游ゴシック"/>
                <a:ea typeface="游ゴシック"/>
              </a:rPr>
              <a:t>他院の結果や外傷後の変形を、状態に合わせて設計し直す。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66928" y="6583680"/>
          <a:ext cx="6428993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538"/>
                <a:gridCol w="4757455"/>
              </a:tblGrid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術式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他院修正（状態により術式選択）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使用材料／麻酔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自家組織（耳介・鼻中隔・肋軟骨） ／ 静脈麻酔または全身麻酔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C7339"/>
                          </a:solidFill>
                          <a:latin typeface="游ゴシック"/>
                          <a:ea typeface="游ゴシック"/>
                        </a:rPr>
                        <a:t>ダウンタイム</a:t>
                      </a:r>
                    </a:p>
                  </a:txBody>
                  <a:tcPr anchor="ctr" marL="70000" marR="70000" marT="15000" marB="15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術式により異なる／ギプス固定が必要な場合あり</a:t>
                      </a:r>
                    </a:p>
                  </a:txBody>
                  <a:tcPr anchor="ctr" marL="70000" marR="70000" marT="15000" marB="15000">
                    <a:solidFill>
                      <a:srgbClr val="FDFBF6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566928" y="7772400"/>
            <a:ext cx="3077337" cy="137160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7772400"/>
            <a:ext cx="73152" cy="1371600"/>
          </a:xfrm>
          <a:prstGeom prst="rect">
            <a:avLst/>
          </a:prstGeom>
          <a:solidFill>
            <a:srgbClr val="B0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7900416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B0553A"/>
                </a:solidFill>
                <a:latin typeface="游ゴシック"/>
                <a:ea typeface="游ゴシック"/>
              </a:rPr>
              <a:t>リスク・副作用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8229600"/>
            <a:ext cx="266585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869" b="0">
                <a:solidFill>
                  <a:srgbClr val="3A3326"/>
                </a:solidFill>
                <a:latin typeface="游ゴシック"/>
                <a:ea typeface="游ゴシック"/>
              </a:rPr>
              <a:t>・腫れ、内出血、痛み、感染のリスク
・瘢痕・組織の状態により可能な範囲が限られます
・追加修正が必要な場合があります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18585" y="7772400"/>
            <a:ext cx="3077337" cy="137160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74617" y="7900416"/>
            <a:ext cx="2665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8C7339"/>
                </a:solidFill>
                <a:latin typeface="游ゴシック"/>
                <a:ea typeface="游ゴシック"/>
              </a:rPr>
              <a:t>通常料金（税込）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74617" y="8202168"/>
            <a:ext cx="26658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3A3326"/>
                </a:solidFill>
                <a:latin typeface="游明朝"/>
                <a:ea typeface="游明朝"/>
              </a:rPr>
              <a:t>別途お見積り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74617" y="8933688"/>
            <a:ext cx="266585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※60回の一例。部分／全額モニター・最新料金は院内・カウンセリングで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9235440"/>
            <a:ext cx="6428994" cy="82296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9354312"/>
            <a:ext cx="588035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B0934E"/>
                </a:solidFill>
                <a:latin typeface="游ゴシック"/>
                <a:ea typeface="游ゴシック"/>
              </a:rPr>
              <a:t>患者さまの声 ／ Dr.コメント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9619488"/>
            <a:ext cx="58803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3326"/>
                </a:solidFill>
                <a:latin typeface="游ゴシック"/>
                <a:ea typeface="游ゴシック"/>
              </a:rPr>
              <a:t>修正は鼻修正専門のDr.鉄と連携して対応します。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10304590"/>
            <a:ext cx="4500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鼻整形 デザインカタログ｜Case 16｜他院修正・外傷後の変形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762" y="1030459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Zetith Beauty Clinic Fukuoka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Rounded Rectangle 31"/>
          <p:cNvSpPr/>
          <p:nvPr/>
        </p:nvSpPr>
        <p:spPr>
          <a:xfrm>
            <a:off x="566928" y="8092440"/>
            <a:ext cx="6428994" cy="141732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3" name="TextBox 2"/>
          <p:cNvSpPr txBox="1"/>
          <p:nvPr/>
        </p:nvSpPr>
        <p:spPr>
          <a:xfrm>
            <a:off x="566928" y="457200"/>
            <a:ext cx="642899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PATIENT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569747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3A3326"/>
                </a:solidFill>
                <a:latin typeface="游明朝"/>
                <a:ea typeface="游明朝"/>
              </a:rPr>
              <a:t>ある患者さまの3ヶ月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842" y="457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934E"/>
                </a:solidFill>
                <a:latin typeface="游明朝"/>
                <a:ea typeface="游明朝"/>
              </a:rP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6428994" cy="9525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642899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A3326"/>
                </a:solidFill>
                <a:latin typeface="游ゴシック"/>
                <a:ea typeface="游ゴシック"/>
              </a:rPr>
              <a:t>「鼻筋が低い（隆鼻）」を選ばれた20代の方の、相談から3ヶ月までの経過です。ダウンタイムのリアルを、ご本人のインタビュー動画と合わせてご覧ください。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514600"/>
            <a:ext cx="1554480" cy="777240"/>
          </a:xfrm>
          <a:prstGeom prst="round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514600"/>
            <a:ext cx="1554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F3E9D2"/>
                </a:solidFill>
                <a:latin typeface="游ゴシック"/>
                <a:ea typeface="游ゴシック"/>
              </a:rPr>
              <a:t>STEP 1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游明朝"/>
                <a:ea typeface="游明朝"/>
              </a:rPr>
              <a:t>相談・デザイン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58568" y="2514600"/>
            <a:ext cx="4737354" cy="77724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2514600"/>
            <a:ext cx="428015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3326"/>
                </a:solidFill>
                <a:latin typeface="游ゴシック"/>
                <a:ea typeface="游ゴシック"/>
              </a:rPr>
              <a:t>ベクトラ（3Dシミュレーション）で“なりたい鼻”をその場で確認。クローズド法で計画。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429000"/>
            <a:ext cx="1554480" cy="777240"/>
          </a:xfrm>
          <a:prstGeom prst="round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429000"/>
            <a:ext cx="1554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F3E9D2"/>
                </a:solidFill>
                <a:latin typeface="游ゴシック"/>
                <a:ea typeface="游ゴシック"/>
              </a:rPr>
              <a:t>STEP 2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游明朝"/>
                <a:ea typeface="游明朝"/>
              </a:rPr>
              <a:t>手術当日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58568" y="3429000"/>
            <a:ext cx="4737354" cy="77724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87168" y="3429000"/>
            <a:ext cx="428015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3326"/>
                </a:solidFill>
                <a:latin typeface="游ゴシック"/>
                <a:ea typeface="游ゴシック"/>
              </a:rPr>
              <a:t>静脈麻酔下で約60〜90分。日帰り。ギプスで固定して帰宅。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43400"/>
            <a:ext cx="1554480" cy="777240"/>
          </a:xfrm>
          <a:prstGeom prst="round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343400"/>
            <a:ext cx="1554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F3E9D2"/>
                </a:solidFill>
                <a:latin typeface="游ゴシック"/>
                <a:ea typeface="游ゴシック"/>
              </a:rPr>
              <a:t>STEP 3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游明朝"/>
                <a:ea typeface="游明朝"/>
              </a:rPr>
              <a:t>翌日〜3日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58568" y="4343400"/>
            <a:ext cx="4737354" cy="77724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87168" y="4343400"/>
            <a:ext cx="428015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3326"/>
                </a:solidFill>
                <a:latin typeface="游ゴシック"/>
                <a:ea typeface="游ゴシック"/>
              </a:rPr>
              <a:t>腫れ・内出血のピーク。痛みは内服でコントロール。マスクで通勤可。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257800"/>
            <a:ext cx="1554480" cy="777240"/>
          </a:xfrm>
          <a:prstGeom prst="round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257800"/>
            <a:ext cx="1554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F3E9D2"/>
                </a:solidFill>
                <a:latin typeface="游ゴシック"/>
                <a:ea typeface="游ゴシック"/>
              </a:rPr>
              <a:t>STEP 4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游明朝"/>
                <a:ea typeface="游明朝"/>
              </a:rPr>
              <a:t>1週間（ギプスオフ）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58568" y="5257800"/>
            <a:ext cx="4737354" cy="77724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87168" y="5257800"/>
            <a:ext cx="428015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3326"/>
                </a:solidFill>
                <a:latin typeface="游ゴシック"/>
                <a:ea typeface="游ゴシック"/>
              </a:rPr>
              <a:t>ギプスを外し、メイクOK。むくみは残るが“鼻が高くなった”を実感。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6172200"/>
            <a:ext cx="1554480" cy="777240"/>
          </a:xfrm>
          <a:prstGeom prst="round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172200"/>
            <a:ext cx="1554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F3E9D2"/>
                </a:solidFill>
                <a:latin typeface="游ゴシック"/>
                <a:ea typeface="游ゴシック"/>
              </a:rPr>
              <a:t>STEP 5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游明朝"/>
                <a:ea typeface="游明朝"/>
              </a:rPr>
              <a:t>1ヶ月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58568" y="6172200"/>
            <a:ext cx="4737354" cy="77724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87168" y="6172200"/>
            <a:ext cx="428015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3326"/>
                </a:solidFill>
                <a:latin typeface="游ゴシック"/>
                <a:ea typeface="游ゴシック"/>
              </a:rPr>
              <a:t>腫れの大半が引く。横顔のラインが整い、自然な仕上がりに。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7086600"/>
            <a:ext cx="1554480" cy="777240"/>
          </a:xfrm>
          <a:prstGeom prst="round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7086600"/>
            <a:ext cx="1554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F3E9D2"/>
                </a:solidFill>
                <a:latin typeface="游ゴシック"/>
                <a:ea typeface="游ゴシック"/>
              </a:rPr>
              <a:t>STEP 6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游明朝"/>
                <a:ea typeface="游明朝"/>
              </a:rPr>
              <a:t>3ヶ月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58568" y="7086600"/>
            <a:ext cx="4737354" cy="77724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87168" y="7086600"/>
            <a:ext cx="428015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3326"/>
                </a:solidFill>
                <a:latin typeface="游ゴシック"/>
                <a:ea typeface="游ゴシック"/>
              </a:rPr>
              <a:t>完成。「自分史上いちばん好きな横顔」とご本人。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9281160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▶ QRを挿入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84248" y="8385048"/>
            <a:ext cx="469163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C7339"/>
                </a:solidFill>
                <a:latin typeface="游ゴシック"/>
                <a:ea typeface="游ゴシック"/>
              </a:rPr>
              <a:t>▶ この方のインタビューを見る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3326"/>
                </a:solidFill>
                <a:latin typeface="游ゴシック"/>
                <a:ea typeface="游ゴシック"/>
              </a:rPr>
              <a:t>「ダウンタイムが思ったより楽だった」——ご本人の言葉でどうぞ。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10304590"/>
            <a:ext cx="4500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鼻整形 デザインカタログ｜ある患者さまの3ヶ月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762" y="1030459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Zetith Beauty Clinic Fukuoka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0688638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642899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WHY Dr.HANE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569747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3A3326"/>
                </a:solidFill>
                <a:latin typeface="游明朝"/>
                <a:ea typeface="游明朝"/>
              </a:rPr>
              <a:t>なぜ、Dr.羽根なのか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842" y="457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934E"/>
                </a:solidFill>
                <a:latin typeface="游明朝"/>
                <a:ea typeface="游明朝"/>
              </a:rP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6428994" cy="9525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642899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A3326"/>
                </a:solidFill>
                <a:latin typeface="游ゴシック"/>
                <a:ea typeface="游ゴシック"/>
              </a:rPr>
              <a:t>“盛る”のではなく、“似合う”を自然に。他院と比べて迷っている方へ、Dr.羽根の4つの約束です。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468880"/>
            <a:ext cx="3077337" cy="169164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468880"/>
            <a:ext cx="73152" cy="1691640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697480"/>
            <a:ext cx="262013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0934E"/>
                </a:solidFill>
                <a:latin typeface="游明朝"/>
                <a:ea typeface="游明朝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035808"/>
            <a:ext cx="262013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A3326"/>
                </a:solidFill>
                <a:latin typeface="游明朝"/>
                <a:ea typeface="游明朝"/>
              </a:rPr>
              <a:t>傷が残らないクローズド法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547872"/>
            <a:ext cx="262013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0">
                <a:solidFill>
                  <a:srgbClr val="7A7060"/>
                </a:solidFill>
                <a:latin typeface="游ゴシック"/>
                <a:ea typeface="游ゴシック"/>
              </a:rPr>
              <a:t>鼻の穴の中から手術。外からの傷あとを残さず、ダウンタイムにも配慮した設計。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18585" y="2468880"/>
            <a:ext cx="3077337" cy="169164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18585" y="2468880"/>
            <a:ext cx="73152" cy="1691640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92905" y="2697480"/>
            <a:ext cx="262013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0934E"/>
                </a:solidFill>
                <a:latin typeface="游明朝"/>
                <a:ea typeface="游明朝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2905" y="3035808"/>
            <a:ext cx="262013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A3326"/>
                </a:solidFill>
                <a:latin typeface="游明朝"/>
                <a:ea typeface="游明朝"/>
              </a:rPr>
              <a:t>“やりすぎない”自然さ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2905" y="3547872"/>
            <a:ext cx="262013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0">
                <a:solidFill>
                  <a:srgbClr val="7A7060"/>
                </a:solidFill>
                <a:latin typeface="游ゴシック"/>
                <a:ea typeface="游ゴシック"/>
              </a:rPr>
              <a:t>「整形した？」と聞かれない自然さを最優先。お顔全体のバランスから逆算してデザイン。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89120"/>
            <a:ext cx="3077337" cy="169164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389120"/>
            <a:ext cx="73152" cy="1691640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617720"/>
            <a:ext cx="262013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0934E"/>
                </a:solidFill>
                <a:latin typeface="游明朝"/>
                <a:ea typeface="游明朝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956048"/>
            <a:ext cx="262013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A3326"/>
                </a:solidFill>
                <a:latin typeface="游明朝"/>
                <a:ea typeface="游明朝"/>
              </a:rPr>
              <a:t>ベクトラ3Dシミュレーション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468112"/>
            <a:ext cx="262013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0">
                <a:solidFill>
                  <a:srgbClr val="7A7060"/>
                </a:solidFill>
                <a:latin typeface="游ゴシック"/>
                <a:ea typeface="游ゴシック"/>
              </a:rPr>
              <a:t>全カウンセリングで“なりたい鼻”をその場で可視化。イメージを共有してから決定。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18585" y="4389120"/>
            <a:ext cx="3077337" cy="169164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18585" y="4389120"/>
            <a:ext cx="73152" cy="1691640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92905" y="4617720"/>
            <a:ext cx="262013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0934E"/>
                </a:solidFill>
                <a:latin typeface="游明朝"/>
                <a:ea typeface="游明朝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92905" y="4956048"/>
            <a:ext cx="262013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A3326"/>
                </a:solidFill>
                <a:latin typeface="游明朝"/>
                <a:ea typeface="游明朝"/>
              </a:rPr>
              <a:t>豊富な症例と修正対応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92905" y="5468112"/>
            <a:ext cx="262013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0">
                <a:solidFill>
                  <a:srgbClr val="7A7060"/>
                </a:solidFill>
                <a:latin typeface="游ゴシック"/>
                <a:ea typeface="游ゴシック"/>
              </a:rPr>
              <a:t>5周年・多数の症例実績。難症例・他院修正は鼻修正専門のDr.鉄と連携し院全体で対応。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8183879"/>
            <a:ext cx="6428994" cy="1325880"/>
          </a:xfrm>
          <a:prstGeom prst="roundRect">
            <a:avLst/>
          </a:prstGeom>
          <a:solidFill>
            <a:srgbClr val="26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8385047"/>
            <a:ext cx="569747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0934E"/>
                </a:solidFill>
                <a:latin typeface="游ゴシック"/>
                <a:ea typeface="游ゴシック"/>
              </a:rPr>
              <a:t>先生のひとこと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8714231"/>
            <a:ext cx="569747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游明朝"/>
                <a:ea typeface="游明朝"/>
              </a:rPr>
              <a:t>「良い症例」だけでなく「起こりうること」まで知って納得していただく。それが、やりすぎない鼻整形の出発点です。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10304590"/>
            <a:ext cx="4500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鼻整形 デザインカタログ｜なぜ、Dr.羽根なのか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762" y="1030459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Zetith Beauty Clinic Fukuoka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0688638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642899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569747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3A3326"/>
                </a:solidFill>
                <a:latin typeface="游明朝"/>
                <a:ea typeface="游明朝"/>
              </a:rPr>
              <a:t>リスク・副作用・修正について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842" y="457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934E"/>
                </a:solidFill>
                <a:latin typeface="游明朝"/>
                <a:ea typeface="游明朝"/>
              </a:rP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6428994" cy="9525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642899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A3326"/>
                </a:solidFill>
                <a:latin typeface="游ゴシック"/>
                <a:ea typeface="游ゴシック"/>
              </a:rPr>
              <a:t>どの症例にも共通するリスクと、当院の修正・アフターケアの考え方です。手術前に必ずご確認ください。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423160"/>
            <a:ext cx="6428994" cy="237744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624328"/>
            <a:ext cx="57889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8C7339"/>
                </a:solidFill>
                <a:latin typeface="游明朝"/>
                <a:ea typeface="游明朝"/>
              </a:rPr>
              <a:t>鼻整形に共通するリスク・副作用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017520"/>
            <a:ext cx="275729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・</a:t>
            </a:r>
            <a:r>
              <a:rPr sz="950" b="0">
                <a:solidFill>
                  <a:srgbClr val="3A3326"/>
                </a:solidFill>
                <a:latin typeface="游ゴシック"/>
                <a:ea typeface="游ゴシック"/>
              </a:rPr>
              <a:t>腫れ・内出血・痛み（通常は数日〜2週間で軽快）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47185" y="3017520"/>
            <a:ext cx="275729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・</a:t>
            </a:r>
            <a:r>
              <a:rPr sz="950" b="0">
                <a:solidFill>
                  <a:srgbClr val="3A3326"/>
                </a:solidFill>
                <a:latin typeface="游ゴシック"/>
                <a:ea typeface="游ゴシック"/>
              </a:rPr>
              <a:t>感染・血腫（適切な処置が必要な場合があります）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438144"/>
            <a:ext cx="275729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・</a:t>
            </a:r>
            <a:r>
              <a:rPr sz="950" b="0">
                <a:solidFill>
                  <a:srgbClr val="3A3326"/>
                </a:solidFill>
                <a:latin typeface="游ゴシック"/>
                <a:ea typeface="游ゴシック"/>
              </a:rPr>
              <a:t>左右差・知覚の鈍さ（一時的なことが多いが残る場合も）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7185" y="3438144"/>
            <a:ext cx="275729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・</a:t>
            </a:r>
            <a:r>
              <a:rPr sz="950" b="0">
                <a:solidFill>
                  <a:srgbClr val="3A3326"/>
                </a:solidFill>
                <a:latin typeface="游ゴシック"/>
                <a:ea typeface="游ゴシック"/>
              </a:rPr>
              <a:t>プロテーゼのズレ・露出・輪郭の浮き出し（人工物使用時）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858768"/>
            <a:ext cx="275729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・</a:t>
            </a:r>
            <a:r>
              <a:rPr sz="950" b="0">
                <a:solidFill>
                  <a:srgbClr val="3A3326"/>
                </a:solidFill>
                <a:latin typeface="游ゴシック"/>
                <a:ea typeface="游ゴシック"/>
              </a:rPr>
              <a:t>傷あと・拘縮（時間経過で目立ちにくくなることが多い）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47185" y="3858768"/>
            <a:ext cx="275729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・</a:t>
            </a:r>
            <a:r>
              <a:rPr sz="950" b="0">
                <a:solidFill>
                  <a:srgbClr val="3A3326"/>
                </a:solidFill>
                <a:latin typeface="游ゴシック"/>
                <a:ea typeface="游ゴシック"/>
              </a:rPr>
              <a:t>仕上がりの個人差・後戻り（修正が必要な場合があります）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279392"/>
            <a:ext cx="275729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・</a:t>
            </a:r>
            <a:r>
              <a:rPr sz="950" b="0">
                <a:solidFill>
                  <a:srgbClr val="3A3326"/>
                </a:solidFill>
                <a:latin typeface="游ゴシック"/>
                <a:ea typeface="游ゴシック"/>
              </a:rPr>
              <a:t>肋軟骨採取部の痛み・傷あと・気胸（肋軟骨使用時／稀）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7185" y="4279392"/>
            <a:ext cx="275729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・</a:t>
            </a:r>
            <a:r>
              <a:rPr sz="950" b="0">
                <a:solidFill>
                  <a:srgbClr val="3A3326"/>
                </a:solidFill>
                <a:latin typeface="游ゴシック"/>
                <a:ea typeface="游ゴシック"/>
              </a:rPr>
              <a:t>骨切り部の段差・左右差（骨切り術の場合）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029200"/>
            <a:ext cx="6428994" cy="192024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5230368"/>
            <a:ext cx="57889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8C7339"/>
                </a:solidFill>
                <a:latin typeface="游明朝"/>
                <a:ea typeface="游明朝"/>
              </a:rPr>
              <a:t>当院の修正・アフターケア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5650992"/>
            <a:ext cx="578891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A3326"/>
                </a:solidFill>
                <a:latin typeface="游ゴシック"/>
                <a:ea typeface="游ゴシック"/>
              </a:rPr>
              <a:t>・術後の経過診察は無料で対応します。
・感染・トラブル時の処置体制を整えています。
・一定期間内の修正対応の有無・条件は、カウンセリングで明確にお伝えします。
・拘縮鼻・他院修正など難症例は、鼻修正専門のDr.鉄と連携して対応します。
※保証内容は術式により異なります。詳細は同意書・契約時にご確認ください。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7269480"/>
            <a:ext cx="6428994" cy="2194560"/>
          </a:xfrm>
          <a:prstGeom prst="roundRect">
            <a:avLst/>
          </a:prstGeom>
          <a:solidFill>
            <a:srgbClr val="FDFBF6"/>
          </a:solidFill>
          <a:ln w="15240">
            <a:solidFill>
              <a:srgbClr val="B09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7498080"/>
            <a:ext cx="569747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8C7339"/>
                </a:solidFill>
                <a:latin typeface="游明朝"/>
                <a:ea typeface="游明朝"/>
              </a:rPr>
              <a:t>納得してから、決めてください。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7955280"/>
            <a:ext cx="569747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A3326"/>
                </a:solidFill>
                <a:latin typeface="游ゴシック"/>
                <a:ea typeface="游ゴシック"/>
              </a:rPr>
              <a:t>私たちのカウンセリングは、契約のためではなく“あなたにとっての最善を一緒に考える”時間です。「今日決めなくては」という必要はありません。ベクトラのシミュレーション画像はお持ち帰りいただけます。ご家族と相談したい、他院と比べたい——どうぞ遠慮なく。納得いただけたときが、ベストなタイミングです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10304590"/>
            <a:ext cx="4500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鼻整形 デザインカタログ｜リスク・副作用・修正について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762" y="1030459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Zetith Beauty Clinic Fukuoka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0688638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642899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569747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3A3326"/>
                </a:solidFill>
                <a:latin typeface="游明朝"/>
                <a:ea typeface="游明朝"/>
              </a:rPr>
              <a:t>通常料金・月々のお支払い目安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842" y="457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934E"/>
                </a:solidFill>
                <a:latin typeface="游明朝"/>
                <a:ea typeface="游明朝"/>
              </a:rP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6428994" cy="9525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54480"/>
            <a:ext cx="64289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3326"/>
                </a:solidFill>
                <a:latin typeface="游ゴシック"/>
                <a:ea typeface="游ゴシック"/>
              </a:rPr>
              <a:t>下記は「通常料金（定価）」の目安です。当院は主にモニター制度でのご案内が中心で、実際のご料金はカウンセリングで個別に提示します。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2103120"/>
          <a:ext cx="6428993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4497"/>
                <a:gridCol w="1735828"/>
                <a:gridCol w="1478668"/>
              </a:tblGrid>
              <a:tr h="34671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游明朝"/>
                          <a:ea typeface="游明朝"/>
                        </a:rPr>
                        <a:t>術式 ／ デザイン</a:t>
                      </a:r>
                    </a:p>
                  </a:txBody>
                  <a:tcPr anchor="ctr" marL="80000" marR="80000" marT="16000" marB="16000">
                    <a:solidFill>
                      <a:srgbClr val="B093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游明朝"/>
                          <a:ea typeface="游明朝"/>
                        </a:rPr>
                        <a:t>通常料金（税込）</a:t>
                      </a:r>
                    </a:p>
                  </a:txBody>
                  <a:tcPr anchor="ctr" marL="80000" marR="80000" marT="16000" marB="16000">
                    <a:solidFill>
                      <a:srgbClr val="B093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游明朝"/>
                          <a:ea typeface="游明朝"/>
                        </a:rPr>
                        <a:t>月々（60回）</a:t>
                      </a:r>
                    </a:p>
                  </a:txBody>
                  <a:tcPr anchor="ctr" marL="80000" marR="80000" marT="16000" marB="16000">
                    <a:solidFill>
                      <a:srgbClr val="B0934E"/>
                    </a:solidFill>
                  </a:tcPr>
                </a:tc>
              </a:tr>
              <a:tr h="34671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小鼻縮小</a:t>
                      </a:r>
                    </a:p>
                  </a:txBody>
                  <a:tcPr anchor="ctr" marL="80000" marR="80000" marT="16000" marB="16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3A3326"/>
                          </a:solidFill>
                          <a:latin typeface="游明朝"/>
                          <a:ea typeface="游明朝"/>
                        </a:rPr>
                        <a:t>¥330,000</a:t>
                      </a:r>
                    </a:p>
                  </a:txBody>
                  <a:tcPr anchor="ctr" marL="80000" marR="80000" marT="16000" marB="16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3A3326"/>
                          </a:solidFill>
                          <a:latin typeface="游明朝"/>
                          <a:ea typeface="游明朝"/>
                        </a:rPr>
                        <a:t>¥5,900〜</a:t>
                      </a:r>
                    </a:p>
                  </a:txBody>
                  <a:tcPr anchor="ctr" marL="80000" marR="80000" marT="16000" marB="16000">
                    <a:solidFill>
                      <a:srgbClr val="FDFBF6"/>
                    </a:solidFill>
                  </a:tcPr>
                </a:tc>
              </a:tr>
              <a:tr h="34671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隆鼻術（プロテーゼ）</a:t>
                      </a:r>
                    </a:p>
                  </a:txBody>
                  <a:tcPr anchor="ctr" marL="80000" marR="80000" marT="16000" marB="16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3A3326"/>
                          </a:solidFill>
                          <a:latin typeface="游明朝"/>
                          <a:ea typeface="游明朝"/>
                        </a:rPr>
                        <a:t>¥385,000〜</a:t>
                      </a:r>
                    </a:p>
                  </a:txBody>
                  <a:tcPr anchor="ctr" marL="80000" marR="80000" marT="16000" marB="16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3A3326"/>
                          </a:solidFill>
                          <a:latin typeface="游明朝"/>
                          <a:ea typeface="游明朝"/>
                        </a:rPr>
                        <a:t>¥6,900〜</a:t>
                      </a:r>
                    </a:p>
                  </a:txBody>
                  <a:tcPr anchor="ctr" marL="80000" marR="80000" marT="16000" marB="16000">
                    <a:solidFill>
                      <a:srgbClr val="F3ECDD"/>
                    </a:solidFill>
                  </a:tcPr>
                </a:tc>
              </a:tr>
              <a:tr h="34671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貴族手術（鼻基底・Eライン）</a:t>
                      </a:r>
                    </a:p>
                  </a:txBody>
                  <a:tcPr anchor="ctr" marL="80000" marR="80000" marT="16000" marB="16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3A3326"/>
                          </a:solidFill>
                          <a:latin typeface="游明朝"/>
                          <a:ea typeface="游明朝"/>
                        </a:rPr>
                        <a:t>¥385,000〜</a:t>
                      </a:r>
                    </a:p>
                  </a:txBody>
                  <a:tcPr anchor="ctr" marL="80000" marR="80000" marT="16000" marB="16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3A3326"/>
                          </a:solidFill>
                          <a:latin typeface="游明朝"/>
                          <a:ea typeface="游明朝"/>
                        </a:rPr>
                        <a:t>¥6,900〜</a:t>
                      </a:r>
                    </a:p>
                  </a:txBody>
                  <a:tcPr anchor="ctr" marL="80000" marR="80000" marT="16000" marB="16000">
                    <a:solidFill>
                      <a:srgbClr val="FDFBF6"/>
                    </a:solidFill>
                  </a:tcPr>
                </a:tc>
              </a:tr>
              <a:tr h="34671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鼻尖形成（団子鼻・鼻先）</a:t>
                      </a:r>
                    </a:p>
                  </a:txBody>
                  <a:tcPr anchor="ctr" marL="80000" marR="80000" marT="16000" marB="16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3A3326"/>
                          </a:solidFill>
                          <a:latin typeface="游明朝"/>
                          <a:ea typeface="游明朝"/>
                        </a:rPr>
                        <a:t>¥440,000〜</a:t>
                      </a:r>
                    </a:p>
                  </a:txBody>
                  <a:tcPr anchor="ctr" marL="80000" marR="80000" marT="16000" marB="16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3A3326"/>
                          </a:solidFill>
                          <a:latin typeface="游明朝"/>
                          <a:ea typeface="游明朝"/>
                        </a:rPr>
                        <a:t>¥7,800〜</a:t>
                      </a:r>
                    </a:p>
                  </a:txBody>
                  <a:tcPr anchor="ctr" marL="80000" marR="80000" marT="16000" marB="16000">
                    <a:solidFill>
                      <a:srgbClr val="F3ECDD"/>
                    </a:solidFill>
                  </a:tcPr>
                </a:tc>
              </a:tr>
              <a:tr h="34671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ACR（鼻翼縁挙上）</a:t>
                      </a:r>
                    </a:p>
                  </a:txBody>
                  <a:tcPr anchor="ctr" marL="80000" marR="80000" marT="16000" marB="16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3A3326"/>
                          </a:solidFill>
                          <a:latin typeface="游明朝"/>
                          <a:ea typeface="游明朝"/>
                        </a:rPr>
                        <a:t>¥440,000〜</a:t>
                      </a:r>
                    </a:p>
                  </a:txBody>
                  <a:tcPr anchor="ctr" marL="80000" marR="80000" marT="16000" marB="16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3A3326"/>
                          </a:solidFill>
                          <a:latin typeface="游明朝"/>
                          <a:ea typeface="游明朝"/>
                        </a:rPr>
                        <a:t>¥7,800〜</a:t>
                      </a:r>
                    </a:p>
                  </a:txBody>
                  <a:tcPr anchor="ctr" marL="80000" marR="80000" marT="16000" marB="16000">
                    <a:solidFill>
                      <a:srgbClr val="FDFBF6"/>
                    </a:solidFill>
                  </a:tcPr>
                </a:tc>
              </a:tr>
              <a:tr h="34671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ハンプ切除（鷲鼻）</a:t>
                      </a:r>
                    </a:p>
                  </a:txBody>
                  <a:tcPr anchor="ctr" marL="80000" marR="80000" marT="16000" marB="16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3A3326"/>
                          </a:solidFill>
                          <a:latin typeface="游明朝"/>
                          <a:ea typeface="游明朝"/>
                        </a:rPr>
                        <a:t>¥495,000〜</a:t>
                      </a:r>
                    </a:p>
                  </a:txBody>
                  <a:tcPr anchor="ctr" marL="80000" marR="80000" marT="16000" marB="16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3A3326"/>
                          </a:solidFill>
                          <a:latin typeface="游明朝"/>
                          <a:ea typeface="游明朝"/>
                        </a:rPr>
                        <a:t>¥8,800〜</a:t>
                      </a:r>
                    </a:p>
                  </a:txBody>
                  <a:tcPr anchor="ctr" marL="80000" marR="80000" marT="16000" marB="16000">
                    <a:solidFill>
                      <a:srgbClr val="F3ECDD"/>
                    </a:solidFill>
                  </a:tcPr>
                </a:tc>
              </a:tr>
              <a:tr h="34671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中顔面短縮</a:t>
                      </a:r>
                    </a:p>
                  </a:txBody>
                  <a:tcPr anchor="ctr" marL="80000" marR="80000" marT="16000" marB="16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3A3326"/>
                          </a:solidFill>
                          <a:latin typeface="游明朝"/>
                          <a:ea typeface="游明朝"/>
                        </a:rPr>
                        <a:t>¥495,000〜</a:t>
                      </a:r>
                    </a:p>
                  </a:txBody>
                  <a:tcPr anchor="ctr" marL="80000" marR="80000" marT="16000" marB="16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3A3326"/>
                          </a:solidFill>
                          <a:latin typeface="游明朝"/>
                          <a:ea typeface="游明朝"/>
                        </a:rPr>
                        <a:t>¥8,800〜</a:t>
                      </a:r>
                    </a:p>
                  </a:txBody>
                  <a:tcPr anchor="ctr" marL="80000" marR="80000" marT="16000" marB="16000">
                    <a:solidFill>
                      <a:srgbClr val="FDFBF6"/>
                    </a:solidFill>
                  </a:tcPr>
                </a:tc>
              </a:tr>
              <a:tr h="34671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鼻中隔延長（短鼻・延長）</a:t>
                      </a:r>
                    </a:p>
                  </a:txBody>
                  <a:tcPr anchor="ctr" marL="80000" marR="80000" marT="16000" marB="16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3A3326"/>
                          </a:solidFill>
                          <a:latin typeface="游明朝"/>
                          <a:ea typeface="游明朝"/>
                        </a:rPr>
                        <a:t>¥550,000〜</a:t>
                      </a:r>
                    </a:p>
                  </a:txBody>
                  <a:tcPr anchor="ctr" marL="80000" marR="80000" marT="16000" marB="16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3A3326"/>
                          </a:solidFill>
                          <a:latin typeface="游明朝"/>
                          <a:ea typeface="游明朝"/>
                        </a:rPr>
                        <a:t>¥9,800〜</a:t>
                      </a:r>
                    </a:p>
                  </a:txBody>
                  <a:tcPr anchor="ctr" marL="80000" marR="80000" marT="16000" marB="16000">
                    <a:solidFill>
                      <a:srgbClr val="F3ECDD"/>
                    </a:solidFill>
                  </a:tcPr>
                </a:tc>
              </a:tr>
              <a:tr h="34671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鼻骨骨切り（斜鼻・幅寄せ）</a:t>
                      </a:r>
                    </a:p>
                  </a:txBody>
                  <a:tcPr anchor="ctr" marL="80000" marR="80000" marT="16000" marB="16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3A3326"/>
                          </a:solidFill>
                          <a:latin typeface="游明朝"/>
                          <a:ea typeface="游明朝"/>
                        </a:rPr>
                        <a:t>¥550,000〜</a:t>
                      </a:r>
                    </a:p>
                  </a:txBody>
                  <a:tcPr anchor="ctr" marL="80000" marR="80000" marT="16000" marB="16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3A3326"/>
                          </a:solidFill>
                          <a:latin typeface="游明朝"/>
                          <a:ea typeface="游明朝"/>
                        </a:rPr>
                        <a:t>¥9,800〜</a:t>
                      </a:r>
                    </a:p>
                  </a:txBody>
                  <a:tcPr anchor="ctr" marL="80000" marR="80000" marT="16000" marB="16000">
                    <a:solidFill>
                      <a:srgbClr val="FDFBF6"/>
                    </a:solidFill>
                  </a:tcPr>
                </a:tc>
              </a:tr>
              <a:tr h="34671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鼻フルコース</a:t>
                      </a:r>
                    </a:p>
                  </a:txBody>
                  <a:tcPr anchor="ctr" marL="80000" marR="80000" marT="16000" marB="16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3A3326"/>
                          </a:solidFill>
                          <a:latin typeface="游明朝"/>
                          <a:ea typeface="游明朝"/>
                        </a:rPr>
                        <a:t>¥660,000〜</a:t>
                      </a:r>
                    </a:p>
                  </a:txBody>
                  <a:tcPr anchor="ctr" marL="80000" marR="80000" marT="16000" marB="16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3A3326"/>
                          </a:solidFill>
                          <a:latin typeface="游明朝"/>
                          <a:ea typeface="游明朝"/>
                        </a:rPr>
                        <a:t>¥11,800〜</a:t>
                      </a:r>
                    </a:p>
                  </a:txBody>
                  <a:tcPr anchor="ctr" marL="80000" marR="80000" marT="16000" marB="16000">
                    <a:solidFill>
                      <a:srgbClr val="F3ECDD"/>
                    </a:solidFill>
                  </a:tcPr>
                </a:tc>
              </a:tr>
              <a:tr h="34671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肋軟骨・拘縮／他院修正</a:t>
                      </a:r>
                    </a:p>
                  </a:txBody>
                  <a:tcPr anchor="ctr" marL="80000" marR="80000" marT="16000" marB="16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3A3326"/>
                          </a:solidFill>
                          <a:latin typeface="游明朝"/>
                          <a:ea typeface="游明朝"/>
                        </a:rPr>
                        <a:t>¥880,000〜／別途</a:t>
                      </a:r>
                    </a:p>
                  </a:txBody>
                  <a:tcPr anchor="ctr" marL="80000" marR="80000" marT="16000" marB="16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3A3326"/>
                          </a:solidFill>
                          <a:latin typeface="游明朝"/>
                          <a:ea typeface="游明朝"/>
                        </a:rPr>
                        <a:t>¥15,800〜</a:t>
                      </a:r>
                    </a:p>
                  </a:txBody>
                  <a:tcPr anchor="ctr" marL="80000" marR="80000" marT="16000" marB="16000">
                    <a:solidFill>
                      <a:srgbClr val="FDFBF6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6400800"/>
            <a:ext cx="6428994" cy="1554480"/>
          </a:xfrm>
          <a:prstGeom prst="roundRect">
            <a:avLst/>
          </a:prstGeom>
          <a:solidFill>
            <a:srgbClr val="EFE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6601968"/>
            <a:ext cx="569747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8C7339"/>
                </a:solidFill>
                <a:latin typeface="游明朝"/>
                <a:ea typeface="游明朝"/>
              </a:rPr>
              <a:t>モニター制度について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6967728"/>
            <a:ext cx="569747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A3326"/>
                </a:solidFill>
                <a:latin typeface="游ゴシック"/>
                <a:ea typeface="游ゴシック"/>
              </a:rPr>
              <a:t>当院には【通常料金】のほか【部分モニター】【全額モニター】があります。術前・術後のお写真のご提供にご協力いただける方は、通常料金より割安にご案内できます。適用条件・実際のご料金はカウンセリングで個別にご案内します（割引額は本資料には掲載していません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8092440"/>
            <a:ext cx="642899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※ 上記は「通常料金」の目安です。鼻整形は自由診療（保険適用外）です。
※ 月々は通常料金・60回払いの一例で、金利・支払回数により変動します（現金・各種クレジット・医療ローン対応）。
※ モニター価格の具体的な割引額は、医療広告の観点から本資料には掲載していません。院内・カウンセリングでご案内します。
※ 最新の料金・キャンペーンは @zetith_hane／院内・カウンセリングにてご確認ください。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0304590"/>
            <a:ext cx="4500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鼻整形 デザインカタログ｜通常料金・月々のお支払い目安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762" y="1030459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Zetith Beauty Clinic Fukuoka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850" cy="10688638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642899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RESERVATION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569747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3A3326"/>
                </a:solidFill>
                <a:latin typeface="游明朝"/>
                <a:ea typeface="游明朝"/>
              </a:rPr>
              <a:t>ご予約・ご相談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842" y="457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B0934E"/>
                </a:solidFill>
                <a:latin typeface="游明朝"/>
                <a:ea typeface="游明朝"/>
              </a:rP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6428994" cy="9525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91640"/>
            <a:ext cx="642899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A3326"/>
                </a:solidFill>
                <a:latin typeface="游明朝"/>
                <a:ea typeface="游明朝"/>
              </a:rPr>
              <a:t>「気になる症例があった」「自分はどのデザインが似合う？」——その段階で大歓迎です。
まずはカウンセリングで、ベクトラの3Dシミュレーションを無料でお試しください。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880360"/>
            <a:ext cx="3077337" cy="100584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880360"/>
            <a:ext cx="73152" cy="1005840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063240"/>
            <a:ext cx="262013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A3326"/>
                </a:solidFill>
                <a:latin typeface="游明朝"/>
                <a:ea typeface="游明朝"/>
              </a:rPr>
              <a:t>無料カウンセリング＋3Dシミュ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483864"/>
            <a:ext cx="26201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7A7060"/>
                </a:solidFill>
                <a:latin typeface="游ゴシック"/>
                <a:ea typeface="游ゴシック"/>
              </a:rPr>
              <a:t>ベクトラで“なりたい鼻”をその場で確認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18585" y="2880360"/>
            <a:ext cx="3077337" cy="100584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18585" y="2880360"/>
            <a:ext cx="73152" cy="1005840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92905" y="3063240"/>
            <a:ext cx="262013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A3326"/>
                </a:solidFill>
                <a:latin typeface="游明朝"/>
                <a:ea typeface="游明朝"/>
              </a:rPr>
              <a:t>クローズド法のスペシャリスト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2905" y="3483864"/>
            <a:ext cx="26201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7A7060"/>
                </a:solidFill>
                <a:latin typeface="游ゴシック"/>
                <a:ea typeface="游ゴシック"/>
              </a:rPr>
              <a:t>傷を残さず、自然な仕上がりを設計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69080"/>
            <a:ext cx="3077337" cy="100584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4069080"/>
            <a:ext cx="73152" cy="1005840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251960"/>
            <a:ext cx="262013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A3326"/>
                </a:solidFill>
                <a:latin typeface="游明朝"/>
                <a:ea typeface="游明朝"/>
              </a:rPr>
              <a:t>豊富な症例・5周年の実績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672584"/>
            <a:ext cx="26201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7A7060"/>
                </a:solidFill>
                <a:latin typeface="游ゴシック"/>
                <a:ea typeface="游ゴシック"/>
              </a:rPr>
              <a:t>お悩み別・印象別の確かなデザイン力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18585" y="4069080"/>
            <a:ext cx="3077337" cy="100584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DBC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18585" y="4069080"/>
            <a:ext cx="73152" cy="1005840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92905" y="4251960"/>
            <a:ext cx="262013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A3326"/>
                </a:solidFill>
                <a:latin typeface="游明朝"/>
                <a:ea typeface="游明朝"/>
              </a:rPr>
              <a:t>修正・他院修正にも対応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92905" y="4672584"/>
            <a:ext cx="26201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7A7060"/>
                </a:solidFill>
                <a:latin typeface="游ゴシック"/>
                <a:ea typeface="游ゴシック"/>
              </a:rPr>
              <a:t>Dr.鉄と連携し院全体でフォロー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532120"/>
            <a:ext cx="6428994" cy="3154680"/>
          </a:xfrm>
          <a:prstGeom prst="roundRect">
            <a:avLst/>
          </a:prstGeom>
          <a:solidFill>
            <a:srgbClr val="26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5852160"/>
            <a:ext cx="36857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游明朝"/>
                <a:ea typeface="游明朝"/>
              </a:rPr>
              <a:t>ご予約・ご相談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6446520"/>
            <a:ext cx="350291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0934E"/>
                </a:solidFill>
                <a:latin typeface="游ゴシック"/>
                <a:ea typeface="游ゴシック"/>
              </a:rPr>
              <a:t>Instagram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游明朝"/>
                <a:ea typeface="游明朝"/>
              </a:rPr>
              <a:t>@zetith_hane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200"/>
              </a:spcAft>
            </a:pPr>
            <a:r>
              <a:rPr sz="500" b="0">
                <a:solidFill>
                  <a:srgbClr val="3A3326"/>
                </a:solidFill>
                <a:latin typeface="游ゴシック"/>
                <a:ea typeface="游ゴシック"/>
              </a:rPr>
              <a:t> 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游ゴシック"/>
                <a:ea typeface="游ゴシック"/>
              </a:rPr>
              <a:t>Zetith Beauty Clinic 福岡院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BC1AD"/>
                </a:solidFill>
                <a:latin typeface="游ゴシック"/>
                <a:ea typeface="游ゴシック"/>
              </a:rPr>
              <a:t>天神駅より徒歩6分　／　Dr. 羽瀬 和秀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67122" y="6035040"/>
            <a:ext cx="14630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9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7122" y="6035040"/>
            <a:ext cx="146304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7A7060"/>
                </a:solidFill>
                <a:latin typeface="游ゴシック"/>
                <a:ea typeface="游ゴシック"/>
              </a:rPr>
              <a:t>QR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A7060"/>
                </a:solidFill>
                <a:latin typeface="游ゴシック"/>
                <a:ea typeface="游ゴシック"/>
              </a:rPr>
              <a:t>予約はこちら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7772400"/>
            <a:ext cx="2286000" cy="502920"/>
          </a:xfrm>
          <a:prstGeom prst="round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" y="777240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游ゴシック"/>
                <a:ea typeface="游ゴシック"/>
              </a:rPr>
              <a:t>WEB / LINEで予約する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47288" y="7772400"/>
            <a:ext cx="2286000" cy="502920"/>
          </a:xfrm>
          <a:prstGeom prst="roundRect">
            <a:avLst/>
          </a:prstGeom>
          <a:solidFill>
            <a:srgbClr val="26221B"/>
          </a:solidFill>
          <a:ln w="12700">
            <a:solidFill>
              <a:srgbClr val="B09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47288" y="777240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0934E"/>
                </a:solidFill>
                <a:latin typeface="游ゴシック"/>
                <a:ea typeface="游ゴシック"/>
              </a:rPr>
              <a:t>カウンセリング優先案内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10304590"/>
            <a:ext cx="4500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鼻整形 デザインカタログ｜ご予約・ご相談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762" y="1030459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Zetith Beauty Clinic Fukuoka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