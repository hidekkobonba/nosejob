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87" r:id="rId5"/>
    <p:sldId id="260" r:id="rId6"/>
    <p:sldId id="261" r:id="rId7"/>
    <p:sldId id="262" r:id="rId8"/>
    <p:sldId id="263" r:id="rId9"/>
    <p:sldId id="265" r:id="rId10"/>
    <p:sldId id="266" r:id="rId11"/>
    <p:sldId id="267" r:id="rId12"/>
    <p:sldId id="269" r:id="rId13"/>
    <p:sldId id="270" r:id="rId14"/>
    <p:sldId id="271" r:id="rId15"/>
    <p:sldId id="272" r:id="rId16"/>
    <p:sldId id="273" r:id="rId17"/>
    <p:sldId id="274" r:id="rId18"/>
    <p:sldId id="275" r:id="rId19"/>
    <p:sldId id="276" r:id="rId20"/>
    <p:sldId id="277" r:id="rId21"/>
    <p:sldId id="278" r:id="rId22"/>
    <p:sldId id="279" r:id="rId23"/>
    <p:sldId id="280" r:id="rId24"/>
    <p:sldId id="281" r:id="rId25"/>
    <p:sldId id="282" r:id="rId26"/>
    <p:sldId id="283" r:id="rId27"/>
    <p:sldId id="286" r:id="rId28"/>
    <p:sldId id="285" r:id="rId29"/>
  </p:sldIdLst>
  <p:sldSz cx="7562850" cy="10688638"/>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08"/>
    <p:restoredTop sz="94631"/>
  </p:normalViewPr>
  <p:slideViewPr>
    <p:cSldViewPr snapToGrid="0" snapToObjects="1">
      <p:cViewPr>
        <p:scale>
          <a:sx n="114" d="100"/>
          <a:sy n="114" d="100"/>
        </p:scale>
        <p:origin x="2152" y="1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01" name="写真枠 10"/>
          <p:cNvSpPr>
            <a:spLocks noGrp="1"/>
          </p:cNvSpPr>
          <p:nvPr>
            <p:ph type="pic" idx="10"/>
          </p:nvPr>
        </p:nvSpPr>
        <p:spPr>
          <a:xfrm>
            <a:off x="2041026" y="2240280"/>
            <a:ext cx="3480797" cy="3200400"/>
          </a:xfrm>
          <a:prstGeom prst="roundRect">
            <a:avLst>
              <a:gd name="adj" fmla="val 4000"/>
            </a:avLst>
          </a:prstGeom>
          <a:solidFill>
            <a:srgbClr val="ECE4D4"/>
          </a:solidFill>
        </p:spPr>
        <p:txBody>
          <a:bodyPr/>
          <a:lstStyle/>
          <a:p>
            <a:endParaRP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02" name="写真枠 10"/>
          <p:cNvSpPr>
            <a:spLocks noGrp="1"/>
          </p:cNvSpPr>
          <p:nvPr>
            <p:ph type="pic" idx="10"/>
          </p:nvPr>
        </p:nvSpPr>
        <p:spPr>
          <a:xfrm>
            <a:off x="841248" y="8339327"/>
            <a:ext cx="914400" cy="914400"/>
          </a:xfrm>
          <a:prstGeom prst="roundRect">
            <a:avLst>
              <a:gd name="adj" fmla="val 2000"/>
            </a:avLst>
          </a:prstGeom>
          <a:solidFill>
            <a:srgbClr val="ECE4D4"/>
          </a:solidFill>
        </p:spPr>
        <p:txBody>
          <a:bodyPr/>
          <a:lstStyle/>
          <a:p>
            <a:endParaRP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901" name="枠 10"/>
          <p:cNvSpPr>
            <a:spLocks noGrp="1"/>
          </p:cNvSpPr>
          <p:nvPr>
            <p:ph type="pic" idx="10"/>
          </p:nvPr>
        </p:nvSpPr>
        <p:spPr>
          <a:xfrm>
            <a:off x="566928" y="2414016"/>
            <a:ext cx="840050" cy="1143000"/>
          </a:xfrm>
          <a:prstGeom prst="roundRect">
            <a:avLst>
              <a:gd name="adj" fmla="val 5000"/>
            </a:avLst>
          </a:prstGeom>
          <a:solidFill>
            <a:srgbClr val="ECE4D4"/>
          </a:solidFill>
        </p:spPr>
        <p:txBody>
          <a:bodyPr/>
          <a:lstStyle/>
          <a:p/>
        </p:txBody>
      </p:sp>
      <p:sp>
        <p:nvSpPr>
          <p:cNvPr id="902" name="枠 11"/>
          <p:cNvSpPr>
            <a:spLocks noGrp="1"/>
          </p:cNvSpPr>
          <p:nvPr>
            <p:ph type="pic" idx="11"/>
          </p:nvPr>
        </p:nvSpPr>
        <p:spPr>
          <a:xfrm>
            <a:off x="1498418" y="2414016"/>
            <a:ext cx="840050" cy="1143000"/>
          </a:xfrm>
          <a:prstGeom prst="roundRect">
            <a:avLst>
              <a:gd name="adj" fmla="val 5000"/>
            </a:avLst>
          </a:prstGeom>
          <a:solidFill>
            <a:srgbClr val="ECE4D4"/>
          </a:solidFill>
        </p:spPr>
        <p:txBody>
          <a:bodyPr/>
          <a:lstStyle/>
          <a:p/>
        </p:txBody>
      </p:sp>
      <p:sp>
        <p:nvSpPr>
          <p:cNvPr id="903" name="枠 12"/>
          <p:cNvSpPr>
            <a:spLocks noGrp="1"/>
          </p:cNvSpPr>
          <p:nvPr>
            <p:ph type="pic" idx="12"/>
          </p:nvPr>
        </p:nvSpPr>
        <p:spPr>
          <a:xfrm>
            <a:off x="2429909" y="2414016"/>
            <a:ext cx="840050" cy="1143000"/>
          </a:xfrm>
          <a:prstGeom prst="roundRect">
            <a:avLst>
              <a:gd name="adj" fmla="val 5000"/>
            </a:avLst>
          </a:prstGeom>
          <a:solidFill>
            <a:srgbClr val="ECE4D4"/>
          </a:solidFill>
        </p:spPr>
        <p:txBody>
          <a:bodyPr/>
          <a:lstStyle/>
          <a:p/>
        </p:txBody>
      </p:sp>
      <p:sp>
        <p:nvSpPr>
          <p:cNvPr id="904" name="枠 13"/>
          <p:cNvSpPr>
            <a:spLocks noGrp="1"/>
          </p:cNvSpPr>
          <p:nvPr>
            <p:ph type="pic" idx="13"/>
          </p:nvPr>
        </p:nvSpPr>
        <p:spPr>
          <a:xfrm>
            <a:off x="3361399" y="2414016"/>
            <a:ext cx="840050" cy="1143000"/>
          </a:xfrm>
          <a:prstGeom prst="roundRect">
            <a:avLst>
              <a:gd name="adj" fmla="val 5000"/>
            </a:avLst>
          </a:prstGeom>
          <a:solidFill>
            <a:srgbClr val="ECE4D4"/>
          </a:solidFill>
        </p:spPr>
        <p:txBody>
          <a:bodyPr/>
          <a:lstStyle/>
          <a:p/>
        </p:txBody>
      </p:sp>
      <p:sp>
        <p:nvSpPr>
          <p:cNvPr id="905" name="枠 14"/>
          <p:cNvSpPr>
            <a:spLocks noGrp="1"/>
          </p:cNvSpPr>
          <p:nvPr>
            <p:ph type="pic" idx="14"/>
          </p:nvPr>
        </p:nvSpPr>
        <p:spPr>
          <a:xfrm>
            <a:off x="4292890" y="2414016"/>
            <a:ext cx="840050" cy="1143000"/>
          </a:xfrm>
          <a:prstGeom prst="roundRect">
            <a:avLst>
              <a:gd name="adj" fmla="val 5000"/>
            </a:avLst>
          </a:prstGeom>
          <a:solidFill>
            <a:srgbClr val="ECE4D4"/>
          </a:solidFill>
        </p:spPr>
        <p:txBody>
          <a:bodyPr/>
          <a:lstStyle/>
          <a:p/>
        </p:txBody>
      </p:sp>
      <p:sp>
        <p:nvSpPr>
          <p:cNvPr id="906" name="枠 15"/>
          <p:cNvSpPr>
            <a:spLocks noGrp="1"/>
          </p:cNvSpPr>
          <p:nvPr>
            <p:ph type="pic" idx="15"/>
          </p:nvPr>
        </p:nvSpPr>
        <p:spPr>
          <a:xfrm>
            <a:off x="5224380" y="2414016"/>
            <a:ext cx="840050" cy="1143000"/>
          </a:xfrm>
          <a:prstGeom prst="roundRect">
            <a:avLst>
              <a:gd name="adj" fmla="val 5000"/>
            </a:avLst>
          </a:prstGeom>
          <a:solidFill>
            <a:srgbClr val="ECE4D4"/>
          </a:solidFill>
        </p:spPr>
        <p:txBody>
          <a:bodyPr/>
          <a:lstStyle/>
          <a:p/>
        </p:txBody>
      </p:sp>
      <p:sp>
        <p:nvSpPr>
          <p:cNvPr id="907" name="枠 16"/>
          <p:cNvSpPr>
            <a:spLocks noGrp="1"/>
          </p:cNvSpPr>
          <p:nvPr>
            <p:ph type="pic" idx="16"/>
          </p:nvPr>
        </p:nvSpPr>
        <p:spPr>
          <a:xfrm>
            <a:off x="6155871" y="2414016"/>
            <a:ext cx="840050" cy="1143000"/>
          </a:xfrm>
          <a:prstGeom prst="roundRect">
            <a:avLst>
              <a:gd name="adj" fmla="val 5000"/>
            </a:avLst>
          </a:prstGeom>
          <a:solidFill>
            <a:srgbClr val="ECE4D4"/>
          </a:solidFill>
        </p:spPr>
        <p:txBody>
          <a:bodyPr/>
          <a:lstStyle/>
          <a:p/>
        </p:txBody>
      </p:sp>
      <p:sp>
        <p:nvSpPr>
          <p:cNvPr id="908" name="枠 20"/>
          <p:cNvSpPr>
            <a:spLocks noGrp="1"/>
          </p:cNvSpPr>
          <p:nvPr>
            <p:ph type="pic" idx="20"/>
          </p:nvPr>
        </p:nvSpPr>
        <p:spPr>
          <a:xfrm>
            <a:off x="566928" y="4114800"/>
            <a:ext cx="1929638" cy="1417320"/>
          </a:xfrm>
          <a:prstGeom prst="roundRect">
            <a:avLst>
              <a:gd name="adj" fmla="val 5000"/>
            </a:avLst>
          </a:prstGeom>
          <a:solidFill>
            <a:srgbClr val="ECE4D4"/>
          </a:solidFill>
        </p:spPr>
        <p:txBody>
          <a:bodyPr/>
          <a:lstStyle/>
          <a:p/>
        </p:txBody>
      </p:sp>
      <p:sp>
        <p:nvSpPr>
          <p:cNvPr id="909" name="枠 21"/>
          <p:cNvSpPr>
            <a:spLocks noGrp="1"/>
          </p:cNvSpPr>
          <p:nvPr>
            <p:ph type="pic" idx="21"/>
          </p:nvPr>
        </p:nvSpPr>
        <p:spPr>
          <a:xfrm>
            <a:off x="2816606" y="4114800"/>
            <a:ext cx="1929638" cy="1417320"/>
          </a:xfrm>
          <a:prstGeom prst="roundRect">
            <a:avLst>
              <a:gd name="adj" fmla="val 5000"/>
            </a:avLst>
          </a:prstGeom>
          <a:solidFill>
            <a:srgbClr val="ECE4D4"/>
          </a:solidFill>
        </p:spPr>
        <p:txBody>
          <a:bodyPr/>
          <a:lstStyle/>
          <a:p/>
        </p:txBody>
      </p:sp>
      <p:sp>
        <p:nvSpPr>
          <p:cNvPr id="910" name="枠 22"/>
          <p:cNvSpPr>
            <a:spLocks noGrp="1"/>
          </p:cNvSpPr>
          <p:nvPr>
            <p:ph type="pic" idx="22"/>
          </p:nvPr>
        </p:nvSpPr>
        <p:spPr>
          <a:xfrm>
            <a:off x="5066284" y="4114800"/>
            <a:ext cx="1929638" cy="1417320"/>
          </a:xfrm>
          <a:prstGeom prst="roundRect">
            <a:avLst>
              <a:gd name="adj" fmla="val 5000"/>
            </a:avLst>
          </a:prstGeom>
          <a:solidFill>
            <a:srgbClr val="ECE4D4"/>
          </a:solidFill>
        </p:spPr>
        <p:txBody>
          <a:bodyPr/>
          <a:lstStyle/>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846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7562850" cy="14630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4300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1">
                <a:solidFill>
                  <a:srgbClr val="B0934E"/>
                </a:solidFill>
                <a:latin typeface="游ゴシック"/>
                <a:ea typeface="游ゴシック"/>
              </a:rPr>
              <a:t>ZETITH BEAUTY CLINIC FUKUOKA  ／  Dr.HANE</a:t>
            </a:r>
          </a:p>
        </p:txBody>
      </p:sp>
      <p:sp>
        <p:nvSpPr>
          <p:cNvPr id="6" name="TextBox 5"/>
          <p:cNvSpPr txBox="1"/>
          <p:nvPr/>
        </p:nvSpPr>
        <p:spPr>
          <a:xfrm>
            <a:off x="566928" y="2423160"/>
            <a:ext cx="6428994" cy="1828800"/>
          </a:xfrm>
          <a:prstGeom prst="rect">
            <a:avLst/>
          </a:prstGeom>
          <a:noFill/>
        </p:spPr>
        <p:txBody>
          <a:bodyPr wrap="square" lIns="0" tIns="0" rIns="0" bIns="0" anchor="t">
            <a:spAutoFit/>
          </a:bodyPr>
          <a:lstStyle/>
          <a:p>
            <a:pPr algn="ctr">
              <a:lnSpc>
                <a:spcPct val="105000"/>
              </a:lnSpc>
              <a:spcBef>
                <a:spcPts val="0"/>
              </a:spcBef>
              <a:spcAft>
                <a:spcPts val="200"/>
              </a:spcAft>
            </a:pPr>
            <a:r>
              <a:rPr sz="4900" b="1">
                <a:solidFill>
                  <a:srgbClr val="3A3326"/>
                </a:solidFill>
                <a:latin typeface="游明朝"/>
                <a:ea typeface="游明朝"/>
              </a:rPr>
              <a:t>鼻整形</a:t>
            </a:r>
          </a:p>
          <a:p>
            <a:pPr algn="ctr">
              <a:lnSpc>
                <a:spcPct val="105000"/>
              </a:lnSpc>
              <a:spcBef>
                <a:spcPts val="0"/>
              </a:spcBef>
              <a:spcAft>
                <a:spcPts val="200"/>
              </a:spcAft>
            </a:pPr>
            <a:r>
              <a:rPr sz="4900" b="1">
                <a:solidFill>
                  <a:srgbClr val="3A3326"/>
                </a:solidFill>
                <a:latin typeface="游明朝"/>
                <a:ea typeface="游明朝"/>
              </a:rPr>
              <a:t>デザインカタログ</a:t>
            </a:r>
          </a:p>
        </p:txBody>
      </p:sp>
      <p:sp>
        <p:nvSpPr>
          <p:cNvPr id="7" name="Rectangle 6"/>
          <p:cNvSpPr/>
          <p:nvPr/>
        </p:nvSpPr>
        <p:spPr>
          <a:xfrm>
            <a:off x="2958465" y="4251960"/>
            <a:ext cx="164592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8056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400" b="0" dirty="0">
                <a:solidFill>
                  <a:srgbClr val="3A3326"/>
                </a:solidFill>
                <a:latin typeface="游明朝"/>
                <a:ea typeface="游明朝"/>
              </a:rPr>
              <a:t>“似合う”から考える、鼻のデザイン。</a:t>
            </a:r>
            <a:endParaRPr sz="1400" b="0" dirty="0">
              <a:solidFill>
                <a:srgbClr val="3A3326"/>
              </a:solidFill>
              <a:latin typeface="游明朝"/>
              <a:ea typeface="游明朝"/>
            </a:endParaRPr>
          </a:p>
        </p:txBody>
      </p:sp>
      <p:sp>
        <p:nvSpPr>
          <p:cNvPr id="9" name="TextBox 8"/>
          <p:cNvSpPr txBox="1"/>
          <p:nvPr/>
        </p:nvSpPr>
        <p:spPr>
          <a:xfrm>
            <a:off x="566928" y="5074920"/>
            <a:ext cx="6428994" cy="640080"/>
          </a:xfrm>
          <a:prstGeom prst="rect">
            <a:avLst/>
          </a:prstGeom>
          <a:noFill/>
        </p:spPr>
        <p:txBody>
          <a:bodyPr wrap="square" lIns="0" tIns="0" rIns="0" bIns="0" anchor="t">
            <a:spAutoFit/>
          </a:bodyPr>
          <a:lstStyle/>
          <a:p>
            <a:pPr algn="ctr">
              <a:lnSpc>
                <a:spcPct val="150000"/>
              </a:lnSpc>
              <a:spcBef>
                <a:spcPts val="0"/>
              </a:spcBef>
              <a:spcAft>
                <a:spcPts val="200"/>
              </a:spcAft>
            </a:pPr>
            <a:r>
              <a:rPr sz="1150" b="0">
                <a:solidFill>
                  <a:srgbClr val="7A7060"/>
                </a:solidFill>
                <a:latin typeface="游ゴシック"/>
                <a:ea typeface="游ゴシック"/>
              </a:rPr>
              <a:t>お悩みからでも、なりたい印象からでも引ける、</a:t>
            </a:r>
          </a:p>
          <a:p>
            <a:pPr algn="ctr">
              <a:lnSpc>
                <a:spcPct val="150000"/>
              </a:lnSpc>
              <a:spcBef>
                <a:spcPts val="0"/>
              </a:spcBef>
              <a:spcAft>
                <a:spcPts val="200"/>
              </a:spcAft>
            </a:pPr>
            <a:r>
              <a:rPr sz="1150" b="0">
                <a:solidFill>
                  <a:srgbClr val="7A7060"/>
                </a:solidFill>
                <a:latin typeface="游ゴシック"/>
                <a:ea typeface="游ゴシック"/>
              </a:rPr>
              <a:t>近いお顔の実例から“なりたい”を一緒に探す保存版です。</a:t>
            </a:r>
          </a:p>
        </p:txBody>
      </p:sp>
      <p:sp>
        <p:nvSpPr>
          <p:cNvPr id="10" name="Rounded Rectangle 9"/>
          <p:cNvSpPr/>
          <p:nvPr/>
        </p:nvSpPr>
        <p:spPr>
          <a:xfrm>
            <a:off x="566928"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6928"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8368" y="6537960"/>
            <a:ext cx="1838198" cy="202363"/>
          </a:xfrm>
          <a:prstGeom prst="rect">
            <a:avLst/>
          </a:prstGeom>
          <a:noFill/>
        </p:spPr>
        <p:txBody>
          <a:bodyPr wrap="square" lIns="0" tIns="0" rIns="0" bIns="0" anchor="t">
            <a:spAutoFit/>
          </a:bodyPr>
          <a:lstStyle/>
          <a:p>
            <a:pPr algn="ctr">
              <a:lnSpc>
                <a:spcPct val="110000"/>
              </a:lnSpc>
              <a:spcBef>
                <a:spcPts val="0"/>
              </a:spcBef>
              <a:spcAft>
                <a:spcPts val="200"/>
              </a:spcAft>
            </a:pPr>
            <a:r>
              <a:rPr sz="1250" b="1" dirty="0">
                <a:solidFill>
                  <a:srgbClr val="3A3326"/>
                </a:solidFill>
                <a:latin typeface="游明朝"/>
                <a:ea typeface="游明朝"/>
              </a:rPr>
              <a:t>Cute</a:t>
            </a:r>
          </a:p>
        </p:txBody>
      </p:sp>
      <p:sp>
        <p:nvSpPr>
          <p:cNvPr id="13" name="TextBox 12"/>
          <p:cNvSpPr txBox="1"/>
          <p:nvPr/>
        </p:nvSpPr>
        <p:spPr>
          <a:xfrm>
            <a:off x="658368" y="7059168"/>
            <a:ext cx="1838198"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8C7339"/>
                </a:solidFill>
                <a:latin typeface="游ゴシック"/>
                <a:ea typeface="游ゴシック"/>
              </a:rPr>
              <a:t>可愛い</a:t>
            </a:r>
          </a:p>
        </p:txBody>
      </p:sp>
      <p:sp>
        <p:nvSpPr>
          <p:cNvPr id="14" name="Rounded Rectangle 13"/>
          <p:cNvSpPr/>
          <p:nvPr/>
        </p:nvSpPr>
        <p:spPr>
          <a:xfrm>
            <a:off x="2770886"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770886"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862326" y="6537960"/>
            <a:ext cx="1838198" cy="202363"/>
          </a:xfrm>
          <a:prstGeom prst="rect">
            <a:avLst/>
          </a:prstGeom>
          <a:noFill/>
        </p:spPr>
        <p:txBody>
          <a:bodyPr wrap="square" lIns="0" tIns="0" rIns="0" bIns="0" anchor="t">
            <a:spAutoFit/>
          </a:bodyPr>
          <a:lstStyle/>
          <a:p>
            <a:pPr algn="ctr">
              <a:lnSpc>
                <a:spcPct val="110000"/>
              </a:lnSpc>
              <a:spcBef>
                <a:spcPts val="0"/>
              </a:spcBef>
              <a:spcAft>
                <a:spcPts val="200"/>
              </a:spcAft>
            </a:pPr>
            <a:r>
              <a:rPr lang="en-US" altLang="ja-JP" sz="1250" b="1" dirty="0">
                <a:solidFill>
                  <a:srgbClr val="3A3326"/>
                </a:solidFill>
                <a:latin typeface="游明朝"/>
                <a:ea typeface="游明朝"/>
              </a:rPr>
              <a:t>Natural</a:t>
            </a:r>
            <a:endParaRPr sz="1250" b="1" dirty="0">
              <a:solidFill>
                <a:srgbClr val="3A3326"/>
              </a:solidFill>
              <a:latin typeface="游明朝"/>
              <a:ea typeface="游明朝"/>
            </a:endParaRPr>
          </a:p>
        </p:txBody>
      </p:sp>
      <p:sp>
        <p:nvSpPr>
          <p:cNvPr id="17" name="TextBox 16"/>
          <p:cNvSpPr txBox="1"/>
          <p:nvPr/>
        </p:nvSpPr>
        <p:spPr>
          <a:xfrm>
            <a:off x="2862326" y="7059168"/>
            <a:ext cx="1838198" cy="165366"/>
          </a:xfrm>
          <a:prstGeom prst="rect">
            <a:avLst/>
          </a:prstGeom>
          <a:noFill/>
        </p:spPr>
        <p:txBody>
          <a:bodyPr wrap="square" lIns="0" tIns="0" rIns="0" bIns="0" anchor="t">
            <a:spAutoFit/>
          </a:bodyPr>
          <a:lstStyle/>
          <a:p>
            <a:pPr algn="ctr">
              <a:lnSpc>
                <a:spcPct val="112000"/>
              </a:lnSpc>
              <a:spcBef>
                <a:spcPts val="0"/>
              </a:spcBef>
              <a:spcAft>
                <a:spcPts val="200"/>
              </a:spcAft>
            </a:pPr>
            <a:r>
              <a:rPr sz="1000" b="0" dirty="0" err="1">
                <a:solidFill>
                  <a:srgbClr val="8C7339"/>
                </a:solidFill>
                <a:latin typeface="游ゴシック"/>
                <a:ea typeface="游ゴシック"/>
              </a:rPr>
              <a:t>忘れ鼻</a:t>
            </a:r>
            <a:endParaRPr sz="1000" b="0" dirty="0">
              <a:solidFill>
                <a:srgbClr val="8C7339"/>
              </a:solidFill>
              <a:latin typeface="游ゴシック"/>
              <a:ea typeface="游ゴシック"/>
            </a:endParaRPr>
          </a:p>
        </p:txBody>
      </p:sp>
      <p:sp>
        <p:nvSpPr>
          <p:cNvPr id="18" name="Rounded Rectangle 17"/>
          <p:cNvSpPr/>
          <p:nvPr/>
        </p:nvSpPr>
        <p:spPr>
          <a:xfrm>
            <a:off x="4974844"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974844"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066284" y="6537960"/>
            <a:ext cx="1838198" cy="202363"/>
          </a:xfrm>
          <a:prstGeom prst="rect">
            <a:avLst/>
          </a:prstGeom>
          <a:noFill/>
        </p:spPr>
        <p:txBody>
          <a:bodyPr wrap="square" lIns="0" tIns="0" rIns="0" bIns="0" anchor="t">
            <a:spAutoFit/>
          </a:bodyPr>
          <a:lstStyle/>
          <a:p>
            <a:pPr algn="ctr">
              <a:lnSpc>
                <a:spcPct val="110000"/>
              </a:lnSpc>
              <a:spcBef>
                <a:spcPts val="0"/>
              </a:spcBef>
              <a:spcAft>
                <a:spcPts val="200"/>
              </a:spcAft>
            </a:pPr>
            <a:r>
              <a:rPr sz="1250" b="1" dirty="0">
                <a:solidFill>
                  <a:srgbClr val="3A3326"/>
                </a:solidFill>
                <a:latin typeface="游明朝"/>
                <a:ea typeface="游明朝"/>
              </a:rPr>
              <a:t>Glamorous</a:t>
            </a:r>
          </a:p>
        </p:txBody>
      </p:sp>
      <p:sp>
        <p:nvSpPr>
          <p:cNvPr id="21" name="TextBox 20"/>
          <p:cNvSpPr txBox="1"/>
          <p:nvPr/>
        </p:nvSpPr>
        <p:spPr>
          <a:xfrm>
            <a:off x="5066284" y="7059168"/>
            <a:ext cx="1838198"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8C7339"/>
                </a:solidFill>
                <a:latin typeface="游ゴシック"/>
                <a:ea typeface="游ゴシック"/>
              </a:rPr>
              <a:t>華やか</a:t>
            </a:r>
          </a:p>
        </p:txBody>
      </p:sp>
      <p:sp>
        <p:nvSpPr>
          <p:cNvPr id="22" name="TextBox 21"/>
          <p:cNvSpPr txBox="1"/>
          <p:nvPr/>
        </p:nvSpPr>
        <p:spPr>
          <a:xfrm>
            <a:off x="566928" y="8778240"/>
            <a:ext cx="6428994" cy="213456"/>
          </a:xfrm>
          <a:prstGeom prst="rect">
            <a:avLst/>
          </a:prstGeom>
          <a:noFill/>
        </p:spPr>
        <p:txBody>
          <a:bodyPr wrap="square" lIns="0" tIns="0" rIns="0" bIns="0" anchor="t">
            <a:spAutoFit/>
          </a:bodyPr>
          <a:lstStyle/>
          <a:p>
            <a:pPr algn="ctr">
              <a:lnSpc>
                <a:spcPct val="112000"/>
              </a:lnSpc>
              <a:spcBef>
                <a:spcPts val="0"/>
              </a:spcBef>
              <a:spcAft>
                <a:spcPts val="200"/>
              </a:spcAft>
            </a:pPr>
            <a:r>
              <a:rPr sz="1300" b="1" dirty="0" err="1">
                <a:solidFill>
                  <a:srgbClr val="3A3326"/>
                </a:solidFill>
                <a:latin typeface="游明朝"/>
                <a:ea typeface="游明朝"/>
              </a:rPr>
              <a:t>羽</a:t>
            </a:r>
            <a:r>
              <a:rPr lang="ja-JP" altLang="en-US" sz="1300" b="1">
                <a:solidFill>
                  <a:srgbClr val="3A3326"/>
                </a:solidFill>
                <a:latin typeface="游明朝"/>
                <a:ea typeface="游明朝"/>
              </a:rPr>
              <a:t>根</a:t>
            </a:r>
            <a:r>
              <a:rPr sz="1300" b="1" dirty="0">
                <a:solidFill>
                  <a:srgbClr val="3A3326"/>
                </a:solidFill>
                <a:latin typeface="游明朝"/>
                <a:ea typeface="游明朝"/>
              </a:rPr>
              <a:t>和秀  ／  Dr. Hane</a:t>
            </a:r>
          </a:p>
        </p:txBody>
      </p:sp>
      <p:sp>
        <p:nvSpPr>
          <p:cNvPr id="23" name="TextBox 22"/>
          <p:cNvSpPr txBox="1"/>
          <p:nvPr/>
        </p:nvSpPr>
        <p:spPr>
          <a:xfrm>
            <a:off x="566928" y="9125712"/>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7A7060"/>
                </a:solidFill>
                <a:latin typeface="游ゴシック"/>
                <a:ea typeface="游ゴシック"/>
              </a:rPr>
              <a:t>@zetith_hane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115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INTRODUCTION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この資料の見方</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01</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640080"/>
          </a:xfrm>
          <a:prstGeom prst="rect">
            <a:avLst/>
          </a:prstGeom>
          <a:noFill/>
        </p:spPr>
        <p:txBody>
          <a:bodyPr wrap="square" lIns="0" tIns="0" rIns="0" bIns="0" anchor="t">
            <a:spAutoFit/>
          </a:bodyPr>
          <a:lstStyle/>
          <a:p>
            <a:pPr algn="l">
              <a:lnSpc>
                <a:spcPct val="155000"/>
              </a:lnSpc>
              <a:spcBef>
                <a:spcPts val="0"/>
              </a:spcBef>
              <a:spcAft>
                <a:spcPts val="200"/>
              </a:spcAft>
            </a:pPr>
            <a:r>
              <a:rPr sz="1100" b="0">
                <a:solidFill>
                  <a:srgbClr val="3A3326"/>
                </a:solidFill>
                <a:latin typeface="游ゴシック"/>
                <a:ea typeface="游ゴシック"/>
              </a:rPr>
              <a:t>本カタログは、Dr.羽根の症例を「お悩み（部位）」ごとに整理し、各症例に「なりたい印象」を1つ添えた症例集です。気になるお悩みからでも、なりたい印象からでも、ご自身に近い実例が見つかります。</a:t>
            </a:r>
          </a:p>
        </p:txBody>
      </p:sp>
      <p:sp>
        <p:nvSpPr>
          <p:cNvPr id="8" name="Rounded Rectangle 7"/>
          <p:cNvSpPr/>
          <p:nvPr/>
        </p:nvSpPr>
        <p:spPr>
          <a:xfrm>
            <a:off x="566928" y="2743200"/>
            <a:ext cx="3077337" cy="16002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743200"/>
            <a:ext cx="73152" cy="160020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294436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3A3326"/>
                </a:solidFill>
                <a:latin typeface="游明朝"/>
                <a:ea typeface="游明朝"/>
              </a:rPr>
              <a:t>印象（3タイプ）</a:t>
            </a:r>
          </a:p>
        </p:txBody>
      </p:sp>
      <p:sp>
        <p:nvSpPr>
          <p:cNvPr id="11" name="TextBox 10"/>
          <p:cNvSpPr txBox="1"/>
          <p:nvPr/>
        </p:nvSpPr>
        <p:spPr>
          <a:xfrm>
            <a:off x="841248" y="331012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B0934E"/>
                </a:solidFill>
                <a:latin typeface="游ゴシック"/>
                <a:ea typeface="游ゴシック"/>
              </a:rPr>
              <a:t>なりたい雰囲気</a:t>
            </a:r>
          </a:p>
        </p:txBody>
      </p:sp>
      <p:sp>
        <p:nvSpPr>
          <p:cNvPr id="12" name="TextBox 11"/>
          <p:cNvSpPr txBox="1"/>
          <p:nvPr/>
        </p:nvSpPr>
        <p:spPr>
          <a:xfrm>
            <a:off x="841248" y="3639312"/>
            <a:ext cx="2620137" cy="197683"/>
          </a:xfrm>
          <a:prstGeom prst="rect">
            <a:avLst/>
          </a:prstGeom>
          <a:noFill/>
        </p:spPr>
        <p:txBody>
          <a:bodyPr wrap="square" lIns="0" tIns="0" rIns="0" bIns="0" anchor="t">
            <a:spAutoFit/>
          </a:bodyPr>
          <a:lstStyle/>
          <a:p>
            <a:pPr algn="l">
              <a:lnSpc>
                <a:spcPct val="140000"/>
              </a:lnSpc>
              <a:spcBef>
                <a:spcPts val="0"/>
              </a:spcBef>
              <a:spcAft>
                <a:spcPts val="200"/>
              </a:spcAft>
            </a:pPr>
            <a:r>
              <a:rPr sz="1000" b="0" dirty="0" err="1">
                <a:solidFill>
                  <a:srgbClr val="7A7060"/>
                </a:solidFill>
                <a:latin typeface="游ゴシック"/>
                <a:ea typeface="游ゴシック"/>
              </a:rPr>
              <a:t>可愛い</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忘れ鼻</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華やか</a:t>
            </a:r>
            <a:endParaRPr sz="1000" b="0" dirty="0">
              <a:solidFill>
                <a:srgbClr val="7A7060"/>
              </a:solidFill>
              <a:latin typeface="游ゴシック"/>
              <a:ea typeface="游ゴシック"/>
            </a:endParaRPr>
          </a:p>
        </p:txBody>
      </p:sp>
      <p:sp>
        <p:nvSpPr>
          <p:cNvPr id="13" name="Rounded Rectangle 12"/>
          <p:cNvSpPr/>
          <p:nvPr/>
        </p:nvSpPr>
        <p:spPr>
          <a:xfrm>
            <a:off x="3918585" y="2743200"/>
            <a:ext cx="3077337" cy="16002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918585" y="2743200"/>
            <a:ext cx="73152" cy="160020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92905" y="294436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3A3326"/>
                </a:solidFill>
                <a:latin typeface="游明朝"/>
                <a:ea typeface="游明朝"/>
              </a:rPr>
              <a:t>お悩み（5部位）</a:t>
            </a:r>
          </a:p>
        </p:txBody>
      </p:sp>
      <p:sp>
        <p:nvSpPr>
          <p:cNvPr id="16" name="TextBox 15"/>
          <p:cNvSpPr txBox="1"/>
          <p:nvPr/>
        </p:nvSpPr>
        <p:spPr>
          <a:xfrm>
            <a:off x="4192905" y="331012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B0934E"/>
                </a:solidFill>
                <a:latin typeface="游ゴシック"/>
                <a:ea typeface="游ゴシック"/>
              </a:rPr>
              <a:t>気になる部位</a:t>
            </a:r>
          </a:p>
        </p:txBody>
      </p:sp>
      <p:sp>
        <p:nvSpPr>
          <p:cNvPr id="17" name="TextBox 16"/>
          <p:cNvSpPr txBox="1"/>
          <p:nvPr/>
        </p:nvSpPr>
        <p:spPr>
          <a:xfrm>
            <a:off x="4192905" y="3639312"/>
            <a:ext cx="2620137" cy="413126"/>
          </a:xfrm>
          <a:prstGeom prst="rect">
            <a:avLst/>
          </a:prstGeom>
          <a:noFill/>
        </p:spPr>
        <p:txBody>
          <a:bodyPr wrap="square" lIns="0" tIns="0" rIns="0" bIns="0" anchor="t">
            <a:spAutoFit/>
          </a:bodyPr>
          <a:lstStyle/>
          <a:p>
            <a:pPr algn="l">
              <a:lnSpc>
                <a:spcPct val="140000"/>
              </a:lnSpc>
              <a:spcBef>
                <a:spcPts val="0"/>
              </a:spcBef>
              <a:spcAft>
                <a:spcPts val="200"/>
              </a:spcAft>
            </a:pPr>
            <a:r>
              <a:rPr sz="1000" b="0" dirty="0" err="1">
                <a:solidFill>
                  <a:srgbClr val="7A7060"/>
                </a:solidFill>
                <a:latin typeface="游ゴシック"/>
                <a:ea typeface="游ゴシック"/>
              </a:rPr>
              <a:t>鼻先</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鼻筋</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小鼻・鼻の穴</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全体・横顔</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専門・修正</a:t>
            </a:r>
            <a:endParaRPr sz="1000" b="0" dirty="0">
              <a:solidFill>
                <a:srgbClr val="7A7060"/>
              </a:solidFill>
              <a:latin typeface="游ゴシック"/>
              <a:ea typeface="游ゴシック"/>
            </a:endParaRPr>
          </a:p>
        </p:txBody>
      </p:sp>
      <p:sp>
        <p:nvSpPr>
          <p:cNvPr id="18" name="TextBox 17"/>
          <p:cNvSpPr txBox="1"/>
          <p:nvPr/>
        </p:nvSpPr>
        <p:spPr>
          <a:xfrm>
            <a:off x="566928" y="4663440"/>
            <a:ext cx="642899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各症例ページに載っていること</a:t>
            </a:r>
          </a:p>
        </p:txBody>
      </p:sp>
      <p:sp>
        <p:nvSpPr>
          <p:cNvPr id="19" name="TextBox 18"/>
          <p:cNvSpPr txBox="1"/>
          <p:nvPr/>
        </p:nvSpPr>
        <p:spPr>
          <a:xfrm>
            <a:off x="566928" y="5074920"/>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① </a:t>
            </a:r>
            <a:r>
              <a:rPr sz="1100" b="1" dirty="0" err="1">
                <a:solidFill>
                  <a:srgbClr val="3A3326"/>
                </a:solidFill>
                <a:latin typeface="游ゴシック"/>
                <a:ea typeface="游ゴシック"/>
              </a:rPr>
              <a:t>お悩み・印象タグ</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部位＋印象</a:t>
            </a:r>
            <a:endParaRPr sz="930" b="0" dirty="0">
              <a:solidFill>
                <a:srgbClr val="7A7060"/>
              </a:solidFill>
              <a:latin typeface="游ゴシック"/>
              <a:ea typeface="游ゴシック"/>
            </a:endParaRPr>
          </a:p>
        </p:txBody>
      </p:sp>
      <p:sp>
        <p:nvSpPr>
          <p:cNvPr id="20" name="TextBox 19"/>
          <p:cNvSpPr txBox="1"/>
          <p:nvPr/>
        </p:nvSpPr>
        <p:spPr>
          <a:xfrm>
            <a:off x="3781425" y="5074920"/>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② Before / After　</a:t>
            </a:r>
          </a:p>
          <a:p>
            <a:pPr algn="l">
              <a:lnSpc>
                <a:spcPct val="120000"/>
              </a:lnSpc>
              <a:spcBef>
                <a:spcPts val="0"/>
              </a:spcBef>
              <a:spcAft>
                <a:spcPts val="200"/>
              </a:spcAft>
            </a:pPr>
            <a:r>
              <a:rPr lang="ja-JP" altLang="en-US" sz="930">
                <a:solidFill>
                  <a:srgbClr val="7A7060"/>
                </a:solidFill>
                <a:latin typeface="游ゴシック"/>
                <a:ea typeface="游ゴシック"/>
              </a:rPr>
              <a:t>実際の症例写真</a:t>
            </a:r>
            <a:endParaRPr sz="930" b="0" dirty="0">
              <a:solidFill>
                <a:srgbClr val="7A7060"/>
              </a:solidFill>
              <a:latin typeface="游ゴシック"/>
              <a:ea typeface="游ゴシック"/>
            </a:endParaRPr>
          </a:p>
        </p:txBody>
      </p:sp>
      <p:sp>
        <p:nvSpPr>
          <p:cNvPr id="21" name="TextBox 20"/>
          <p:cNvSpPr txBox="1"/>
          <p:nvPr/>
        </p:nvSpPr>
        <p:spPr>
          <a:xfrm>
            <a:off x="566928" y="5605272"/>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③ </a:t>
            </a:r>
            <a:r>
              <a:rPr sz="1100" b="1" dirty="0" err="1">
                <a:solidFill>
                  <a:srgbClr val="3A3326"/>
                </a:solidFill>
                <a:latin typeface="游ゴシック"/>
                <a:ea typeface="游ゴシック"/>
              </a:rPr>
              <a:t>設計のポイント</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この鼻で“何を狙ったか</a:t>
            </a:r>
            <a:r>
              <a:rPr sz="930" b="0" dirty="0">
                <a:solidFill>
                  <a:srgbClr val="7A7060"/>
                </a:solidFill>
                <a:latin typeface="游ゴシック"/>
                <a:ea typeface="游ゴシック"/>
              </a:rPr>
              <a:t>”</a:t>
            </a:r>
          </a:p>
        </p:txBody>
      </p:sp>
      <p:sp>
        <p:nvSpPr>
          <p:cNvPr id="22" name="TextBox 21"/>
          <p:cNvSpPr txBox="1"/>
          <p:nvPr/>
        </p:nvSpPr>
        <p:spPr>
          <a:xfrm>
            <a:off x="3781425" y="5605272"/>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④ </a:t>
            </a:r>
            <a:r>
              <a:rPr sz="1100" b="1" dirty="0" err="1">
                <a:solidFill>
                  <a:srgbClr val="3A3326"/>
                </a:solidFill>
                <a:latin typeface="游ゴシック"/>
                <a:ea typeface="游ゴシック"/>
              </a:rPr>
              <a:t>術式・使用材料</a:t>
            </a:r>
            <a:r>
              <a:rPr sz="1100" b="1" dirty="0">
                <a:solidFill>
                  <a:srgbClr val="3A3326"/>
                </a:solidFill>
                <a:latin typeface="游ゴシック"/>
                <a:ea typeface="游ゴシック"/>
              </a:rPr>
              <a:t>　</a:t>
            </a:r>
          </a:p>
          <a:p>
            <a:pPr algn="l">
              <a:lnSpc>
                <a:spcPct val="120000"/>
              </a:lnSpc>
              <a:spcBef>
                <a:spcPts val="0"/>
              </a:spcBef>
              <a:spcAft>
                <a:spcPts val="200"/>
              </a:spcAft>
            </a:pPr>
            <a:r>
              <a:rPr lang="ja-JP" altLang="en-US" sz="930" b="0">
                <a:solidFill>
                  <a:srgbClr val="7A7060"/>
                </a:solidFill>
                <a:latin typeface="游ゴシック"/>
                <a:ea typeface="游ゴシック"/>
              </a:rPr>
              <a:t>アプローチ法</a:t>
            </a:r>
            <a:r>
              <a:rPr sz="930" b="0" dirty="0">
                <a:solidFill>
                  <a:srgbClr val="7A7060"/>
                </a:solidFill>
                <a:latin typeface="游ゴシック"/>
                <a:ea typeface="游ゴシック"/>
              </a:rPr>
              <a:t>／</a:t>
            </a:r>
            <a:r>
              <a:rPr sz="930" b="0" dirty="0" err="1">
                <a:solidFill>
                  <a:srgbClr val="7A7060"/>
                </a:solidFill>
                <a:latin typeface="游ゴシック"/>
                <a:ea typeface="游ゴシック"/>
              </a:rPr>
              <a:t>使用した材料</a:t>
            </a:r>
            <a:endParaRPr sz="930" b="0" dirty="0">
              <a:solidFill>
                <a:srgbClr val="7A7060"/>
              </a:solidFill>
              <a:latin typeface="游ゴシック"/>
              <a:ea typeface="游ゴシック"/>
            </a:endParaRPr>
          </a:p>
        </p:txBody>
      </p:sp>
      <p:sp>
        <p:nvSpPr>
          <p:cNvPr id="23" name="TextBox 22"/>
          <p:cNvSpPr txBox="1"/>
          <p:nvPr/>
        </p:nvSpPr>
        <p:spPr>
          <a:xfrm>
            <a:off x="566928" y="6135624"/>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⑤ </a:t>
            </a:r>
            <a:r>
              <a:rPr sz="1100" b="1" dirty="0" err="1">
                <a:solidFill>
                  <a:srgbClr val="3A3326"/>
                </a:solidFill>
                <a:latin typeface="游ゴシック"/>
                <a:ea typeface="游ゴシック"/>
              </a:rPr>
              <a:t>ダウンタイム</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腫れ・内出血が引くまでの目安</a:t>
            </a:r>
            <a:endParaRPr sz="930" b="0" dirty="0">
              <a:solidFill>
                <a:srgbClr val="7A7060"/>
              </a:solidFill>
              <a:latin typeface="游ゴシック"/>
              <a:ea typeface="游ゴシック"/>
            </a:endParaRPr>
          </a:p>
        </p:txBody>
      </p:sp>
      <p:sp>
        <p:nvSpPr>
          <p:cNvPr id="24" name="TextBox 23"/>
          <p:cNvSpPr txBox="1"/>
          <p:nvPr/>
        </p:nvSpPr>
        <p:spPr>
          <a:xfrm>
            <a:off x="3781425" y="6135624"/>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⑥ </a:t>
            </a:r>
            <a:r>
              <a:rPr sz="1100" b="1" dirty="0" err="1">
                <a:solidFill>
                  <a:srgbClr val="3A3326"/>
                </a:solidFill>
                <a:latin typeface="游ゴシック"/>
                <a:ea typeface="游ゴシック"/>
              </a:rPr>
              <a:t>リスク・副作用</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起こりうる症状（必読</a:t>
            </a:r>
            <a:r>
              <a:rPr sz="930" b="0" dirty="0">
                <a:solidFill>
                  <a:srgbClr val="7A7060"/>
                </a:solidFill>
                <a:latin typeface="游ゴシック"/>
                <a:ea typeface="游ゴシック"/>
              </a:rPr>
              <a:t>）</a:t>
            </a:r>
          </a:p>
        </p:txBody>
      </p:sp>
      <p:sp>
        <p:nvSpPr>
          <p:cNvPr id="25" name="TextBox 24"/>
          <p:cNvSpPr txBox="1"/>
          <p:nvPr/>
        </p:nvSpPr>
        <p:spPr>
          <a:xfrm>
            <a:off x="566928" y="6665976"/>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⑦ </a:t>
            </a:r>
            <a:r>
              <a:rPr sz="1100" b="1" dirty="0" err="1">
                <a:solidFill>
                  <a:srgbClr val="3A3326"/>
                </a:solidFill>
                <a:latin typeface="游ゴシック"/>
                <a:ea typeface="游ゴシック"/>
              </a:rPr>
              <a:t>通常料金＋月</a:t>
            </a:r>
            <a:r>
              <a:rPr sz="1100" b="1" dirty="0">
                <a:solidFill>
                  <a:srgbClr val="3A3326"/>
                </a:solidFill>
                <a:latin typeface="游ゴシック"/>
                <a:ea typeface="游ゴシック"/>
              </a:rPr>
              <a:t>々　</a:t>
            </a:r>
          </a:p>
          <a:p>
            <a:pPr algn="l">
              <a:lnSpc>
                <a:spcPct val="120000"/>
              </a:lnSpc>
              <a:spcBef>
                <a:spcPts val="0"/>
              </a:spcBef>
              <a:spcAft>
                <a:spcPts val="200"/>
              </a:spcAft>
            </a:pPr>
            <a:r>
              <a:rPr sz="930" b="0" dirty="0" err="1">
                <a:solidFill>
                  <a:srgbClr val="7A7060"/>
                </a:solidFill>
                <a:latin typeface="游ゴシック"/>
                <a:ea typeface="游ゴシック"/>
              </a:rPr>
              <a:t>税込・通常料金とローン例</a:t>
            </a:r>
            <a:endParaRPr sz="930" b="0" dirty="0">
              <a:solidFill>
                <a:srgbClr val="7A7060"/>
              </a:solidFill>
              <a:latin typeface="游ゴシック"/>
              <a:ea typeface="游ゴシック"/>
            </a:endParaRPr>
          </a:p>
        </p:txBody>
      </p:sp>
      <p:sp>
        <p:nvSpPr>
          <p:cNvPr id="27" name="Rounded Rectangle 26"/>
          <p:cNvSpPr/>
          <p:nvPr/>
        </p:nvSpPr>
        <p:spPr>
          <a:xfrm>
            <a:off x="566928" y="7863840"/>
            <a:ext cx="6428994" cy="201168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86968" y="8046720"/>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200" b="1">
                <a:solidFill>
                  <a:srgbClr val="8C7339"/>
                </a:solidFill>
                <a:latin typeface="游ゴシック"/>
                <a:ea typeface="游ゴシック"/>
              </a:rPr>
              <a:t>⚠ 必ずお読みください</a:t>
            </a:r>
          </a:p>
        </p:txBody>
      </p:sp>
      <p:sp>
        <p:nvSpPr>
          <p:cNvPr id="29" name="TextBox 28"/>
          <p:cNvSpPr txBox="1"/>
          <p:nvPr/>
        </p:nvSpPr>
        <p:spPr>
          <a:xfrm>
            <a:off x="886968" y="8412480"/>
            <a:ext cx="5788914" cy="1097280"/>
          </a:xfrm>
          <a:prstGeom prst="rect">
            <a:avLst/>
          </a:prstGeom>
          <a:noFill/>
        </p:spPr>
        <p:txBody>
          <a:bodyPr wrap="square" lIns="0" tIns="0" rIns="0" bIns="0" anchor="t">
            <a:spAutoFit/>
          </a:bodyPr>
          <a:lstStyle/>
          <a:p>
            <a:pPr algn="l">
              <a:lnSpc>
                <a:spcPct val="155000"/>
              </a:lnSpc>
              <a:spcBef>
                <a:spcPts val="0"/>
              </a:spcBef>
              <a:spcAft>
                <a:spcPts val="200"/>
              </a:spcAft>
            </a:pPr>
            <a:r>
              <a:rPr sz="1000" b="0" dirty="0">
                <a:solidFill>
                  <a:srgbClr val="3A3326"/>
                </a:solidFill>
                <a:latin typeface="游ゴシック"/>
                <a:ea typeface="游ゴシック"/>
              </a:rPr>
              <a:t>・</a:t>
            </a:r>
            <a:r>
              <a:rPr sz="1000" b="0" dirty="0" err="1">
                <a:solidFill>
                  <a:srgbClr val="3A3326"/>
                </a:solidFill>
                <a:latin typeface="游ゴシック"/>
                <a:ea typeface="游ゴシック"/>
              </a:rPr>
              <a:t>掲載写真はご本人の同意を得て掲載しています。効果には個人差があります</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鼻整形は自由診療（保険適用外）です。各症例に通常料金（税込）とリスクを記載しています</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モニター価格・最新料金は院内／カウンセリングでご案内します（本資料には割引額を掲載していません</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本資料は手術を保証・推奨するものではなく、判断はカウンセリングで一緒に行います</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デザインカタログ｜この資料の見方</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ABOUT IMPRESSION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3つの印象とは</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02</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640080"/>
          </a:xfrm>
          <a:prstGeom prst="rect">
            <a:avLst/>
          </a:prstGeom>
          <a:noFill/>
        </p:spPr>
        <p:txBody>
          <a:bodyPr wrap="square" lIns="0" tIns="0" rIns="0" bIns="0" anchor="t">
            <a:spAutoFit/>
          </a:bodyPr>
          <a:lstStyle/>
          <a:p>
            <a:pPr algn="l">
              <a:lnSpc>
                <a:spcPct val="155000"/>
              </a:lnSpc>
              <a:spcBef>
                <a:spcPts val="0"/>
              </a:spcBef>
              <a:spcAft>
                <a:spcPts val="200"/>
              </a:spcAft>
            </a:pPr>
            <a:r>
              <a:rPr sz="1100" b="0">
                <a:solidFill>
                  <a:srgbClr val="3A3326"/>
                </a:solidFill>
                <a:latin typeface="游ゴシック"/>
                <a:ea typeface="游ゴシック"/>
              </a:rPr>
              <a:t>当院は「どこを変えるか」より「どんな印象になりたいか」から設計します。下の3つが、なりたい雰囲気の方向性です。各症例には、その仕上がりに最も近い印象を1つだけ表示しています。</a:t>
            </a:r>
          </a:p>
        </p:txBody>
      </p:sp>
      <p:sp>
        <p:nvSpPr>
          <p:cNvPr id="8" name="Rounded Rectangle 7"/>
          <p:cNvSpPr/>
          <p:nvPr/>
        </p:nvSpPr>
        <p:spPr>
          <a:xfrm>
            <a:off x="566928" y="2697480"/>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697480"/>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32688" y="2898648"/>
            <a:ext cx="5697474" cy="279179"/>
          </a:xfrm>
          <a:prstGeom prst="rect">
            <a:avLst/>
          </a:prstGeom>
          <a:noFill/>
        </p:spPr>
        <p:txBody>
          <a:bodyPr wrap="square" lIns="0" tIns="0" rIns="0" bIns="0" anchor="t">
            <a:spAutoFit/>
          </a:bodyPr>
          <a:lstStyle/>
          <a:p>
            <a:pPr algn="l">
              <a:lnSpc>
                <a:spcPct val="112000"/>
              </a:lnSpc>
              <a:spcBef>
                <a:spcPts val="0"/>
              </a:spcBef>
              <a:spcAft>
                <a:spcPts val="200"/>
              </a:spcAft>
            </a:pPr>
            <a:r>
              <a:rPr sz="1700" b="1" dirty="0">
                <a:solidFill>
                  <a:srgbClr val="3A3326"/>
                </a:solidFill>
                <a:latin typeface="游明朝"/>
                <a:ea typeface="游明朝"/>
              </a:rPr>
              <a:t>Cute</a:t>
            </a:r>
          </a:p>
        </p:txBody>
      </p:sp>
      <p:sp>
        <p:nvSpPr>
          <p:cNvPr id="11" name="TextBox 10"/>
          <p:cNvSpPr txBox="1"/>
          <p:nvPr/>
        </p:nvSpPr>
        <p:spPr>
          <a:xfrm>
            <a:off x="932688" y="335584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250" b="1">
                <a:solidFill>
                  <a:srgbClr val="8C7339"/>
                </a:solidFill>
                <a:latin typeface="游ゴシック"/>
                <a:ea typeface="游ゴシック"/>
              </a:rPr>
              <a:t>可愛い</a:t>
            </a:r>
          </a:p>
        </p:txBody>
      </p:sp>
      <p:sp>
        <p:nvSpPr>
          <p:cNvPr id="12" name="TextBox 11"/>
          <p:cNvSpPr txBox="1"/>
          <p:nvPr/>
        </p:nvSpPr>
        <p:spPr>
          <a:xfrm>
            <a:off x="932688" y="3685032"/>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丸み・短さ・アップノーズ・あざと可愛い</a:t>
            </a:r>
          </a:p>
        </p:txBody>
      </p:sp>
      <p:sp>
        <p:nvSpPr>
          <p:cNvPr id="13" name="TextBox 12"/>
          <p:cNvSpPr txBox="1"/>
          <p:nvPr/>
        </p:nvSpPr>
        <p:spPr>
          <a:xfrm>
            <a:off x="932688" y="399592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やわらかく親しみやすい印象にしたい方</a:t>
            </a:r>
          </a:p>
        </p:txBody>
      </p:sp>
      <p:sp>
        <p:nvSpPr>
          <p:cNvPr id="14" name="TextBox 13"/>
          <p:cNvSpPr txBox="1"/>
          <p:nvPr/>
        </p:nvSpPr>
        <p:spPr>
          <a:xfrm>
            <a:off x="932688" y="4288536"/>
            <a:ext cx="5697474" cy="320040"/>
          </a:xfrm>
          <a:prstGeom prst="rect">
            <a:avLst/>
          </a:prstGeom>
          <a:noFill/>
        </p:spPr>
        <p:txBody>
          <a:bodyPr wrap="square" lIns="0" tIns="0" rIns="0" bIns="0" anchor="t">
            <a:spAutoFit/>
          </a:bodyPr>
          <a:lstStyle/>
          <a:p>
            <a:pPr algn="l">
              <a:lnSpc>
                <a:spcPct val="125000"/>
              </a:lnSpc>
              <a:spcBef>
                <a:spcPts val="0"/>
              </a:spcBef>
              <a:spcAft>
                <a:spcPts val="200"/>
              </a:spcAft>
            </a:pPr>
            <a:r>
              <a:rPr sz="1000" b="1">
                <a:solidFill>
                  <a:srgbClr val="8C7339"/>
                </a:solidFill>
                <a:latin typeface="游ゴシック"/>
                <a:ea typeface="游ゴシック"/>
              </a:rPr>
              <a:t>設計の方向　　</a:t>
            </a:r>
            <a:r>
              <a:rPr sz="1000" b="0">
                <a:solidFill>
                  <a:srgbClr val="3A3326"/>
                </a:solidFill>
                <a:latin typeface="游ゴシック"/>
                <a:ea typeface="游ゴシック"/>
              </a:rPr>
              <a:t>鼻先に丸みを残し、中顔面を短く、小鼻を上げて“あざと可愛い”バランスに。</a:t>
            </a:r>
          </a:p>
        </p:txBody>
      </p:sp>
      <p:sp>
        <p:nvSpPr>
          <p:cNvPr id="15" name="Rounded Rectangle 14"/>
          <p:cNvSpPr/>
          <p:nvPr/>
        </p:nvSpPr>
        <p:spPr>
          <a:xfrm>
            <a:off x="566928" y="4864608"/>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66928" y="4864608"/>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32688" y="5065776"/>
            <a:ext cx="5697474" cy="279179"/>
          </a:xfrm>
          <a:prstGeom prst="rect">
            <a:avLst/>
          </a:prstGeom>
          <a:noFill/>
        </p:spPr>
        <p:txBody>
          <a:bodyPr wrap="square" lIns="0" tIns="0" rIns="0" bIns="0" anchor="t">
            <a:spAutoFit/>
          </a:bodyPr>
          <a:lstStyle/>
          <a:p>
            <a:pPr algn="l">
              <a:lnSpc>
                <a:spcPct val="112000"/>
              </a:lnSpc>
              <a:spcBef>
                <a:spcPts val="0"/>
              </a:spcBef>
              <a:spcAft>
                <a:spcPts val="200"/>
              </a:spcAft>
            </a:pPr>
            <a:r>
              <a:rPr lang="en-US" altLang="ja-JP" sz="1700" b="1" dirty="0">
                <a:solidFill>
                  <a:srgbClr val="3A3326"/>
                </a:solidFill>
                <a:latin typeface="游明朝"/>
                <a:ea typeface="游明朝"/>
              </a:rPr>
              <a:t>Natural</a:t>
            </a:r>
            <a:endParaRPr sz="1700" b="1" dirty="0">
              <a:solidFill>
                <a:srgbClr val="3A3326"/>
              </a:solidFill>
              <a:latin typeface="游明朝"/>
              <a:ea typeface="游明朝"/>
            </a:endParaRPr>
          </a:p>
        </p:txBody>
      </p:sp>
      <p:sp>
        <p:nvSpPr>
          <p:cNvPr id="18" name="TextBox 17"/>
          <p:cNvSpPr txBox="1"/>
          <p:nvPr/>
        </p:nvSpPr>
        <p:spPr>
          <a:xfrm>
            <a:off x="932688" y="5522976"/>
            <a:ext cx="5697474" cy="206210"/>
          </a:xfrm>
          <a:prstGeom prst="rect">
            <a:avLst/>
          </a:prstGeom>
          <a:noFill/>
        </p:spPr>
        <p:txBody>
          <a:bodyPr wrap="square" lIns="0" tIns="0" rIns="0" bIns="0" anchor="t">
            <a:spAutoFit/>
          </a:bodyPr>
          <a:lstStyle/>
          <a:p>
            <a:pPr algn="l">
              <a:lnSpc>
                <a:spcPct val="112000"/>
              </a:lnSpc>
              <a:spcBef>
                <a:spcPts val="0"/>
              </a:spcBef>
              <a:spcAft>
                <a:spcPts val="200"/>
              </a:spcAft>
            </a:pPr>
            <a:r>
              <a:rPr sz="1250" b="1" dirty="0" err="1">
                <a:solidFill>
                  <a:srgbClr val="8C7339"/>
                </a:solidFill>
                <a:latin typeface="游ゴシック"/>
                <a:ea typeface="游ゴシック"/>
              </a:rPr>
              <a:t>忘れ鼻</a:t>
            </a:r>
            <a:endParaRPr sz="1250" b="1" dirty="0">
              <a:solidFill>
                <a:srgbClr val="8C7339"/>
              </a:solidFill>
              <a:latin typeface="游ゴシック"/>
              <a:ea typeface="游ゴシック"/>
            </a:endParaRPr>
          </a:p>
        </p:txBody>
      </p:sp>
      <p:sp>
        <p:nvSpPr>
          <p:cNvPr id="19" name="TextBox 18"/>
          <p:cNvSpPr txBox="1"/>
          <p:nvPr/>
        </p:nvSpPr>
        <p:spPr>
          <a:xfrm>
            <a:off x="932688" y="5852160"/>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まっすぐ・自然な高さ・やりすぎない</a:t>
            </a:r>
          </a:p>
        </p:txBody>
      </p:sp>
      <p:sp>
        <p:nvSpPr>
          <p:cNvPr id="20" name="TextBox 19"/>
          <p:cNvSpPr txBox="1"/>
          <p:nvPr/>
        </p:nvSpPr>
        <p:spPr>
          <a:xfrm>
            <a:off x="932688" y="6163056"/>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整形と気づかれず、横顔に品を出したい方</a:t>
            </a:r>
          </a:p>
        </p:txBody>
      </p:sp>
      <p:sp>
        <p:nvSpPr>
          <p:cNvPr id="21" name="TextBox 20"/>
          <p:cNvSpPr txBox="1"/>
          <p:nvPr/>
        </p:nvSpPr>
        <p:spPr>
          <a:xfrm>
            <a:off x="932688" y="6455664"/>
            <a:ext cx="5697474" cy="180306"/>
          </a:xfrm>
          <a:prstGeom prst="rect">
            <a:avLst/>
          </a:prstGeom>
          <a:noFill/>
        </p:spPr>
        <p:txBody>
          <a:bodyPr wrap="square" lIns="0" tIns="0" rIns="0" bIns="0" anchor="t">
            <a:spAutoFit/>
          </a:bodyPr>
          <a:lstStyle/>
          <a:p>
            <a:pPr algn="l">
              <a:lnSpc>
                <a:spcPct val="125000"/>
              </a:lnSpc>
              <a:spcBef>
                <a:spcPts val="0"/>
              </a:spcBef>
              <a:spcAft>
                <a:spcPts val="200"/>
              </a:spcAft>
            </a:pPr>
            <a:r>
              <a:rPr sz="1000" b="1" dirty="0" err="1">
                <a:solidFill>
                  <a:srgbClr val="8C7339"/>
                </a:solidFill>
                <a:latin typeface="游ゴシック"/>
                <a:ea typeface="游ゴシック"/>
              </a:rPr>
              <a:t>設計の方向</a:t>
            </a:r>
            <a:r>
              <a:rPr sz="1000" b="1" dirty="0">
                <a:solidFill>
                  <a:srgbClr val="8C7339"/>
                </a:solidFill>
                <a:latin typeface="游ゴシック"/>
                <a:ea typeface="游ゴシック"/>
              </a:rPr>
              <a:t>　　</a:t>
            </a:r>
            <a:r>
              <a:rPr sz="1000" b="0" dirty="0" err="1">
                <a:solidFill>
                  <a:srgbClr val="3A3326"/>
                </a:solidFill>
                <a:latin typeface="游ゴシック"/>
                <a:ea typeface="游ゴシック"/>
              </a:rPr>
              <a:t>余計な凹凸だけを整え、自然で“バレない</a:t>
            </a:r>
            <a:r>
              <a:rPr sz="1000" b="0" dirty="0">
                <a:solidFill>
                  <a:srgbClr val="3A3326"/>
                </a:solidFill>
                <a:latin typeface="游ゴシック"/>
                <a:ea typeface="游ゴシック"/>
              </a:rPr>
              <a:t>”</a:t>
            </a:r>
            <a:r>
              <a:rPr lang="ja-JP" altLang="en-US" sz="1000" b="0">
                <a:solidFill>
                  <a:srgbClr val="3A3326"/>
                </a:solidFill>
                <a:latin typeface="游ゴシック"/>
                <a:ea typeface="游ゴシック"/>
              </a:rPr>
              <a:t>デザイン</a:t>
            </a:r>
            <a:r>
              <a:rPr sz="1000" b="0" dirty="0">
                <a:solidFill>
                  <a:srgbClr val="3A3326"/>
                </a:solidFill>
                <a:latin typeface="游ゴシック"/>
                <a:ea typeface="游ゴシック"/>
              </a:rPr>
              <a:t>。</a:t>
            </a:r>
          </a:p>
        </p:txBody>
      </p:sp>
      <p:sp>
        <p:nvSpPr>
          <p:cNvPr id="22" name="Rounded Rectangle 21"/>
          <p:cNvSpPr/>
          <p:nvPr/>
        </p:nvSpPr>
        <p:spPr>
          <a:xfrm>
            <a:off x="566928" y="7031736"/>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66928" y="7031736"/>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32688" y="7232904"/>
            <a:ext cx="5697474" cy="279179"/>
          </a:xfrm>
          <a:prstGeom prst="rect">
            <a:avLst/>
          </a:prstGeom>
          <a:noFill/>
        </p:spPr>
        <p:txBody>
          <a:bodyPr wrap="square" lIns="0" tIns="0" rIns="0" bIns="0" anchor="t">
            <a:spAutoFit/>
          </a:bodyPr>
          <a:lstStyle/>
          <a:p>
            <a:pPr algn="l">
              <a:lnSpc>
                <a:spcPct val="112000"/>
              </a:lnSpc>
              <a:spcBef>
                <a:spcPts val="0"/>
              </a:spcBef>
              <a:spcAft>
                <a:spcPts val="200"/>
              </a:spcAft>
            </a:pPr>
            <a:r>
              <a:rPr sz="1700" b="1" dirty="0">
                <a:solidFill>
                  <a:srgbClr val="3A3326"/>
                </a:solidFill>
                <a:latin typeface="游明朝"/>
                <a:ea typeface="游明朝"/>
              </a:rPr>
              <a:t>Glamorous</a:t>
            </a:r>
          </a:p>
        </p:txBody>
      </p:sp>
      <p:sp>
        <p:nvSpPr>
          <p:cNvPr id="25" name="TextBox 24"/>
          <p:cNvSpPr txBox="1"/>
          <p:nvPr/>
        </p:nvSpPr>
        <p:spPr>
          <a:xfrm>
            <a:off x="932688" y="7690104"/>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250" b="1">
                <a:solidFill>
                  <a:srgbClr val="8C7339"/>
                </a:solidFill>
                <a:latin typeface="游ゴシック"/>
                <a:ea typeface="游ゴシック"/>
              </a:rPr>
              <a:t>華やか</a:t>
            </a:r>
          </a:p>
        </p:txBody>
      </p:sp>
      <p:sp>
        <p:nvSpPr>
          <p:cNvPr id="26" name="TextBox 25"/>
          <p:cNvSpPr txBox="1"/>
          <p:nvPr/>
        </p:nvSpPr>
        <p:spPr>
          <a:xfrm>
            <a:off x="932688" y="801928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高さ・シャープ・Eライン・主役級</a:t>
            </a:r>
          </a:p>
        </p:txBody>
      </p:sp>
      <p:sp>
        <p:nvSpPr>
          <p:cNvPr id="27" name="TextBox 26"/>
          <p:cNvSpPr txBox="1"/>
          <p:nvPr/>
        </p:nvSpPr>
        <p:spPr>
          <a:xfrm>
            <a:off x="932688" y="8330184"/>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しっかり変化させて華やかにしたい方</a:t>
            </a:r>
          </a:p>
        </p:txBody>
      </p:sp>
      <p:sp>
        <p:nvSpPr>
          <p:cNvPr id="28" name="TextBox 27"/>
          <p:cNvSpPr txBox="1"/>
          <p:nvPr/>
        </p:nvSpPr>
        <p:spPr>
          <a:xfrm>
            <a:off x="932688" y="8622792"/>
            <a:ext cx="5697474" cy="320040"/>
          </a:xfrm>
          <a:prstGeom prst="rect">
            <a:avLst/>
          </a:prstGeom>
          <a:noFill/>
        </p:spPr>
        <p:txBody>
          <a:bodyPr wrap="square" lIns="0" tIns="0" rIns="0" bIns="0" anchor="t">
            <a:spAutoFit/>
          </a:bodyPr>
          <a:lstStyle/>
          <a:p>
            <a:pPr algn="l">
              <a:lnSpc>
                <a:spcPct val="125000"/>
              </a:lnSpc>
              <a:spcBef>
                <a:spcPts val="0"/>
              </a:spcBef>
              <a:spcAft>
                <a:spcPts val="200"/>
              </a:spcAft>
            </a:pPr>
            <a:r>
              <a:rPr sz="1000" b="1">
                <a:solidFill>
                  <a:srgbClr val="8C7339"/>
                </a:solidFill>
                <a:latin typeface="游ゴシック"/>
                <a:ea typeface="游ゴシック"/>
              </a:rPr>
              <a:t>設計の方向　　</a:t>
            </a:r>
            <a:r>
              <a:rPr sz="1000" b="0">
                <a:solidFill>
                  <a:srgbClr val="3A3326"/>
                </a:solidFill>
                <a:latin typeface="游ゴシック"/>
                <a:ea typeface="游ゴシック"/>
              </a:rPr>
              <a:t>鼻筋に高さ、鼻先をシャープに、Eラインまで設計して主役級の横顔に。</a:t>
            </a:r>
          </a:p>
        </p:txBody>
      </p:sp>
      <p:sp>
        <p:nvSpPr>
          <p:cNvPr id="29" name="Rounded Rectangle 28"/>
          <p:cNvSpPr/>
          <p:nvPr/>
        </p:nvSpPr>
        <p:spPr>
          <a:xfrm>
            <a:off x="566928" y="9336915"/>
            <a:ext cx="6428994" cy="7772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86968" y="9453783"/>
            <a:ext cx="5788914" cy="459421"/>
          </a:xfrm>
          <a:prstGeom prst="rect">
            <a:avLst/>
          </a:prstGeom>
          <a:noFill/>
        </p:spPr>
        <p:txBody>
          <a:bodyPr wrap="square" lIns="0" tIns="0" rIns="0" bIns="0" anchor="ctr">
            <a:spAutoFit/>
          </a:bodyPr>
          <a:lstStyle/>
          <a:p>
            <a:pPr algn="l">
              <a:lnSpc>
                <a:spcPct val="140000"/>
              </a:lnSpc>
              <a:spcBef>
                <a:spcPts val="0"/>
              </a:spcBef>
              <a:spcAft>
                <a:spcPts val="200"/>
              </a:spcAft>
            </a:pPr>
            <a:r>
              <a:rPr sz="1050" b="1" dirty="0" err="1">
                <a:solidFill>
                  <a:srgbClr val="8C7339"/>
                </a:solidFill>
                <a:latin typeface="游ゴシック"/>
                <a:ea typeface="游ゴシック"/>
              </a:rPr>
              <a:t>ポイント</a:t>
            </a:r>
            <a:r>
              <a:rPr sz="1050" b="1" dirty="0">
                <a:solidFill>
                  <a:srgbClr val="8C7339"/>
                </a:solidFill>
                <a:latin typeface="游ゴシック"/>
                <a:ea typeface="游ゴシック"/>
              </a:rPr>
              <a:t>　</a:t>
            </a:r>
            <a:r>
              <a:rPr sz="1050" b="0" dirty="0" err="1">
                <a:solidFill>
                  <a:srgbClr val="3A3326"/>
                </a:solidFill>
                <a:latin typeface="游ゴシック"/>
                <a:ea typeface="游ゴシック"/>
              </a:rPr>
              <a:t>同じお悩みでも、可愛い〜華やかまで“方向”を選べます</a:t>
            </a:r>
            <a:r>
              <a:rPr sz="1050" b="0" dirty="0">
                <a:solidFill>
                  <a:srgbClr val="3A3326"/>
                </a:solidFill>
                <a:latin typeface="游ゴシック"/>
                <a:ea typeface="游ゴシック"/>
              </a:rPr>
              <a:t>。</a:t>
            </a:r>
            <a:endParaRPr lang="en-US" sz="1050" b="0" dirty="0">
              <a:solidFill>
                <a:srgbClr val="3A3326"/>
              </a:solidFill>
              <a:latin typeface="游ゴシック"/>
              <a:ea typeface="游ゴシック"/>
            </a:endParaRPr>
          </a:p>
          <a:p>
            <a:pPr algn="l">
              <a:lnSpc>
                <a:spcPct val="140000"/>
              </a:lnSpc>
              <a:spcBef>
                <a:spcPts val="0"/>
              </a:spcBef>
              <a:spcAft>
                <a:spcPts val="200"/>
              </a:spcAft>
            </a:pPr>
            <a:r>
              <a:rPr sz="1050" b="0" dirty="0" err="1">
                <a:solidFill>
                  <a:srgbClr val="3A3326"/>
                </a:solidFill>
                <a:latin typeface="游ゴシック"/>
                <a:ea typeface="游ゴシック"/>
              </a:rPr>
              <a:t>各症例の印象は、その方の仕上がりの一例です</a:t>
            </a:r>
            <a:r>
              <a:rPr sz="1050" b="0" dirty="0">
                <a:solidFill>
                  <a:srgbClr val="3A3326"/>
                </a:solidFill>
                <a:latin typeface="游ゴシック"/>
                <a:ea typeface="游ゴシック"/>
              </a:rPr>
              <a:t>。</a:t>
            </a:r>
          </a:p>
        </p:txBody>
      </p:sp>
      <p:sp>
        <p:nvSpPr>
          <p:cNvPr id="31" name="TextBox 30"/>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デザインカタログ｜3つの印象とは</a:t>
            </a:r>
          </a:p>
        </p:txBody>
      </p:sp>
      <p:sp>
        <p:nvSpPr>
          <p:cNvPr id="32" name="TextBox 31"/>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INDEX</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お悩み・印象 目次</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03</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00200"/>
            <a:ext cx="6428994" cy="365760"/>
          </a:xfrm>
          <a:prstGeom prst="rect">
            <a:avLst/>
          </a:prstGeom>
          <a:noFill/>
        </p:spPr>
        <p:txBody>
          <a:bodyPr wrap="square" lIns="0" tIns="0" rIns="0" bIns="0" anchor="t">
            <a:spAutoFit/>
          </a:bodyPr>
          <a:lstStyle/>
          <a:p>
            <a:pPr algn="l">
              <a:lnSpc>
                <a:spcPct val="140000"/>
              </a:lnSpc>
              <a:spcBef>
                <a:spcPts val="0"/>
              </a:spcBef>
              <a:spcAft>
                <a:spcPts val="200"/>
              </a:spcAft>
            </a:pPr>
            <a:r>
              <a:rPr sz="1050" b="0">
                <a:solidFill>
                  <a:srgbClr val="3A3326"/>
                </a:solidFill>
                <a:latin typeface="游ゴシック"/>
                <a:ea typeface="游ゴシック"/>
              </a:rPr>
              <a:t>お悩み（部位）別の症例一覧です。各症例の「印象」と掲載ページをまとめています。気になるお悩みからご覧ください。</a:t>
            </a:r>
          </a:p>
        </p:txBody>
      </p:sp>
      <p:sp>
        <p:nvSpPr>
          <p:cNvPr id="9" name="TextBox 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デザインカタログ｜お悩み・印象 目次</a:t>
            </a:r>
          </a:p>
        </p:txBody>
      </p:sp>
      <p:sp>
        <p:nvSpPr>
          <p:cNvPr id="10" name="TextBox 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graphicFrame>
        <p:nvGraphicFramePr>
          <p:cNvPr id="11" name="Table 10"/>
          <p:cNvGraphicFramePr>
            <a:graphicFrameLocks noGrp="1"/>
          </p:cNvGraphicFramePr>
          <p:nvPr>
            <p:extLst>
              <p:ext uri="{D42A27DB-BD31-4B8C-83A1-F6EECF244321}">
                <p14:modId xmlns:p14="http://schemas.microsoft.com/office/powerpoint/2010/main" val="2169416578"/>
              </p:ext>
            </p:extLst>
          </p:nvPr>
        </p:nvGraphicFramePr>
        <p:xfrm>
          <a:off x="566928" y="2194560"/>
          <a:ext cx="6428992" cy="7406640"/>
        </p:xfrm>
        <a:graphic>
          <a:graphicData uri="http://schemas.openxmlformats.org/drawingml/2006/table">
            <a:tbl>
              <a:tblPr firstRow="1" bandRow="1">
                <a:tableStyleId>{5C22544A-7EE6-4342-B048-85BDC9FD1C3A}</a:tableStyleId>
              </a:tblPr>
              <a:tblGrid>
                <a:gridCol w="3600236">
                  <a:extLst>
                    <a:ext uri="{9D8B030D-6E8A-4147-A177-3AD203B41FA5}">
                      <a16:colId xmlns:a16="http://schemas.microsoft.com/office/drawing/2014/main" val="20000"/>
                    </a:ext>
                  </a:extLst>
                </a:gridCol>
                <a:gridCol w="1542958">
                  <a:extLst>
                    <a:ext uri="{9D8B030D-6E8A-4147-A177-3AD203B41FA5}">
                      <a16:colId xmlns:a16="http://schemas.microsoft.com/office/drawing/2014/main" val="20001"/>
                    </a:ext>
                  </a:extLst>
                </a:gridCol>
                <a:gridCol w="1285798">
                  <a:extLst>
                    <a:ext uri="{9D8B030D-6E8A-4147-A177-3AD203B41FA5}">
                      <a16:colId xmlns:a16="http://schemas.microsoft.com/office/drawing/2014/main" val="20002"/>
                    </a:ext>
                  </a:extLst>
                </a:gridCol>
              </a:tblGrid>
              <a:tr h="370332">
                <a:tc>
                  <a:txBody>
                    <a:bodyPr/>
                    <a:lstStyle/>
                    <a:p>
                      <a:pPr algn="l"/>
                      <a:r>
                        <a:rPr sz="1100" b="1">
                          <a:solidFill>
                            <a:srgbClr val="FFFFFF"/>
                          </a:solidFill>
                          <a:latin typeface="游明朝"/>
                          <a:ea typeface="游明朝"/>
                        </a:rPr>
                        <a:t>お悩み（症例）</a:t>
                      </a:r>
                    </a:p>
                  </a:txBody>
                  <a:tcPr marL="80000" marR="60000" marT="12000" marB="12000" anchor="ctr">
                    <a:solidFill>
                      <a:srgbClr val="B0934E"/>
                    </a:solidFill>
                  </a:tcPr>
                </a:tc>
                <a:tc>
                  <a:txBody>
                    <a:bodyPr/>
                    <a:lstStyle/>
                    <a:p>
                      <a:pPr algn="ctr"/>
                      <a:r>
                        <a:rPr sz="1100" b="1">
                          <a:solidFill>
                            <a:srgbClr val="FFFFFF"/>
                          </a:solidFill>
                          <a:latin typeface="游明朝"/>
                          <a:ea typeface="游明朝"/>
                        </a:rPr>
                        <a:t>印象</a:t>
                      </a:r>
                    </a:p>
                  </a:txBody>
                  <a:tcPr marL="80000" marR="60000" marT="12000" marB="12000" anchor="ctr">
                    <a:solidFill>
                      <a:srgbClr val="B0934E"/>
                    </a:solidFill>
                  </a:tcPr>
                </a:tc>
                <a:tc>
                  <a:txBody>
                    <a:bodyPr/>
                    <a:lstStyle/>
                    <a:p>
                      <a:pPr algn="ctr"/>
                      <a:r>
                        <a:rPr sz="1100" b="1">
                          <a:solidFill>
                            <a:srgbClr val="FFFFFF"/>
                          </a:solidFill>
                          <a:latin typeface="游明朝"/>
                          <a:ea typeface="游明朝"/>
                        </a:rPr>
                        <a:t>ページ</a:t>
                      </a:r>
                    </a:p>
                  </a:txBody>
                  <a:tcPr marL="80000" marR="60000" marT="12000" marB="12000" anchor="ctr">
                    <a:solidFill>
                      <a:srgbClr val="B0934E"/>
                    </a:solidFill>
                  </a:tcPr>
                </a:tc>
                <a:extLst>
                  <a:ext uri="{0D108BD9-81ED-4DB2-BD59-A6C34878D82A}">
                    <a16:rowId xmlns:a16="http://schemas.microsoft.com/office/drawing/2014/main" val="10000"/>
                  </a:ext>
                </a:extLst>
              </a:tr>
              <a:tr h="370332">
                <a:tc gridSpan="3">
                  <a:txBody>
                    <a:bodyPr/>
                    <a:lstStyle/>
                    <a:p>
                      <a:pPr algn="l"/>
                      <a:r>
                        <a:rPr sz="1150" b="1">
                          <a:solidFill>
                            <a:srgbClr val="8C7339"/>
                          </a:solidFill>
                          <a:latin typeface="游明朝"/>
                          <a:ea typeface="游明朝"/>
                        </a:rPr>
                        <a:t>■ 鼻先</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01"/>
                  </a:ext>
                </a:extLst>
              </a:tr>
              <a:tr h="370332">
                <a:tc>
                  <a:txBody>
                    <a:bodyPr/>
                    <a:lstStyle/>
                    <a:p>
                      <a:pPr algn="l"/>
                      <a:r>
                        <a:rPr sz="1100" b="0">
                          <a:solidFill>
                            <a:srgbClr val="3A3326"/>
                          </a:solidFill>
                          <a:latin typeface="游ゴシック"/>
                          <a:ea typeface="游ゴシック"/>
                        </a:rPr>
                        <a:t>団子鼻</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P05</a:t>
                      </a:r>
                    </a:p>
                  </a:txBody>
                  <a:tcPr marL="80000" marR="60000" marT="12000" marB="12000" anchor="ctr">
                    <a:solidFill>
                      <a:srgbClr val="FDFBF6"/>
                    </a:solidFill>
                  </a:tcPr>
                </a:tc>
                <a:extLst>
                  <a:ext uri="{0D108BD9-81ED-4DB2-BD59-A6C34878D82A}">
                    <a16:rowId xmlns:a16="http://schemas.microsoft.com/office/drawing/2014/main" val="10002"/>
                  </a:ext>
                </a:extLst>
              </a:tr>
              <a:tr h="370332">
                <a:tc>
                  <a:txBody>
                    <a:bodyPr/>
                    <a:lstStyle/>
                    <a:p>
                      <a:pPr algn="l"/>
                      <a:r>
                        <a:rPr sz="1100" b="0">
                          <a:solidFill>
                            <a:srgbClr val="3A3326"/>
                          </a:solidFill>
                          <a:latin typeface="游ゴシック"/>
                          <a:ea typeface="游ゴシック"/>
                        </a:rPr>
                        <a:t>鼻先の丸み</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可愛い</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P06</a:t>
                      </a:r>
                    </a:p>
                  </a:txBody>
                  <a:tcPr marL="80000" marR="60000" marT="12000" marB="12000" anchor="ctr">
                    <a:solidFill>
                      <a:srgbClr val="FDFBF6"/>
                    </a:solidFill>
                  </a:tcPr>
                </a:tc>
                <a:extLst>
                  <a:ext uri="{0D108BD9-81ED-4DB2-BD59-A6C34878D82A}">
                    <a16:rowId xmlns:a16="http://schemas.microsoft.com/office/drawing/2014/main" val="10003"/>
                  </a:ext>
                </a:extLst>
              </a:tr>
              <a:tr h="370332">
                <a:tc>
                  <a:txBody>
                    <a:bodyPr/>
                    <a:lstStyle/>
                    <a:p>
                      <a:pPr algn="l"/>
                      <a:r>
                        <a:rPr sz="1100" b="0">
                          <a:solidFill>
                            <a:srgbClr val="3A3326"/>
                          </a:solidFill>
                          <a:latin typeface="游ゴシック"/>
                          <a:ea typeface="游ゴシック"/>
                        </a:rPr>
                        <a:t>鼻先の大きさ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P07</a:t>
                      </a:r>
                    </a:p>
                  </a:txBody>
                  <a:tcPr marL="80000" marR="60000" marT="12000" marB="12000" anchor="ctr">
                    <a:solidFill>
                      <a:srgbClr val="FDFBF6"/>
                    </a:solidFill>
                  </a:tcPr>
                </a:tc>
                <a:extLst>
                  <a:ext uri="{0D108BD9-81ED-4DB2-BD59-A6C34878D82A}">
                    <a16:rowId xmlns:a16="http://schemas.microsoft.com/office/drawing/2014/main" val="10004"/>
                  </a:ext>
                </a:extLst>
              </a:tr>
              <a:tr h="370332">
                <a:tc gridSpan="3">
                  <a:txBody>
                    <a:bodyPr/>
                    <a:lstStyle/>
                    <a:p>
                      <a:pPr algn="l"/>
                      <a:r>
                        <a:rPr sz="1150" b="1">
                          <a:solidFill>
                            <a:srgbClr val="8C7339"/>
                          </a:solidFill>
                          <a:latin typeface="游明朝"/>
                          <a:ea typeface="游明朝"/>
                        </a:rPr>
                        <a:t>■ 鼻筋</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05"/>
                  </a:ext>
                </a:extLst>
              </a:tr>
              <a:tr h="370332">
                <a:tc>
                  <a:txBody>
                    <a:bodyPr/>
                    <a:lstStyle/>
                    <a:p>
                      <a:pPr algn="l"/>
                      <a:r>
                        <a:rPr sz="1100" b="0">
                          <a:solidFill>
                            <a:srgbClr val="3A3326"/>
                          </a:solidFill>
                          <a:latin typeface="游ゴシック"/>
                          <a:ea typeface="游ゴシック"/>
                        </a:rPr>
                        <a:t>鼻筋の低さ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P09</a:t>
                      </a:r>
                    </a:p>
                  </a:txBody>
                  <a:tcPr marL="80000" marR="60000" marT="12000" marB="12000" anchor="ctr">
                    <a:solidFill>
                      <a:srgbClr val="FDFBF6"/>
                    </a:solidFill>
                  </a:tcPr>
                </a:tc>
                <a:extLst>
                  <a:ext uri="{0D108BD9-81ED-4DB2-BD59-A6C34878D82A}">
                    <a16:rowId xmlns:a16="http://schemas.microsoft.com/office/drawing/2014/main" val="10006"/>
                  </a:ext>
                </a:extLst>
              </a:tr>
              <a:tr h="370332">
                <a:tc>
                  <a:txBody>
                    <a:bodyPr/>
                    <a:lstStyle/>
                    <a:p>
                      <a:pPr algn="l"/>
                      <a:r>
                        <a:rPr sz="1100" b="0">
                          <a:solidFill>
                            <a:srgbClr val="3A3326"/>
                          </a:solidFill>
                          <a:latin typeface="游ゴシック"/>
                          <a:ea typeface="游ゴシック"/>
                        </a:rPr>
                        <a:t>わし鼻</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P10</a:t>
                      </a:r>
                    </a:p>
                  </a:txBody>
                  <a:tcPr marL="80000" marR="60000" marT="12000" marB="12000" anchor="ctr">
                    <a:solidFill>
                      <a:srgbClr val="FDFBF6"/>
                    </a:solidFill>
                  </a:tcPr>
                </a:tc>
                <a:extLst>
                  <a:ext uri="{0D108BD9-81ED-4DB2-BD59-A6C34878D82A}">
                    <a16:rowId xmlns:a16="http://schemas.microsoft.com/office/drawing/2014/main" val="10007"/>
                  </a:ext>
                </a:extLst>
              </a:tr>
              <a:tr h="370332">
                <a:tc>
                  <a:txBody>
                    <a:bodyPr/>
                    <a:lstStyle/>
                    <a:p>
                      <a:pPr algn="l"/>
                      <a:r>
                        <a:rPr sz="1100" b="0">
                          <a:solidFill>
                            <a:srgbClr val="3A3326"/>
                          </a:solidFill>
                          <a:latin typeface="游ゴシック"/>
                          <a:ea typeface="游ゴシック"/>
                        </a:rPr>
                        <a:t>鼻筋の太さ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P11</a:t>
                      </a:r>
                    </a:p>
                  </a:txBody>
                  <a:tcPr marL="80000" marR="60000" marT="12000" marB="12000" anchor="ctr">
                    <a:solidFill>
                      <a:srgbClr val="FDFBF6"/>
                    </a:solidFill>
                  </a:tcPr>
                </a:tc>
                <a:extLst>
                  <a:ext uri="{0D108BD9-81ED-4DB2-BD59-A6C34878D82A}">
                    <a16:rowId xmlns:a16="http://schemas.microsoft.com/office/drawing/2014/main" val="10008"/>
                  </a:ext>
                </a:extLst>
              </a:tr>
              <a:tr h="370332">
                <a:tc gridSpan="3">
                  <a:txBody>
                    <a:bodyPr/>
                    <a:lstStyle/>
                    <a:p>
                      <a:pPr algn="l"/>
                      <a:r>
                        <a:rPr sz="1150" b="1">
                          <a:solidFill>
                            <a:srgbClr val="8C7339"/>
                          </a:solidFill>
                          <a:latin typeface="游明朝"/>
                          <a:ea typeface="游明朝"/>
                        </a:rPr>
                        <a:t>■ 小鼻・鼻の穴</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09"/>
                  </a:ext>
                </a:extLst>
              </a:tr>
              <a:tr h="370332">
                <a:tc>
                  <a:txBody>
                    <a:bodyPr/>
                    <a:lstStyle/>
                    <a:p>
                      <a:pPr algn="l"/>
                      <a:r>
                        <a:rPr sz="1100" b="0">
                          <a:solidFill>
                            <a:srgbClr val="3A3326"/>
                          </a:solidFill>
                          <a:latin typeface="游ゴシック"/>
                          <a:ea typeface="游ゴシック"/>
                        </a:rPr>
                        <a:t>小鼻の大きさ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P13</a:t>
                      </a:r>
                    </a:p>
                  </a:txBody>
                  <a:tcPr marL="80000" marR="60000" marT="12000" marB="12000" anchor="ctr">
                    <a:solidFill>
                      <a:srgbClr val="FDFBF6"/>
                    </a:solidFill>
                  </a:tcPr>
                </a:tc>
                <a:extLst>
                  <a:ext uri="{0D108BD9-81ED-4DB2-BD59-A6C34878D82A}">
                    <a16:rowId xmlns:a16="http://schemas.microsoft.com/office/drawing/2014/main" val="10010"/>
                  </a:ext>
                </a:extLst>
              </a:tr>
              <a:tr h="370332">
                <a:tc>
                  <a:txBody>
                    <a:bodyPr/>
                    <a:lstStyle/>
                    <a:p>
                      <a:pPr algn="l"/>
                      <a:r>
                        <a:rPr sz="1100" b="0">
                          <a:solidFill>
                            <a:srgbClr val="3A3326"/>
                          </a:solidFill>
                          <a:latin typeface="游ゴシック"/>
                          <a:ea typeface="游ゴシック"/>
                        </a:rPr>
                        <a:t>鼻の穴が目立つ</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P14</a:t>
                      </a:r>
                    </a:p>
                  </a:txBody>
                  <a:tcPr marL="80000" marR="60000" marT="12000" marB="12000" anchor="ctr">
                    <a:solidFill>
                      <a:srgbClr val="FDFBF6"/>
                    </a:solidFill>
                  </a:tcPr>
                </a:tc>
                <a:extLst>
                  <a:ext uri="{0D108BD9-81ED-4DB2-BD59-A6C34878D82A}">
                    <a16:rowId xmlns:a16="http://schemas.microsoft.com/office/drawing/2014/main" val="10011"/>
                  </a:ext>
                </a:extLst>
              </a:tr>
              <a:tr h="370332">
                <a:tc>
                  <a:txBody>
                    <a:bodyPr/>
                    <a:lstStyle/>
                    <a:p>
                      <a:pPr algn="l"/>
                      <a:r>
                        <a:rPr sz="1100" b="0">
                          <a:solidFill>
                            <a:srgbClr val="3A3326"/>
                          </a:solidFill>
                          <a:latin typeface="游ゴシック"/>
                          <a:ea typeface="游ゴシック"/>
                        </a:rPr>
                        <a:t>肉厚鼻</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P15</a:t>
                      </a:r>
                    </a:p>
                  </a:txBody>
                  <a:tcPr marL="80000" marR="60000" marT="12000" marB="12000" anchor="ctr">
                    <a:solidFill>
                      <a:srgbClr val="FDFBF6"/>
                    </a:solidFill>
                  </a:tcPr>
                </a:tc>
                <a:extLst>
                  <a:ext uri="{0D108BD9-81ED-4DB2-BD59-A6C34878D82A}">
                    <a16:rowId xmlns:a16="http://schemas.microsoft.com/office/drawing/2014/main" val="10012"/>
                  </a:ext>
                </a:extLst>
              </a:tr>
              <a:tr h="370332">
                <a:tc gridSpan="3">
                  <a:txBody>
                    <a:bodyPr/>
                    <a:lstStyle/>
                    <a:p>
                      <a:pPr algn="l"/>
                      <a:r>
                        <a:rPr sz="1150" b="1">
                          <a:solidFill>
                            <a:srgbClr val="8C7339"/>
                          </a:solidFill>
                          <a:latin typeface="游明朝"/>
                          <a:ea typeface="游明朝"/>
                        </a:rPr>
                        <a:t>■ 全体・横顔</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13"/>
                  </a:ext>
                </a:extLst>
              </a:tr>
              <a:tr h="370332">
                <a:tc>
                  <a:txBody>
                    <a:bodyPr/>
                    <a:lstStyle/>
                    <a:p>
                      <a:pPr algn="l"/>
                      <a:r>
                        <a:rPr sz="1100" b="0">
                          <a:solidFill>
                            <a:srgbClr val="3A3326"/>
                          </a:solidFill>
                          <a:latin typeface="游ゴシック"/>
                          <a:ea typeface="游ゴシック"/>
                        </a:rPr>
                        <a:t>Eラインを整えたい</a:t>
                      </a:r>
                    </a:p>
                  </a:txBody>
                  <a:tcPr marL="160000" marR="60000" marT="12000" marB="12000" anchor="ctr">
                    <a:solidFill>
                      <a:srgbClr val="FDFBF6"/>
                    </a:solidFill>
                  </a:tcPr>
                </a:tc>
                <a:tc>
                  <a:txBody>
                    <a:bodyPr/>
                    <a:lstStyle/>
                    <a:p>
                      <a:pPr algn="ctr"/>
                      <a:r>
                        <a:rPr lang="ja-JP" altLang="en-US" sz="1050" b="1">
                          <a:solidFill>
                            <a:srgbClr val="8C7339"/>
                          </a:solidFill>
                          <a:latin typeface="游ゴシック"/>
                          <a:ea typeface="游ゴシック"/>
                        </a:rPr>
                        <a:t>可愛い</a:t>
                      </a:r>
                      <a:endParaRPr sz="1050" b="1" dirty="0">
                        <a:solidFill>
                          <a:srgbClr val="8C7339"/>
                        </a:solidFill>
                        <a:latin typeface="游ゴシック"/>
                        <a:ea typeface="游ゴシック"/>
                      </a:endParaRP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P17</a:t>
                      </a:r>
                    </a:p>
                  </a:txBody>
                  <a:tcPr marL="80000" marR="60000" marT="12000" marB="12000" anchor="ctr">
                    <a:solidFill>
                      <a:srgbClr val="FDFBF6"/>
                    </a:solidFill>
                  </a:tcPr>
                </a:tc>
                <a:extLst>
                  <a:ext uri="{0D108BD9-81ED-4DB2-BD59-A6C34878D82A}">
                    <a16:rowId xmlns:a16="http://schemas.microsoft.com/office/drawing/2014/main" val="10014"/>
                  </a:ext>
                </a:extLst>
              </a:tr>
              <a:tr h="370332">
                <a:tc>
                  <a:txBody>
                    <a:bodyPr/>
                    <a:lstStyle/>
                    <a:p>
                      <a:pPr algn="l"/>
                      <a:r>
                        <a:rPr sz="1100" b="0">
                          <a:solidFill>
                            <a:srgbClr val="3A3326"/>
                          </a:solidFill>
                          <a:latin typeface="游ゴシック"/>
                          <a:ea typeface="游ゴシック"/>
                        </a:rPr>
                        <a:t>鼻を高くしたい</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P18</a:t>
                      </a:r>
                    </a:p>
                  </a:txBody>
                  <a:tcPr marL="80000" marR="60000" marT="12000" marB="12000" anchor="ctr">
                    <a:solidFill>
                      <a:srgbClr val="FDFBF6"/>
                    </a:solidFill>
                  </a:tcPr>
                </a:tc>
                <a:extLst>
                  <a:ext uri="{0D108BD9-81ED-4DB2-BD59-A6C34878D82A}">
                    <a16:rowId xmlns:a16="http://schemas.microsoft.com/office/drawing/2014/main" val="10015"/>
                  </a:ext>
                </a:extLst>
              </a:tr>
              <a:tr h="370332">
                <a:tc>
                  <a:txBody>
                    <a:bodyPr/>
                    <a:lstStyle/>
                    <a:p>
                      <a:pPr algn="l"/>
                      <a:r>
                        <a:rPr sz="1100" b="0">
                          <a:solidFill>
                            <a:srgbClr val="3A3326"/>
                          </a:solidFill>
                          <a:latin typeface="游ゴシック"/>
                          <a:ea typeface="游ゴシック"/>
                        </a:rPr>
                        <a:t>忘れ鼻になりたい</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P19</a:t>
                      </a:r>
                    </a:p>
                  </a:txBody>
                  <a:tcPr marL="80000" marR="60000" marT="12000" marB="12000" anchor="ctr">
                    <a:solidFill>
                      <a:srgbClr val="FDFBF6"/>
                    </a:solidFill>
                  </a:tcPr>
                </a:tc>
                <a:extLst>
                  <a:ext uri="{0D108BD9-81ED-4DB2-BD59-A6C34878D82A}">
                    <a16:rowId xmlns:a16="http://schemas.microsoft.com/office/drawing/2014/main" val="10016"/>
                  </a:ext>
                </a:extLst>
              </a:tr>
              <a:tr h="370332">
                <a:tc gridSpan="3">
                  <a:txBody>
                    <a:bodyPr/>
                    <a:lstStyle/>
                    <a:p>
                      <a:pPr algn="l"/>
                      <a:r>
                        <a:rPr sz="1150" b="1">
                          <a:solidFill>
                            <a:srgbClr val="8C7339"/>
                          </a:solidFill>
                          <a:latin typeface="游明朝"/>
                          <a:ea typeface="游明朝"/>
                        </a:rPr>
                        <a:t>■ 専門・修正</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17"/>
                  </a:ext>
                </a:extLst>
              </a:tr>
              <a:tr h="370332">
                <a:tc>
                  <a:txBody>
                    <a:bodyPr/>
                    <a:lstStyle/>
                    <a:p>
                      <a:pPr algn="l"/>
                      <a:r>
                        <a:rPr sz="1100" b="0">
                          <a:solidFill>
                            <a:srgbClr val="3A3326"/>
                          </a:solidFill>
                          <a:latin typeface="游ゴシック"/>
                          <a:ea typeface="游ゴシック"/>
                        </a:rPr>
                        <a:t>拘縮鼻の修正</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P21</a:t>
                      </a:r>
                    </a:p>
                  </a:txBody>
                  <a:tcPr marL="80000" marR="60000" marT="12000" marB="12000" anchor="ctr">
                    <a:solidFill>
                      <a:srgbClr val="FDFBF6"/>
                    </a:solidFill>
                  </a:tcPr>
                </a:tc>
                <a:extLst>
                  <a:ext uri="{0D108BD9-81ED-4DB2-BD59-A6C34878D82A}">
                    <a16:rowId xmlns:a16="http://schemas.microsoft.com/office/drawing/2014/main" val="10018"/>
                  </a:ext>
                </a:extLst>
              </a:tr>
              <a:tr h="370332">
                <a:tc>
                  <a:txBody>
                    <a:bodyPr/>
                    <a:lstStyle/>
                    <a:p>
                      <a:pPr algn="l"/>
                      <a:r>
                        <a:rPr sz="1100" b="0">
                          <a:solidFill>
                            <a:srgbClr val="3A3326"/>
                          </a:solidFill>
                          <a:latin typeface="游ゴシック"/>
                          <a:ea typeface="游ゴシック"/>
                        </a:rPr>
                        <a:t>先天的な鼻の発育不全</a:t>
                      </a:r>
                    </a:p>
                  </a:txBody>
                  <a:tcPr marL="160000" marR="60000" marT="12000" marB="12000" anchor="ctr">
                    <a:solidFill>
                      <a:srgbClr val="FDFBF6"/>
                    </a:solidFill>
                  </a:tcPr>
                </a:tc>
                <a:tc>
                  <a:txBody>
                    <a:bodyPr/>
                    <a:lstStyle/>
                    <a:p>
                      <a:pPr algn="ctr"/>
                      <a:r>
                        <a:rPr lang="ja-JP" altLang="en-US" sz="1050" b="1">
                          <a:solidFill>
                            <a:srgbClr val="8C7339"/>
                          </a:solidFill>
                          <a:latin typeface="游ゴシック"/>
                          <a:ea typeface="游ゴシック"/>
                        </a:rPr>
                        <a:t>可愛い</a:t>
                      </a:r>
                      <a:endParaRPr sz="1050" b="1" dirty="0">
                        <a:solidFill>
                          <a:srgbClr val="8C7339"/>
                        </a:solidFill>
                        <a:latin typeface="游ゴシック"/>
                        <a:ea typeface="游ゴシック"/>
                      </a:endParaRPr>
                    </a:p>
                  </a:txBody>
                  <a:tcPr marL="80000" marR="60000" marT="12000" marB="12000" anchor="ctr">
                    <a:solidFill>
                      <a:srgbClr val="FDFBF6"/>
                    </a:solidFill>
                  </a:tcPr>
                </a:tc>
                <a:tc>
                  <a:txBody>
                    <a:bodyPr/>
                    <a:lstStyle/>
                    <a:p>
                      <a:pPr algn="ctr"/>
                      <a:r>
                        <a:rPr sz="1100" b="1" dirty="0">
                          <a:solidFill>
                            <a:srgbClr val="3A3326"/>
                          </a:solidFill>
                          <a:latin typeface="游明朝"/>
                          <a:ea typeface="游明朝"/>
                        </a:rPr>
                        <a:t>P22</a:t>
                      </a:r>
                    </a:p>
                  </a:txBody>
                  <a:tcPr marL="80000" marR="60000" marT="12000" marB="12000" anchor="ctr">
                    <a:solidFill>
                      <a:srgbClr val="FDFBF6"/>
                    </a:solidFill>
                  </a:tcPr>
                </a:tc>
                <a:extLst>
                  <a:ext uri="{0D108BD9-81ED-4DB2-BD59-A6C34878D82A}">
                    <a16:rowId xmlns:a16="http://schemas.microsoft.com/office/drawing/2014/main" val="10019"/>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FFFFFF"/>
                </a:solidFill>
                <a:latin typeface="游明朝"/>
                <a:ea typeface="游明朝"/>
              </a:rPr>
              <a:t>04</a:t>
            </a: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01</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THE NOSE TIP</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お悩み：鼻先 ―</a:t>
            </a:r>
          </a:p>
        </p:txBody>
      </p:sp>
      <p:sp>
        <p:nvSpPr>
          <p:cNvPr id="9" name="TextBox 8"/>
          <p:cNvSpPr txBox="1"/>
          <p:nvPr/>
        </p:nvSpPr>
        <p:spPr>
          <a:xfrm>
            <a:off x="578503"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団子鼻</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丸み</a:t>
            </a:r>
            <a:r>
              <a:rPr lang="ja-JP" altLang="en-US" sz="1200" b="0">
                <a:solidFill>
                  <a:srgbClr val="E7DFCE"/>
                </a:solidFill>
                <a:latin typeface="游ゴシック"/>
                <a:ea typeface="游ゴシック"/>
              </a:rPr>
              <a:t>・大きさ</a:t>
            </a:r>
            <a:r>
              <a:rPr lang="en-US" altLang="ja-JP" sz="1200" b="0" dirty="0">
                <a:solidFill>
                  <a:srgbClr val="E7DFCE"/>
                </a:solidFill>
                <a:latin typeface="游ゴシック"/>
                <a:ea typeface="游ゴシック"/>
              </a:rPr>
              <a:t>—</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鼻先の印象を決めるお悩み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団子鼻</a:t>
            </a:r>
            <a:endParaRPr sz="1250" b="1" dirty="0">
              <a:solidFill>
                <a:srgbClr val="B0934E"/>
              </a:solidFill>
              <a:latin typeface="游明朝"/>
              <a:ea typeface="游明朝"/>
            </a:endParaRPr>
          </a:p>
        </p:txBody>
      </p:sp>
      <p:sp>
        <p:nvSpPr>
          <p:cNvPr id="12" name="TextBox 11"/>
          <p:cNvSpPr txBox="1"/>
          <p:nvPr/>
        </p:nvSpPr>
        <p:spPr>
          <a:xfrm>
            <a:off x="4407408" y="5336695"/>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b="0">
                <a:solidFill>
                  <a:srgbClr val="E7DFCE"/>
                </a:solidFill>
                <a:latin typeface="游ゴシック"/>
                <a:ea typeface="游ゴシック"/>
              </a:rPr>
              <a:t>鼻の存在感を無くす</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鼻先</a:t>
            </a:r>
            <a:r>
              <a:rPr lang="ja-JP" altLang="en-US" sz="1250" b="1">
                <a:solidFill>
                  <a:srgbClr val="B0934E"/>
                </a:solidFill>
                <a:latin typeface="游明朝"/>
                <a:ea typeface="游明朝"/>
              </a:rPr>
              <a:t>の丸み</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鼻先の丸み解消</a:t>
            </a:r>
            <a:endParaRPr sz="950" b="0" dirty="0">
              <a:solidFill>
                <a:srgbClr val="E7DFCE"/>
              </a:solidFill>
              <a:latin typeface="游ゴシック"/>
              <a:ea typeface="游ゴシック"/>
            </a:endParaRP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鼻先の大きさ</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鼻先を小さくする</a:t>
            </a:r>
            <a:endParaRPr sz="950" b="0" dirty="0">
              <a:solidFill>
                <a:srgbClr val="E7DFCE"/>
              </a:solidFill>
              <a:latin typeface="游ゴシック"/>
              <a:ea typeface="游ゴシック"/>
            </a:endParaRPr>
          </a:p>
        </p:txBody>
      </p:sp>
      <p:sp>
        <p:nvSpPr>
          <p:cNvPr id="22" name="TextBox 21"/>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デザインカタログ｜THE NOSE TIP</a:t>
            </a:r>
          </a:p>
        </p:txBody>
      </p:sp>
      <p:sp>
        <p:nvSpPr>
          <p:cNvPr id="23" name="TextBox 22"/>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77BD2CDF-9495-966D-7AB0-ED8EF11B63AD}"/>
              </a:ext>
            </a:extLst>
          </p:cNvPr>
          <p:cNvPicPr>
            <a:picLocks noGrp="1" noChangeAspect="1"/>
          </p:cNvPicPr>
          <p:nvPr>
            <p:ph type="pic" idx="10"/>
          </p:nvPr>
        </p:nvPicPr>
        <p:blipFill>
          <a:blip r:embed="rId2"/>
          <a:srcRect t="101" b="101"/>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01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団子鼻</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05</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0" name="TextBox 9"/>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鼻翼から鼻先まで引き締め、シャープ</a:t>
            </a:r>
            <a:r>
              <a:rPr lang="ja-JP" altLang="en-US" sz="1050" b="0">
                <a:solidFill>
                  <a:srgbClr val="3A3326"/>
                </a:solidFill>
                <a:latin typeface="游ゴシック"/>
                <a:ea typeface="游ゴシック"/>
              </a:rPr>
              <a:t>な印象に</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65903331"/>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a:t>
                      </a:r>
                      <a:r>
                        <a:rPr sz="950" b="0" dirty="0">
                          <a:solidFill>
                            <a:srgbClr val="3A3326"/>
                          </a:solidFill>
                          <a:latin typeface="游ゴシック"/>
                          <a:ea typeface="游ゴシック"/>
                        </a:rPr>
                        <a:t>（</a:t>
                      </a:r>
                      <a:r>
                        <a:rPr sz="950" b="0" dirty="0" err="1">
                          <a:solidFill>
                            <a:srgbClr val="3A3326"/>
                          </a:solidFill>
                          <a:latin typeface="游ゴシック"/>
                          <a:ea typeface="游ゴシック"/>
                        </a:rPr>
                        <a:t>クローズド法</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＋鼻翼縮小＋プロテーゼ</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a:t>
                      </a:r>
                      <a:r>
                        <a:rPr lang="ja-JP" altLang="en-US" sz="950" b="0">
                          <a:solidFill>
                            <a:srgbClr val="3A3326"/>
                          </a:solidFill>
                          <a:latin typeface="游ゴシック"/>
                          <a:ea typeface="游ゴシック"/>
                        </a:rPr>
                        <a:t>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1" name="TextBox 20"/>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78</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13</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0</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丸い鼻先を整えるだけで顔の印象が大きく変わります。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01｜団子鼻</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27">
            <a:extLst>
              <a:ext uri="{FF2B5EF4-FFF2-40B4-BE49-F238E27FC236}">
                <a16:creationId xmlns:a16="http://schemas.microsoft.com/office/drawing/2014/main" id="{A82D6052-639D-F38D-9089-E1BEE18ED92B}"/>
              </a:ext>
            </a:extLst>
          </p:cNvPr>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a:solidFill>
                  <a:srgbClr val="B0934E"/>
                </a:solidFill>
                <a:latin typeface="游ゴシック"/>
                <a:ea typeface="游ゴシック"/>
              </a:rPr>
              <a:t> </a:t>
            </a: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83014"/>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339E78B2-AE0A-3175-2A19-839B1D61D7F6}"/>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02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鼻先</a:t>
            </a:r>
            <a:r>
              <a:rPr lang="ja-JP" altLang="en-US" sz="2300" b="1">
                <a:solidFill>
                  <a:srgbClr val="3A3326"/>
                </a:solidFill>
                <a:latin typeface="游明朝"/>
                <a:ea typeface="游明朝"/>
              </a:rPr>
              <a:t>の丸み</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06</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可愛い</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鼻先に高さと方向を作り、のっぺり感を解消して立体的に。</a:t>
            </a:r>
          </a:p>
        </p:txBody>
      </p:sp>
      <p:graphicFrame>
        <p:nvGraphicFramePr>
          <p:cNvPr id="17" name="Table 16"/>
          <p:cNvGraphicFramePr>
            <a:graphicFrameLocks noGrp="1"/>
          </p:cNvGraphicFramePr>
          <p:nvPr>
            <p:extLst>
              <p:ext uri="{D42A27DB-BD31-4B8C-83A1-F6EECF244321}">
                <p14:modId xmlns:p14="http://schemas.microsoft.com/office/powerpoint/2010/main" val="337703949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a:t>
                      </a:r>
                      <a:r>
                        <a:rPr sz="950" b="0" dirty="0">
                          <a:solidFill>
                            <a:srgbClr val="3A3326"/>
                          </a:solidFill>
                          <a:latin typeface="游ゴシック"/>
                          <a:ea typeface="游ゴシック"/>
                        </a:rPr>
                        <a:t>（</a:t>
                      </a:r>
                      <a:r>
                        <a:rPr sz="950" b="0" dirty="0" err="1">
                          <a:solidFill>
                            <a:srgbClr val="3A3326"/>
                          </a:solidFill>
                          <a:latin typeface="游ゴシック"/>
                          <a:ea typeface="游ゴシック"/>
                        </a:rPr>
                        <a:t>クローズド法</a:t>
                      </a:r>
                      <a:r>
                        <a:rPr sz="950" b="0" dirty="0">
                          <a:solidFill>
                            <a:srgbClr val="3A3326"/>
                          </a:solidFill>
                          <a:latin typeface="游ゴシック"/>
                          <a:ea typeface="游ゴシック"/>
                        </a:rPr>
                        <a:t>）</a:t>
                      </a: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580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9</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a:solidFill>
                  <a:srgbClr val="B0934E"/>
                </a:solidFill>
                <a:latin typeface="游ゴシック"/>
                <a:ea typeface="游ゴシック"/>
              </a:rPr>
              <a:t> </a:t>
            </a: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立体的な印象になり、鼻先がシャープになっています。</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02｜鼻先</a:t>
            </a:r>
            <a:r>
              <a:rPr lang="ja-JP" altLang="en-US" sz="750" b="0">
                <a:solidFill>
                  <a:srgbClr val="7A7060"/>
                </a:solidFill>
                <a:latin typeface="游ゴシック"/>
                <a:ea typeface="游ゴシック"/>
              </a:rPr>
              <a:t>の丸み</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6" name="TextBox 9">
            <a:extLst>
              <a:ext uri="{FF2B5EF4-FFF2-40B4-BE49-F238E27FC236}">
                <a16:creationId xmlns:a16="http://schemas.microsoft.com/office/drawing/2014/main" id="{81ADE5C9-E538-B153-3BE7-7B3FCD741CE4}"/>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8" name="TextBox 20">
            <a:extLst>
              <a:ext uri="{FF2B5EF4-FFF2-40B4-BE49-F238E27FC236}">
                <a16:creationId xmlns:a16="http://schemas.microsoft.com/office/drawing/2014/main" id="{511E3C2C-B912-84CE-7DA6-566088E8E644}"/>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357BA784-A791-C8E1-A8C0-40BF4AE47450}"/>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03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鼻先の大きさ</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07</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下に向いた鼻先を引き上げ、やわらかく自然な向きへ。</a:t>
            </a:r>
          </a:p>
        </p:txBody>
      </p:sp>
      <p:graphicFrame>
        <p:nvGraphicFramePr>
          <p:cNvPr id="17" name="Table 16"/>
          <p:cNvGraphicFramePr>
            <a:graphicFrameLocks noGrp="1"/>
          </p:cNvGraphicFramePr>
          <p:nvPr>
            <p:extLst>
              <p:ext uri="{D42A27DB-BD31-4B8C-83A1-F6EECF244321}">
                <p14:modId xmlns:p14="http://schemas.microsoft.com/office/powerpoint/2010/main" val="424689136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鼻尖形成（クローズド法</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＋鼻翼縮小</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（材料なし</a:t>
                      </a:r>
                      <a:r>
                        <a:rPr sz="950" b="0" dirty="0">
                          <a:solidFill>
                            <a:srgbClr val="3A3326"/>
                          </a:solidFill>
                          <a:latin typeface="游ゴシック"/>
                          <a:ea typeface="游ゴシック"/>
                        </a:rPr>
                        <a:t>／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腫れ・内出血は軽め</a:t>
                      </a:r>
                      <a:r>
                        <a:rPr sz="950" b="0" dirty="0">
                          <a:solidFill>
                            <a:srgbClr val="3A3326"/>
                          </a:solidFill>
                          <a:latin typeface="游ゴシック"/>
                          <a:ea typeface="游ゴシック"/>
                        </a:rPr>
                        <a:t>／ギプス固定約7日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638</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10</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6</a:t>
            </a:r>
            <a:r>
              <a:rPr lang="en-US" altLang="ja-JP" sz="1200" b="1" dirty="0">
                <a:solidFill>
                  <a:srgbClr val="8C7339"/>
                </a:solidFill>
                <a:latin typeface="游ゴシック"/>
                <a:ea typeface="游ゴシック"/>
              </a:rPr>
              <a:t>0</a:t>
            </a:r>
            <a:r>
              <a:rPr sz="1200" b="1" dirty="0">
                <a:solidFill>
                  <a:srgbClr val="8C7339"/>
                </a:solidFill>
                <a:latin typeface="游ゴシック"/>
                <a:ea typeface="游ゴシック"/>
              </a:rPr>
              <a:t>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r>
              <a:rPr sz="900" b="1" dirty="0">
                <a:solidFill>
                  <a:srgbClr val="B0934E"/>
                </a:solidFill>
                <a:latin typeface="游ゴシック"/>
                <a:ea typeface="游ゴシック"/>
              </a:rPr>
              <a:t> </a:t>
            </a: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中学生の頃からのコンプレックスが解消されて自分の鼻が好きになれました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03｜</a:t>
            </a:r>
            <a:r>
              <a:rPr lang="ja-JP" altLang="en-US" sz="750" b="0">
                <a:solidFill>
                  <a:srgbClr val="7A7060"/>
                </a:solidFill>
                <a:latin typeface="游ゴシック"/>
                <a:ea typeface="游ゴシック"/>
              </a:rPr>
              <a:t>鼻先の大きさ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DA9743E9-8826-8027-2D03-C52789CE893F}"/>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20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F9A2E450-A81C-AA33-B2D6-F2053199A25A}"/>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800"/>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altLang="ja-JP" sz="1100" b="0" dirty="0">
                <a:solidFill>
                  <a:srgbClr val="FFFFFF"/>
                </a:solidFill>
                <a:latin typeface="游明朝"/>
                <a:ea typeface="游明朝"/>
              </a:rPr>
              <a:t>08</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02</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THE BRIDGE</a:t>
            </a:r>
          </a:p>
        </p:txBody>
      </p:sp>
      <p:sp>
        <p:nvSpPr>
          <p:cNvPr id="8" name="TextBox 7"/>
          <p:cNvSpPr txBox="1"/>
          <p:nvPr/>
        </p:nvSpPr>
        <p:spPr>
          <a:xfrm>
            <a:off x="566928" y="3429000"/>
            <a:ext cx="6428994" cy="279179"/>
          </a:xfrm>
          <a:prstGeom prst="rect">
            <a:avLst/>
          </a:prstGeom>
          <a:noFill/>
        </p:spPr>
        <p:txBody>
          <a:bodyPr wrap="square" lIns="0" tIns="0" rIns="0" bIns="0" anchor="t">
            <a:spAutoFit/>
          </a:bodyPr>
          <a:lstStyle/>
          <a:p>
            <a:pPr algn="ctr">
              <a:lnSpc>
                <a:spcPct val="112000"/>
              </a:lnSpc>
              <a:spcBef>
                <a:spcPts val="0"/>
              </a:spcBef>
              <a:spcAft>
                <a:spcPts val="200"/>
              </a:spcAft>
            </a:pPr>
            <a:r>
              <a:rPr sz="1700" b="0" dirty="0">
                <a:solidFill>
                  <a:srgbClr val="B0934E"/>
                </a:solidFill>
                <a:latin typeface="游明朝"/>
                <a:ea typeface="游明朝"/>
              </a:rPr>
              <a:t>― </a:t>
            </a:r>
            <a:r>
              <a:rPr sz="1700" b="0" dirty="0" err="1">
                <a:solidFill>
                  <a:srgbClr val="B0934E"/>
                </a:solidFill>
                <a:latin typeface="游明朝"/>
                <a:ea typeface="游明朝"/>
              </a:rPr>
              <a:t>お悩み：鼻筋</a:t>
            </a:r>
            <a:r>
              <a:rPr sz="1700" b="0" dirty="0">
                <a:solidFill>
                  <a:srgbClr val="B0934E"/>
                </a:solidFill>
                <a:latin typeface="游明朝"/>
                <a:ea typeface="游明朝"/>
              </a:rPr>
              <a:t>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低い</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わし鼻</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太い</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鼻筋のお悩み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鼻筋</a:t>
            </a:r>
            <a:r>
              <a:rPr lang="ja-JP" altLang="en-US" sz="1250" b="1">
                <a:solidFill>
                  <a:srgbClr val="B0934E"/>
                </a:solidFill>
                <a:latin typeface="游明朝"/>
                <a:ea typeface="游明朝"/>
              </a:rPr>
              <a:t>の</a:t>
            </a:r>
            <a:r>
              <a:rPr sz="1250" b="1" dirty="0" err="1">
                <a:solidFill>
                  <a:srgbClr val="B0934E"/>
                </a:solidFill>
                <a:latin typeface="游明朝"/>
                <a:ea typeface="游明朝"/>
              </a:rPr>
              <a:t>低</a:t>
            </a:r>
            <a:r>
              <a:rPr lang="ja-JP" altLang="en-US" sz="1250" b="1">
                <a:solidFill>
                  <a:srgbClr val="B0934E"/>
                </a:solidFill>
                <a:latin typeface="游明朝"/>
                <a:ea typeface="游明朝"/>
              </a:rPr>
              <a:t>さ</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鼻筋に自然な高さとラインを出す</a:t>
            </a: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わし</a:t>
            </a:r>
            <a:r>
              <a:rPr sz="1250" b="1" dirty="0" err="1">
                <a:solidFill>
                  <a:srgbClr val="B0934E"/>
                </a:solidFill>
                <a:latin typeface="游明朝"/>
                <a:ea typeface="游明朝"/>
              </a:rPr>
              <a:t>鼻</a:t>
            </a:r>
            <a:endParaRPr sz="1250" b="1" dirty="0">
              <a:solidFill>
                <a:srgbClr val="B0934E"/>
              </a:solidFill>
              <a:latin typeface="游明朝"/>
              <a:ea typeface="游明朝"/>
            </a:endParaRPr>
          </a:p>
        </p:txBody>
      </p:sp>
      <p:sp>
        <p:nvSpPr>
          <p:cNvPr id="15" name="TextBox 14"/>
          <p:cNvSpPr txBox="1"/>
          <p:nvPr/>
        </p:nvSpPr>
        <p:spPr>
          <a:xfrm>
            <a:off x="4407408" y="5916168"/>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鼻筋の出っ張りを削ってまっすぐに</a:t>
            </a: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鼻筋の太さ</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nSpc>
                <a:spcPct val="125000"/>
              </a:lnSpc>
              <a:spcAft>
                <a:spcPts val="200"/>
              </a:spcAft>
            </a:pPr>
            <a:r>
              <a:rPr lang="ja-JP" altLang="en-US" sz="950">
                <a:solidFill>
                  <a:srgbClr val="E7DFCE"/>
                </a:solidFill>
                <a:latin typeface="游ゴシック"/>
                <a:ea typeface="游ゴシック"/>
              </a:rPr>
              <a:t>広がった鼻骨を寄せて細い鼻筋に</a:t>
            </a:r>
            <a:endParaRPr sz="950" b="0" dirty="0">
              <a:solidFill>
                <a:srgbClr val="E7DFCE"/>
              </a:solidFill>
              <a:latin typeface="游ゴシック"/>
              <a:ea typeface="游ゴシック"/>
            </a:endParaRPr>
          </a:p>
        </p:txBody>
      </p:sp>
      <p:sp>
        <p:nvSpPr>
          <p:cNvPr id="22" name="TextBox 21"/>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デザインカタログ｜THE BRIDGE</a:t>
            </a:r>
          </a:p>
        </p:txBody>
      </p:sp>
      <p:sp>
        <p:nvSpPr>
          <p:cNvPr id="23" name="TextBox 22"/>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8887B193-7E63-6186-CD42-8E399DB5A5F0}"/>
              </a:ext>
            </a:extLst>
          </p:cNvPr>
          <p:cNvPicPr>
            <a:picLocks noGrp="1" noChangeAspect="1"/>
          </p:cNvPicPr>
          <p:nvPr>
            <p:ph type="pic" idx="10"/>
          </p:nvPr>
        </p:nvPicPr>
        <p:blipFill>
          <a:blip r:embed="rId2"/>
          <a:srcRect l="165" r="165"/>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4</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鼻筋</a:t>
            </a:r>
            <a:r>
              <a:rPr lang="ja-JP" altLang="en-US" sz="2300" b="1">
                <a:solidFill>
                  <a:srgbClr val="3A3326"/>
                </a:solidFill>
                <a:latin typeface="游明朝"/>
                <a:ea typeface="游明朝"/>
              </a:rPr>
              <a:t>の</a:t>
            </a:r>
            <a:r>
              <a:rPr sz="2300" b="1" dirty="0" err="1">
                <a:solidFill>
                  <a:srgbClr val="3A3326"/>
                </a:solidFill>
                <a:latin typeface="游明朝"/>
                <a:ea typeface="游明朝"/>
              </a:rPr>
              <a:t>低</a:t>
            </a:r>
            <a:r>
              <a:rPr lang="ja-JP" altLang="en-US" sz="2300" b="1">
                <a:solidFill>
                  <a:srgbClr val="3A3326"/>
                </a:solidFill>
                <a:latin typeface="游明朝"/>
                <a:ea typeface="游明朝"/>
              </a:rPr>
              <a:t>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09</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華やか</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鼻筋に</a:t>
            </a:r>
            <a:r>
              <a:rPr lang="ja-JP" altLang="en-US" sz="1050" b="0">
                <a:solidFill>
                  <a:srgbClr val="3A3326"/>
                </a:solidFill>
                <a:latin typeface="游ゴシック"/>
                <a:ea typeface="游ゴシック"/>
              </a:rPr>
              <a:t>しっかりと高さを出し、華やかな印象に。</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67501705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鼻中隔延長（オープン法）＋鼻翼縮小＋プロテーゼ＋貴族猫</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sz="950" b="0" dirty="0" err="1">
                          <a:solidFill>
                            <a:srgbClr val="3A3326"/>
                          </a:solidFill>
                          <a:latin typeface="游ゴシック"/>
                          <a:ea typeface="游ゴシック"/>
                        </a:rPr>
                        <a:t>プロテーゼ（シリコン</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nSpc>
                <a:spcPct val="112000"/>
              </a:lnSpc>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1</a:t>
            </a:r>
            <a:r>
              <a:rPr lang="en-US" altLang="ja-JP" sz="2100" b="1" dirty="0">
                <a:solidFill>
                  <a:srgbClr val="3A3326"/>
                </a:solidFill>
                <a:latin typeface="游明朝"/>
                <a:ea typeface="游明朝"/>
              </a:rPr>
              <a:t>,450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24</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2</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とっても理想のお鼻になれました。</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4</a:t>
            </a:r>
            <a:r>
              <a:rPr sz="750" b="0" dirty="0">
                <a:solidFill>
                  <a:srgbClr val="7A7060"/>
                </a:solidFill>
                <a:latin typeface="游ゴシック"/>
                <a:ea typeface="游ゴシック"/>
              </a:rPr>
              <a:t>｜鼻筋</a:t>
            </a:r>
            <a:r>
              <a:rPr lang="ja-JP" altLang="en-US" sz="750" b="0">
                <a:solidFill>
                  <a:srgbClr val="7A7060"/>
                </a:solidFill>
                <a:latin typeface="游ゴシック"/>
                <a:ea typeface="游ゴシック"/>
              </a:rPr>
              <a:t>の低さ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5" name="TextBox 9">
            <a:extLst>
              <a:ext uri="{FF2B5EF4-FFF2-40B4-BE49-F238E27FC236}">
                <a16:creationId xmlns:a16="http://schemas.microsoft.com/office/drawing/2014/main" id="{D7590903-8C07-9962-060C-B3DE1DDEBC2A}"/>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6" name="TextBox 20">
            <a:extLst>
              <a:ext uri="{FF2B5EF4-FFF2-40B4-BE49-F238E27FC236}">
                <a16:creationId xmlns:a16="http://schemas.microsoft.com/office/drawing/2014/main" id="{57DE6B7C-0950-38E2-BADC-36CB36CF35FD}"/>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0C6CD913-D695-A676-641B-D195DA742C31}"/>
              </a:ext>
            </a:extLst>
          </p:cNvPr>
          <p:cNvPicPr>
            <a:picLocks noGrp="1" noChangeAspect="1"/>
          </p:cNvPicPr>
          <p:nvPr>
            <p:ph type="pic" idx="10"/>
          </p:nvPr>
        </p:nvPicPr>
        <p:blipFill>
          <a:blip r:embed="rId2"/>
          <a:srcRect l="165" r="165"/>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5</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わし鼻</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10</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鼻筋の出っ張りを削り、まっすぐ上品な横顔へ</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233071182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ストラット（オープン法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a:t>
                      </a:r>
                      <a:r>
                        <a:rPr sz="950" b="0" dirty="0" err="1">
                          <a:solidFill>
                            <a:srgbClr val="3A3326"/>
                          </a:solidFill>
                          <a:latin typeface="游ゴシック"/>
                          <a:ea typeface="游ゴシック"/>
                        </a:rPr>
                        <a:t>ハンプ切除</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730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12</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2</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a:t>
            </a:r>
            <a:r>
              <a:rPr lang="ja-JP" altLang="en-US" sz="750" b="0">
                <a:solidFill>
                  <a:srgbClr val="7A7060"/>
                </a:solidFill>
                <a:latin typeface="游ゴシック"/>
                <a:ea typeface="游ゴシック"/>
              </a:rPr>
              <a:t>最新料金は院内</a:t>
            </a:r>
            <a:r>
              <a:rPr sz="750" b="0" dirty="0">
                <a:solidFill>
                  <a:srgbClr val="7A7060"/>
                </a:solidFill>
                <a:latin typeface="游ゴシック"/>
                <a:ea typeface="游ゴシック"/>
              </a:rPr>
              <a:t>・</a:t>
            </a:r>
            <a:r>
              <a:rPr sz="750" b="0" dirty="0" err="1">
                <a:solidFill>
                  <a:srgbClr val="7A7060"/>
                </a:solidFill>
                <a:latin typeface="游ゴシック"/>
                <a:ea typeface="游ゴシック"/>
              </a:rPr>
              <a:t>カウンセリングで</a:t>
            </a:r>
            <a:endParaRPr sz="750" b="0" dirty="0">
              <a:solidFill>
                <a:srgbClr val="7A7060"/>
              </a:solidFill>
              <a:latin typeface="游ゴシック"/>
              <a:ea typeface="游ゴシック"/>
            </a:endParaRP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横顔の引っかかりが消えると品が出ます。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5</a:t>
            </a:r>
            <a:r>
              <a:rPr sz="750" b="0" dirty="0">
                <a:solidFill>
                  <a:srgbClr val="7A7060"/>
                </a:solidFill>
                <a:latin typeface="游ゴシック"/>
                <a:ea typeface="游ゴシック"/>
              </a:rPr>
              <a:t>｜</a:t>
            </a:r>
            <a:r>
              <a:rPr lang="ja-JP" altLang="en-US" sz="750">
                <a:solidFill>
                  <a:srgbClr val="7A7060"/>
                </a:solidFill>
                <a:latin typeface="游ゴシック"/>
                <a:ea typeface="游ゴシック"/>
              </a:rPr>
              <a:t>わし鼻</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353F5E67-E579-A1C6-FD23-BDDCC19ABF67}"/>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2</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6E70DC33-8AA2-9269-FD66-832E2DC5917F}"/>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62C6C24B-3A08-52C0-9A46-4AF04DE27B18}"/>
              </a:ext>
            </a:extLst>
          </p:cNvPr>
          <p:cNvPicPr>
            <a:picLocks noGrp="1" noChangeAspect="1"/>
          </p:cNvPicPr>
          <p:nvPr>
            <p:ph type="pic" idx="10"/>
          </p:nvPr>
        </p:nvPicPr>
        <p:blipFill>
          <a:blip r:embed="rId2"/>
          <a:srcRect t="211" b="211"/>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6</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a:t>
            </a:r>
            <a:r>
              <a:rPr lang="ja-JP" altLang="en-US" sz="2300" b="1">
                <a:solidFill>
                  <a:srgbClr val="3A3326"/>
                </a:solidFill>
                <a:latin typeface="游明朝"/>
                <a:ea typeface="游明朝"/>
              </a:rPr>
              <a:t>筋の太さ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11</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広がった鼻骨を内側に寄せ、すっきり細い鼻筋に。</a:t>
            </a:r>
          </a:p>
        </p:txBody>
      </p:sp>
      <p:graphicFrame>
        <p:nvGraphicFramePr>
          <p:cNvPr id="17" name="Table 16"/>
          <p:cNvGraphicFramePr>
            <a:graphicFrameLocks noGrp="1"/>
          </p:cNvGraphicFramePr>
          <p:nvPr>
            <p:extLst>
              <p:ext uri="{D42A27DB-BD31-4B8C-83A1-F6EECF244321}">
                <p14:modId xmlns:p14="http://schemas.microsoft.com/office/powerpoint/2010/main" val="288965307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ストラット（オープン法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＋鼻翼縮小＋プロテーゼ＋</a:t>
                      </a:r>
                      <a:r>
                        <a:rPr sz="950" b="0" dirty="0" err="1">
                          <a:solidFill>
                            <a:srgbClr val="3A3326"/>
                          </a:solidFill>
                          <a:latin typeface="游ゴシック"/>
                          <a:ea typeface="游ゴシック"/>
                        </a:rPr>
                        <a:t>鼻骨骨切</a:t>
                      </a:r>
                      <a:r>
                        <a:rPr lang="ja-JP" altLang="en-US" sz="950" b="0">
                          <a:solidFill>
                            <a:srgbClr val="3A3326"/>
                          </a:solidFill>
                          <a:latin typeface="游ゴシック"/>
                          <a:ea typeface="游ゴシック"/>
                        </a:rPr>
                        <a:t>り</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プロテーゼ（シリコン）／自家組織（耳介軟骨） </a:t>
                      </a:r>
                      <a:r>
                        <a:rPr sz="950" b="0" dirty="0">
                          <a:solidFill>
                            <a:srgbClr val="3A3326"/>
                          </a:solidFill>
                          <a:latin typeface="游ゴシック"/>
                          <a:ea typeface="游ゴシック"/>
                        </a:rPr>
                        <a:t>／</a:t>
                      </a:r>
                      <a:r>
                        <a:rPr lang="en-US" sz="950" b="0" dirty="0">
                          <a:solidFill>
                            <a:srgbClr val="3A3326"/>
                          </a:solidFill>
                          <a:latin typeface="游ゴシック"/>
                          <a:ea typeface="游ゴシック"/>
                        </a:rPr>
                        <a:t> </a:t>
                      </a:r>
                      <a:r>
                        <a:rPr lang="ja-JP" altLang="en-US" sz="950" b="0">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腫れのピーク1週前後／ギプス固定約</a:t>
                      </a:r>
                      <a:r>
                        <a:rPr lang="en-US" sz="950" b="0" dirty="0">
                          <a:solidFill>
                            <a:srgbClr val="3A3326"/>
                          </a:solidFill>
                          <a:latin typeface="游ゴシック"/>
                          <a:ea typeface="游ゴシック"/>
                        </a:rPr>
                        <a:t>14</a:t>
                      </a:r>
                      <a:r>
                        <a:rPr sz="950" b="0" dirty="0">
                          <a:solidFill>
                            <a:srgbClr val="3A3326"/>
                          </a:solidFill>
                          <a:latin typeface="游ゴシック"/>
                          <a:ea typeface="游ゴシック"/>
                        </a:rPr>
                        <a:t>日／内出血が出やすい</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93</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15</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5</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nSpc>
                <a:spcPct val="112000"/>
              </a:lnSpc>
              <a:spcAft>
                <a:spcPts val="200"/>
              </a:spcAft>
            </a:pPr>
            <a:r>
              <a:rPr lang="ja-JP" altLang="en-US" sz="900" b="1">
                <a:solidFill>
                  <a:srgbClr val="B0934E"/>
                </a:solidFill>
                <a:latin typeface="游ゴシック"/>
                <a:ea typeface="游ゴシック"/>
              </a:rPr>
              <a:t>患者さまの声</a:t>
            </a:r>
            <a:endParaRPr lang="ja-JP" altLang="en-US"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気になった部分が解消されて、鼻が綺麗になりました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6</a:t>
            </a:r>
            <a:r>
              <a:rPr sz="750" b="0" dirty="0">
                <a:solidFill>
                  <a:srgbClr val="7A7060"/>
                </a:solidFill>
                <a:latin typeface="游ゴシック"/>
                <a:ea typeface="游ゴシック"/>
              </a:rPr>
              <a:t>｜</a:t>
            </a:r>
            <a:r>
              <a:rPr lang="en-US" sz="750" dirty="0">
                <a:solidFill>
                  <a:srgbClr val="7A7060"/>
                </a:solidFill>
                <a:latin typeface="游ゴシック"/>
                <a:ea typeface="游ゴシック"/>
              </a:rPr>
              <a:t>鼻筋の太さ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99C9FB07-B137-F7EC-6094-A3200851D1DE}"/>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8AFBA882-77BC-A8E3-1C8D-B480497393B5}"/>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12</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03</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NOSTRILS</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お悩み：小鼻・鼻の穴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lang="ja-JP" altLang="en-US" sz="1200">
                <a:solidFill>
                  <a:srgbClr val="E7DFCE"/>
                </a:solidFill>
                <a:latin typeface="游ゴシック"/>
                <a:ea typeface="游ゴシック"/>
              </a:rPr>
              <a:t>大きい・目立つ・丸い</a:t>
            </a:r>
            <a:r>
              <a:rPr lang="en-US" altLang="ja-JP" sz="1200" dirty="0">
                <a:solidFill>
                  <a:srgbClr val="E7DFCE"/>
                </a:solidFill>
                <a:latin typeface="游ゴシック"/>
                <a:ea typeface="游ゴシック"/>
              </a:rPr>
              <a:t>——</a:t>
            </a:r>
            <a:r>
              <a:rPr lang="ja-JP" altLang="en-US" sz="1200">
                <a:solidFill>
                  <a:srgbClr val="E7DFCE"/>
                </a:solidFill>
                <a:latin typeface="游ゴシック"/>
                <a:ea typeface="游ゴシック"/>
              </a:rPr>
              <a:t>小鼻・鼻の穴のお悩み</a:t>
            </a:r>
            <a:endParaRPr lang="ja-JP" altLang="en-US" sz="120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小鼻</a:t>
            </a:r>
            <a:r>
              <a:rPr lang="ja-JP" altLang="en-US" sz="1250" b="1">
                <a:solidFill>
                  <a:srgbClr val="B0934E"/>
                </a:solidFill>
                <a:latin typeface="游明朝"/>
                <a:ea typeface="游明朝"/>
              </a:rPr>
              <a:t>の</a:t>
            </a:r>
            <a:r>
              <a:rPr sz="1250" b="1" dirty="0" err="1">
                <a:solidFill>
                  <a:srgbClr val="B0934E"/>
                </a:solidFill>
                <a:latin typeface="游明朝"/>
                <a:ea typeface="游明朝"/>
              </a:rPr>
              <a:t>大き</a:t>
            </a:r>
            <a:r>
              <a:rPr lang="ja-JP" altLang="en-US" sz="1250" b="1">
                <a:solidFill>
                  <a:srgbClr val="B0934E"/>
                </a:solidFill>
                <a:latin typeface="游明朝"/>
                <a:ea typeface="游明朝"/>
              </a:rPr>
              <a:t>さ</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小鼻の広がりを自然に抑える</a:t>
            </a: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nSpc>
                <a:spcPct val="110000"/>
              </a:lnSpc>
              <a:spcAft>
                <a:spcPts val="200"/>
              </a:spcAft>
            </a:pPr>
            <a:r>
              <a:rPr lang="ja-JP" altLang="en-US" sz="1250" b="1">
                <a:solidFill>
                  <a:srgbClr val="B0934E"/>
                </a:solidFill>
                <a:latin typeface="游明朝"/>
                <a:ea typeface="游明朝"/>
              </a:rPr>
              <a:t>鼻の穴が目立つ</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nSpc>
                <a:spcPct val="125000"/>
              </a:lnSpc>
              <a:spcAft>
                <a:spcPts val="200"/>
              </a:spcAft>
            </a:pPr>
            <a:r>
              <a:rPr lang="ja-JP" altLang="en-US" sz="950">
                <a:solidFill>
                  <a:srgbClr val="E7DFCE"/>
                </a:solidFill>
                <a:latin typeface="游ゴシック"/>
                <a:ea typeface="游ゴシック"/>
              </a:rPr>
              <a:t>鼻の穴の見え方を整える</a:t>
            </a:r>
            <a:endParaRPr sz="950" b="0" dirty="0">
              <a:solidFill>
                <a:srgbClr val="E7DFCE"/>
              </a:solidFill>
              <a:latin typeface="游ゴシック"/>
              <a:ea typeface="游ゴシック"/>
            </a:endParaRP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肉厚鼻</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b="0">
                <a:solidFill>
                  <a:srgbClr val="E7DFCE"/>
                </a:solidFill>
                <a:latin typeface="游ゴシック"/>
                <a:ea typeface="游ゴシック"/>
              </a:rPr>
              <a:t>肉厚鼻</a:t>
            </a:r>
            <a:r>
              <a:rPr lang="ja-JP" altLang="en-US" sz="950">
                <a:solidFill>
                  <a:srgbClr val="E7DFCE"/>
                </a:solidFill>
                <a:latin typeface="游ゴシック"/>
                <a:ea typeface="游ゴシック"/>
              </a:rPr>
              <a:t>をすっきり</a:t>
            </a:r>
            <a:endParaRPr sz="950" b="0" dirty="0">
              <a:solidFill>
                <a:srgbClr val="E7DFCE"/>
              </a:solidFill>
              <a:latin typeface="游ゴシック"/>
              <a:ea typeface="游ゴシック"/>
            </a:endParaRPr>
          </a:p>
        </p:txBody>
      </p:sp>
      <p:sp>
        <p:nvSpPr>
          <p:cNvPr id="19" name="TextBox 1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デザインカタログ｜NOSTRILS</a:t>
            </a:r>
          </a:p>
        </p:txBody>
      </p:sp>
      <p:sp>
        <p:nvSpPr>
          <p:cNvPr id="20" name="TextBox 1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974F62D0-EED0-C89B-4199-0604010B09E9}"/>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7</a:t>
            </a:r>
            <a:r>
              <a:rPr sz="950" b="1" dirty="0">
                <a:solidFill>
                  <a:srgbClr val="B0934E"/>
                </a:solidFill>
                <a:latin typeface="游ゴシック"/>
                <a:ea typeface="游ゴシック"/>
              </a:rPr>
              <a:t>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小鼻</a:t>
            </a:r>
            <a:r>
              <a:rPr lang="ja-JP" altLang="en-US" sz="2300" b="1">
                <a:solidFill>
                  <a:srgbClr val="3A3326"/>
                </a:solidFill>
                <a:latin typeface="游明朝"/>
                <a:ea typeface="游明朝"/>
              </a:rPr>
              <a:t>の大きさ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13</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小鼻の広がりだけを抑え、印象を壊さない引き算の設計。</a:t>
            </a:r>
          </a:p>
        </p:txBody>
      </p:sp>
      <p:graphicFrame>
        <p:nvGraphicFramePr>
          <p:cNvPr id="17" name="Table 16"/>
          <p:cNvGraphicFramePr>
            <a:graphicFrameLocks noGrp="1"/>
          </p:cNvGraphicFramePr>
          <p:nvPr>
            <p:extLst>
              <p:ext uri="{D42A27DB-BD31-4B8C-83A1-F6EECF244321}">
                <p14:modId xmlns:p14="http://schemas.microsoft.com/office/powerpoint/2010/main" val="207335962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鼻翼</a:t>
                      </a:r>
                      <a:r>
                        <a:rPr sz="950" b="0" dirty="0" err="1">
                          <a:solidFill>
                            <a:srgbClr val="3A3326"/>
                          </a:solidFill>
                          <a:latin typeface="游ゴシック"/>
                          <a:ea typeface="游ゴシック"/>
                        </a:rPr>
                        <a:t>縮小</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a:t>
                      </a:r>
                      <a:r>
                        <a:rPr sz="950" b="0" dirty="0" err="1">
                          <a:solidFill>
                            <a:srgbClr val="3A3326"/>
                          </a:solidFill>
                          <a:latin typeface="游ゴシック"/>
                          <a:ea typeface="游ゴシック"/>
                        </a:rPr>
                        <a:t>材料なし</a:t>
                      </a:r>
                      <a:r>
                        <a:rPr sz="950" b="0" dirty="0">
                          <a:solidFill>
                            <a:srgbClr val="3A3326"/>
                          </a:solidFill>
                          <a:latin typeface="游ゴシック"/>
                          <a:ea typeface="游ゴシック"/>
                        </a:rPr>
                        <a:t>） ／</a:t>
                      </a:r>
                      <a:r>
                        <a:rPr lang="ja-JP" altLang="en-US" sz="950" b="0">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腫れ・内出血は軽め／抜糸5〜7日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¥3</a:t>
            </a:r>
            <a:r>
              <a:rPr lang="en-US" sz="2100" b="1" dirty="0">
                <a:solidFill>
                  <a:srgbClr val="3A3326"/>
                </a:solidFill>
                <a:latin typeface="游明朝"/>
                <a:ea typeface="游明朝"/>
              </a:rPr>
              <a:t>08</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¥5,</a:t>
            </a:r>
            <a:r>
              <a:rPr lang="en-US" sz="1200" b="1" dirty="0">
                <a:solidFill>
                  <a:srgbClr val="8C7339"/>
                </a:solidFill>
                <a:latin typeface="游ゴシック"/>
                <a:ea typeface="游ゴシック"/>
              </a:rPr>
              <a:t>1</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9" name="TextBox 28"/>
          <p:cNvSpPr txBox="1"/>
          <p:nvPr/>
        </p:nvSpPr>
        <p:spPr>
          <a:xfrm>
            <a:off x="841248" y="9574663"/>
            <a:ext cx="5880354" cy="411844"/>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小鼻だけでも十分綺麗になれますと言ってくださり、手術を決意しました</a:t>
            </a:r>
            <a:r>
              <a:rPr sz="1000" b="0" dirty="0">
                <a:solidFill>
                  <a:srgbClr val="3A3326"/>
                </a:solidFill>
                <a:latin typeface="游ゴシック"/>
                <a:ea typeface="游ゴシック"/>
              </a:rPr>
              <a:t>。</a:t>
            </a:r>
            <a:endParaRPr lang="en-US" sz="1000" b="0" dirty="0">
              <a:solidFill>
                <a:srgbClr val="3A3326"/>
              </a:solidFill>
              <a:latin typeface="游ゴシック"/>
              <a:ea typeface="游ゴシック"/>
            </a:endParaRPr>
          </a:p>
          <a:p>
            <a:pPr algn="l">
              <a:lnSpc>
                <a:spcPct val="130000"/>
              </a:lnSpc>
              <a:spcBef>
                <a:spcPts val="0"/>
              </a:spcBef>
              <a:spcAft>
                <a:spcPts val="200"/>
              </a:spcAft>
            </a:pPr>
            <a:r>
              <a:rPr lang="ja-JP" altLang="en-US" sz="1000" b="0">
                <a:solidFill>
                  <a:srgbClr val="3A3326"/>
                </a:solidFill>
                <a:latin typeface="游ゴシック"/>
                <a:ea typeface="游ゴシック"/>
              </a:rPr>
              <a:t>痛みも少なく満足しております。</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7</a:t>
            </a:r>
            <a:r>
              <a:rPr sz="750" b="0" dirty="0">
                <a:solidFill>
                  <a:srgbClr val="7A7060"/>
                </a:solidFill>
                <a:latin typeface="游ゴシック"/>
                <a:ea typeface="游ゴシック"/>
              </a:rPr>
              <a:t>｜小鼻</a:t>
            </a:r>
            <a:r>
              <a:rPr lang="en-US" sz="750" dirty="0">
                <a:solidFill>
                  <a:srgbClr val="7A7060"/>
                </a:solidFill>
                <a:latin typeface="游ゴシック"/>
                <a:ea typeface="游ゴシック"/>
              </a:rPr>
              <a:t>の大きさ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FB4A3B1-F77A-56CA-C0F9-83CBDA15F10E}"/>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ja-JP" altLang="en-US" sz="850" b="0">
                <a:solidFill>
                  <a:srgbClr val="7A7060"/>
                </a:solidFill>
                <a:latin typeface="游ゴシック"/>
                <a:ea typeface="游ゴシック"/>
              </a:rPr>
              <a:t>鼻翼縮小のみ</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27F96BEB-6AC2-0494-4635-A0E82918246C}"/>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9F9F28E1-7807-12B5-0742-1F37FBD3141B}"/>
              </a:ext>
            </a:extLst>
          </p:cNvPr>
          <p:cNvPicPr>
            <a:picLocks noGrp="1" noChangeAspect="1"/>
          </p:cNvPicPr>
          <p:nvPr>
            <p:ph type="pic" idx="10"/>
          </p:nvPr>
        </p:nvPicPr>
        <p:blipFill>
          <a:blip r:embed="rId2"/>
          <a:srcRect t="583" b="583"/>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08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鼻の穴が目立つ</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14</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963681"/>
            <a:ext cx="4600194" cy="417037"/>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鼻尖の角度を下向きに調整し、さらに鼻の穴に皮膚移植をすることで、</a:t>
            </a:r>
            <a:endParaRPr lang="en-US" altLang="ja-JP" sz="1050" b="0" dirty="0">
              <a:solidFill>
                <a:srgbClr val="3A3326"/>
              </a:solidFill>
              <a:latin typeface="游ゴシック"/>
              <a:ea typeface="游ゴシック"/>
            </a:endParaRPr>
          </a:p>
          <a:p>
            <a:pPr algn="l">
              <a:lnSpc>
                <a:spcPct val="125000"/>
              </a:lnSpc>
              <a:spcBef>
                <a:spcPts val="0"/>
              </a:spcBef>
              <a:spcAft>
                <a:spcPts val="200"/>
              </a:spcAft>
            </a:pPr>
            <a:r>
              <a:rPr lang="ja-JP" altLang="en-US" sz="1050" b="0">
                <a:solidFill>
                  <a:srgbClr val="3A3326"/>
                </a:solidFill>
                <a:latin typeface="游ゴシック"/>
                <a:ea typeface="游ゴシック"/>
              </a:rPr>
              <a:t>鼻の穴を目立たせないようにしました。</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326814921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鼻中隔延長（クローズド法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＋鼻孔縁下降</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a:t>
                      </a:r>
                      <a:r>
                        <a:rPr lang="ja-JP" altLang="en-US" sz="950" b="0">
                          <a:solidFill>
                            <a:srgbClr val="3A3326"/>
                          </a:solidFill>
                          <a:latin typeface="游ゴシック"/>
                          <a:ea typeface="游ゴシック"/>
                        </a:rPr>
                        <a:t>複合組織</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980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16</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3</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クローズド法で鼻中隔延長と鼻孔縁下降まで施術したことで、傷跡は一切外側に見えません。</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 デザインカタログ｜Case 08｜鼻の穴が目立つ</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77CC189-E719-2378-A26A-F7A0C7837285}"/>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1AB704C0-9512-EEDE-C8AF-75B54E41EE4D}"/>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5739463E-5522-2180-CDEA-9584F93C3159}"/>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09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肉厚鼻</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15</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忘れ鼻</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dirty="0">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鼻孔縁挙上で小鼻の厚みをとり、ストラットで鼻先を小さくしています。</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355749106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ストラット（クローズド法）＋鼻翼縮小＋鼻孔縁挙上</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78</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13</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0</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小鼻の厚みをとるとお鼻がすっきりして見えます</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 デザインカタログ｜Case 09｜肉厚鼻</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F04838CA-6959-90AE-8680-FC4ABEA93D11}"/>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E4388A7B-88A5-8B34-5902-E71F4DFDFAE8}"/>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799"/>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16</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04</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BALANCE</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お悩み：全体・横顔 ―</a:t>
            </a:r>
          </a:p>
        </p:txBody>
      </p:sp>
      <p:sp>
        <p:nvSpPr>
          <p:cNvPr id="9" name="TextBox 8"/>
          <p:cNvSpPr txBox="1"/>
          <p:nvPr/>
        </p:nvSpPr>
        <p:spPr>
          <a:xfrm>
            <a:off x="566928" y="4114800"/>
            <a:ext cx="6428994" cy="457200"/>
          </a:xfrm>
          <a:prstGeom prst="rect">
            <a:avLst/>
          </a:prstGeom>
          <a:noFill/>
        </p:spPr>
        <p:txBody>
          <a:bodyPr wrap="square" lIns="0" tIns="0" rIns="0" bIns="0" anchor="t">
            <a:spAutoFit/>
          </a:bodyPr>
          <a:lstStyle/>
          <a:p>
            <a:pPr algn="ctr">
              <a:lnSpc>
                <a:spcPct val="150000"/>
              </a:lnSpc>
              <a:spcBef>
                <a:spcPts val="0"/>
              </a:spcBef>
              <a:spcAft>
                <a:spcPts val="200"/>
              </a:spcAft>
            </a:pPr>
            <a:r>
              <a:rPr sz="1200" b="0">
                <a:solidFill>
                  <a:srgbClr val="E7DFCE"/>
                </a:solidFill>
                <a:latin typeface="游ゴシック"/>
                <a:ea typeface="游ゴシック"/>
              </a:rPr>
              <a:t>鼻の長さ・向き・Eライン——全体バランスのお悩み</a:t>
            </a: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en-US" altLang="ja-JP" sz="1250" b="1" dirty="0">
                <a:solidFill>
                  <a:srgbClr val="B0934E"/>
                </a:solidFill>
                <a:latin typeface="游明朝"/>
                <a:ea typeface="游明朝"/>
              </a:rPr>
              <a:t>E</a:t>
            </a:r>
            <a:r>
              <a:rPr lang="ja-JP" altLang="en-US" sz="1250" b="1">
                <a:solidFill>
                  <a:srgbClr val="B0934E"/>
                </a:solidFill>
                <a:latin typeface="游明朝"/>
                <a:ea typeface="游明朝"/>
              </a:rPr>
              <a:t>ラインを整えたい</a:t>
            </a:r>
            <a:endParaRPr sz="1250" b="1" dirty="0">
              <a:solidFill>
                <a:srgbClr val="B0934E"/>
              </a:solidFill>
              <a:latin typeface="游明朝"/>
              <a:ea typeface="游明朝"/>
            </a:endParaRPr>
          </a:p>
        </p:txBody>
      </p:sp>
      <p:sp>
        <p:nvSpPr>
          <p:cNvPr id="12" name="TextBox 11"/>
          <p:cNvSpPr txBox="1"/>
          <p:nvPr/>
        </p:nvSpPr>
        <p:spPr>
          <a:xfrm>
            <a:off x="4407408" y="5336695"/>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高さや鼻唇角を整える</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鼻を高くしたい</a:t>
            </a:r>
            <a:endParaRPr sz="1250" b="1" dirty="0">
              <a:solidFill>
                <a:srgbClr val="B0934E"/>
              </a:solidFill>
              <a:latin typeface="游明朝"/>
              <a:ea typeface="游明朝"/>
            </a:endParaRPr>
          </a:p>
        </p:txBody>
      </p:sp>
      <p:sp>
        <p:nvSpPr>
          <p:cNvPr id="15" name="TextBox 14"/>
          <p:cNvSpPr txBox="1"/>
          <p:nvPr/>
        </p:nvSpPr>
        <p:spPr>
          <a:xfrm>
            <a:off x="4407408" y="5916168"/>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上向きの鼻先を下ろして整える</a:t>
            </a: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忘れ鼻になりたい</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半ラウンドの可愛いお鼻に</a:t>
            </a:r>
            <a:endParaRPr sz="950" b="0" dirty="0">
              <a:solidFill>
                <a:srgbClr val="E7DFCE"/>
              </a:solidFill>
              <a:latin typeface="游ゴシック"/>
              <a:ea typeface="游ゴシック"/>
            </a:endParaRPr>
          </a:p>
        </p:txBody>
      </p:sp>
      <p:sp>
        <p:nvSpPr>
          <p:cNvPr id="19" name="TextBox 1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デザインカタログ｜BALANCE</a:t>
            </a:r>
          </a:p>
        </p:txBody>
      </p:sp>
      <p:sp>
        <p:nvSpPr>
          <p:cNvPr id="20" name="TextBox 1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0D865E00-8A16-7522-3891-1283D64C699E}"/>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0</a:t>
            </a:r>
            <a:r>
              <a:rPr sz="950" b="1" dirty="0">
                <a:solidFill>
                  <a:srgbClr val="B0934E"/>
                </a:solidFill>
                <a:latin typeface="游ゴシック"/>
                <a:ea typeface="游ゴシック"/>
              </a:rPr>
              <a:t> ／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en-US" altLang="ja-JP" sz="2300" b="1" dirty="0">
                <a:solidFill>
                  <a:srgbClr val="3A3326"/>
                </a:solidFill>
                <a:latin typeface="游明朝"/>
                <a:ea typeface="游明朝"/>
              </a:rPr>
              <a:t>E</a:t>
            </a:r>
            <a:r>
              <a:rPr lang="ja-JP" altLang="en-US" sz="2300" b="1">
                <a:solidFill>
                  <a:srgbClr val="3A3326"/>
                </a:solidFill>
                <a:latin typeface="游明朝"/>
                <a:ea typeface="游明朝"/>
              </a:rPr>
              <a:t>ラインを整えたい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17</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可愛い</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鼻唇角はややアップノーズに、鼻筋は半ラウンドに設計しています</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28427061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580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9</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口ゴボ感も解消して、</a:t>
            </a:r>
            <a:r>
              <a:rPr lang="en-US" altLang="ja-JP" sz="1000" dirty="0">
                <a:solidFill>
                  <a:srgbClr val="3A3326"/>
                </a:solidFill>
                <a:latin typeface="游ゴシック"/>
                <a:ea typeface="游ゴシック"/>
              </a:rPr>
              <a:t>E</a:t>
            </a:r>
            <a:r>
              <a:rPr lang="ja-JP" altLang="en-US" sz="1000">
                <a:solidFill>
                  <a:srgbClr val="3A3326"/>
                </a:solidFill>
                <a:latin typeface="游ゴシック"/>
                <a:ea typeface="游ゴシック"/>
              </a:rPr>
              <a:t>ラインが整うことで、横顔が洗練されました。</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dirty="0">
                <a:solidFill>
                  <a:srgbClr val="7A7060"/>
                </a:solidFill>
                <a:latin typeface="游ゴシック"/>
                <a:ea typeface="游ゴシック"/>
              </a:rPr>
              <a:t>0</a:t>
            </a:r>
            <a:r>
              <a:rPr sz="750" b="0" dirty="0">
                <a:solidFill>
                  <a:srgbClr val="7A7060"/>
                </a:solidFill>
                <a:latin typeface="游ゴシック"/>
                <a:ea typeface="游ゴシック"/>
              </a:rPr>
              <a:t>｜</a:t>
            </a:r>
            <a:r>
              <a:rPr lang="en-US" sz="750" b="0" dirty="0">
                <a:solidFill>
                  <a:srgbClr val="7A7060"/>
                </a:solidFill>
                <a:latin typeface="游ゴシック"/>
                <a:ea typeface="游ゴシック"/>
              </a:rPr>
              <a:t>Eラインを整えたい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5C8DFDE5-E9F0-FF41-6FCB-7DB93BD18320}"/>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1</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088DC6BA-417E-7151-FC8D-5D134A6A804A}"/>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C444F402-1FB0-6EDD-6564-4F406C9946DF}"/>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1</a:t>
            </a:r>
            <a:r>
              <a:rPr sz="950" b="1" dirty="0">
                <a:solidFill>
                  <a:srgbClr val="B0934E"/>
                </a:solidFill>
                <a:latin typeface="游ゴシック"/>
                <a:ea typeface="游ゴシック"/>
              </a:rPr>
              <a:t> ／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鼻を高くしたい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sz="1100" dirty="0">
                <a:solidFill>
                  <a:srgbClr val="B0934E"/>
                </a:solidFill>
                <a:latin typeface="游明朝"/>
                <a:ea typeface="游明朝"/>
              </a:rPr>
              <a:t>18</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華やか</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a:solidFill>
                  <a:srgbClr val="3A3326"/>
                </a:solidFill>
                <a:latin typeface="游ゴシック"/>
                <a:ea typeface="游ゴシック"/>
              </a:rPr>
              <a:t>鼻筋はストレート、シャープな印象になるように</a:t>
            </a:r>
            <a:r>
              <a:rPr sz="1050" b="0" dirty="0" err="1">
                <a:solidFill>
                  <a:srgbClr val="3A3326"/>
                </a:solidFill>
                <a:latin typeface="游ゴシック"/>
                <a:ea typeface="游ゴシック"/>
              </a:rPr>
              <a:t>高さを整え</a:t>
            </a:r>
            <a:r>
              <a:rPr lang="ja-JP" altLang="en-US" sz="1050" b="0">
                <a:solidFill>
                  <a:srgbClr val="3A3326"/>
                </a:solidFill>
                <a:latin typeface="游ゴシック"/>
                <a:ea typeface="游ゴシック"/>
              </a:rPr>
              <a:t>ています</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46283708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88</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14</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お顔の印象と骨格に合った、綺麗なお鼻になりました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1</a:t>
            </a:r>
            <a:r>
              <a:rPr sz="750" b="0" dirty="0">
                <a:solidFill>
                  <a:srgbClr val="7A7060"/>
                </a:solidFill>
                <a:latin typeface="游ゴシック"/>
                <a:ea typeface="游ゴシック"/>
              </a:rPr>
              <a:t>｜</a:t>
            </a:r>
            <a:r>
              <a:rPr lang="ja-JP" altLang="en-US" sz="750" b="0">
                <a:solidFill>
                  <a:srgbClr val="7A7060"/>
                </a:solidFill>
                <a:latin typeface="游ゴシック"/>
                <a:ea typeface="游ゴシック"/>
              </a:rPr>
              <a:t>鼻を高くしたい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CF90D722-FE4F-292B-13F9-A2FC678DD0B2}"/>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269F2170-282F-D058-FFA4-919E7F11243B}"/>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7891E5D0-F0FE-1523-276A-DDAD683B29D5}"/>
              </a:ext>
            </a:extLst>
          </p:cNvPr>
          <p:cNvPicPr>
            <a:picLocks noGrp="1" noChangeAspect="1"/>
          </p:cNvPicPr>
          <p:nvPr>
            <p:ph type="pic" idx="10"/>
          </p:nvPr>
        </p:nvPicPr>
        <p:blipFill>
          <a:blip r:embed="rId2"/>
          <a:srcRect t="286" b="28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12 ／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忘れ鼻になりたい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sz="1100" dirty="0">
                <a:solidFill>
                  <a:srgbClr val="B0934E"/>
                </a:solidFill>
                <a:latin typeface="游明朝"/>
                <a:ea typeface="游明朝"/>
              </a:rPr>
              <a:t>19</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graphicFrame>
        <p:nvGraphicFramePr>
          <p:cNvPr id="17" name="Table 16"/>
          <p:cNvGraphicFramePr>
            <a:graphicFrameLocks noGrp="1"/>
          </p:cNvGraphicFramePr>
          <p:nvPr>
            <p:extLst>
              <p:ext uri="{D42A27DB-BD31-4B8C-83A1-F6EECF244321}">
                <p14:modId xmlns:p14="http://schemas.microsoft.com/office/powerpoint/2010/main" val="2045690067"/>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580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9</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ややアップノーズにすることで自然と中顔面が短縮して見えます</a:t>
            </a:r>
            <a:r>
              <a:rPr sz="1000" b="0" dirty="0">
                <a:solidFill>
                  <a:srgbClr val="3A3326"/>
                </a:solidFill>
                <a:latin typeface="游ゴシック"/>
                <a:ea typeface="游ゴシック"/>
              </a:rPr>
              <a:t>。</a:t>
            </a:r>
            <a:r>
              <a:rPr lang="ja-JP" altLang="en-US" sz="1000" b="0">
                <a:solidFill>
                  <a:srgbClr val="3A3326"/>
                </a:solidFill>
                <a:latin typeface="游ゴシック"/>
                <a:ea typeface="游ゴシック"/>
              </a:rPr>
              <a:t>忘れ鼻かつ可愛い印象に。</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2</a:t>
            </a:r>
            <a:r>
              <a:rPr sz="750" b="0" dirty="0">
                <a:solidFill>
                  <a:srgbClr val="7A7060"/>
                </a:solidFill>
                <a:latin typeface="游ゴシック"/>
                <a:ea typeface="游ゴシック"/>
              </a:rPr>
              <a:t>｜</a:t>
            </a:r>
            <a:r>
              <a:rPr lang="ja-JP" altLang="en-US" sz="750">
                <a:solidFill>
                  <a:srgbClr val="7A7060"/>
                </a:solidFill>
                <a:latin typeface="游ゴシック"/>
                <a:ea typeface="游ゴシック"/>
              </a:rPr>
              <a:t>忘れ鼻になりたい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462FA08-E1C4-6442-539C-2973178DB0E6}"/>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9EEB0038-68E4-82AC-1BD8-106813A9A98C}"/>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36" name="TextBox 15">
            <a:extLst>
              <a:ext uri="{FF2B5EF4-FFF2-40B4-BE49-F238E27FC236}">
                <a16:creationId xmlns:a16="http://schemas.microsoft.com/office/drawing/2014/main" id="{7FF4DB2F-D2A8-3B5C-4F23-E40A382B6ADB}"/>
              </a:ext>
            </a:extLst>
          </p:cNvPr>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半ラウンドの自然なラインで、やりすぎず“忘れ鼻”に整えています。</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20</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05</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REVISION</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お悩み：専門・修正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拘縮・他院修正</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先天性疾患</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専門的な修正のお悩み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拘縮鼻の修正</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dirty="0" err="1">
                <a:solidFill>
                  <a:srgbClr val="E7DFCE"/>
                </a:solidFill>
                <a:latin typeface="游ゴシック"/>
                <a:ea typeface="游ゴシック"/>
              </a:rPr>
              <a:t>拘縮した鼻を肋軟骨で作り直す</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先天的な鼻の発育不全</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生まれつきの鼻の低さを解消</a:t>
            </a:r>
            <a:endParaRPr sz="950" b="0" dirty="0">
              <a:solidFill>
                <a:srgbClr val="E7DFCE"/>
              </a:solidFill>
              <a:latin typeface="游ゴシック"/>
              <a:ea typeface="游ゴシック"/>
            </a:endParaRPr>
          </a:p>
        </p:txBody>
      </p:sp>
      <p:sp>
        <p:nvSpPr>
          <p:cNvPr id="16" name="TextBox 15"/>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デザインカタログ｜REVISION</a:t>
            </a:r>
          </a:p>
        </p:txBody>
      </p:sp>
      <p:sp>
        <p:nvSpPr>
          <p:cNvPr id="17" name="TextBox 16"/>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673638EF-708C-F829-E959-5B16D939F3A1}"/>
              </a:ext>
            </a:extLst>
          </p:cNvPr>
          <p:cNvPicPr>
            <a:picLocks noGrp="1" noChangeAspect="1"/>
          </p:cNvPicPr>
          <p:nvPr>
            <p:ph type="pic" idx="10"/>
          </p:nvPr>
        </p:nvPicPr>
        <p:blipFill>
          <a:blip r:embed="rId2"/>
          <a:srcRect l="27" r="27"/>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3</a:t>
            </a:r>
            <a:r>
              <a:rPr sz="950" b="1" dirty="0">
                <a:solidFill>
                  <a:srgbClr val="B0934E"/>
                </a:solidFill>
                <a:latin typeface="游ゴシック"/>
                <a:ea typeface="游ゴシック"/>
              </a:rPr>
              <a:t> ／ REVISION</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拘縮鼻の修正</a:t>
            </a:r>
            <a:endParaRPr sz="2300" b="1" dirty="0">
              <a:solidFill>
                <a:srgbClr val="3A3326"/>
              </a:solidFill>
              <a:latin typeface="游明朝"/>
              <a:ea typeface="游明朝"/>
            </a:endParaRPr>
          </a:p>
        </p:txBody>
      </p:sp>
      <p:sp>
        <p:nvSpPr>
          <p:cNvPr id="5" name="TextBox 4"/>
          <p:cNvSpPr txBox="1"/>
          <p:nvPr/>
        </p:nvSpPr>
        <p:spPr>
          <a:xfrm>
            <a:off x="6366993"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21</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部位：専門・修正</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忘れ鼻</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拘縮した鼻を肋軟骨で土台から作り直し、立体感を取り戻す。</a:t>
            </a:r>
          </a:p>
        </p:txBody>
      </p:sp>
      <p:graphicFrame>
        <p:nvGraphicFramePr>
          <p:cNvPr id="17" name="Table 16"/>
          <p:cNvGraphicFramePr>
            <a:graphicFrameLocks noGrp="1"/>
          </p:cNvGraphicFramePr>
          <p:nvPr>
            <p:extLst>
              <p:ext uri="{D42A27DB-BD31-4B8C-83A1-F6EECF244321}">
                <p14:modId xmlns:p14="http://schemas.microsoft.com/office/powerpoint/2010/main" val="2651645899"/>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鼻中隔延長（オープン法）＋鼻孔縁挙上＋プロテーゼ＋他院修正</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プロテーゼ（シリコン）／自家組織（肋軟骨、耳介軟骨）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難しい拘縮も肋軟骨でしっかり作り直せます。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3</a:t>
            </a:r>
            <a:r>
              <a:rPr sz="750" b="0" dirty="0">
                <a:solidFill>
                  <a:srgbClr val="7A7060"/>
                </a:solidFill>
                <a:latin typeface="游ゴシック"/>
                <a:ea typeface="游ゴシック"/>
              </a:rPr>
              <a:t>｜拘縮鼻の修正</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A566ECB4-CE3E-A846-2DCD-3D8E6D533054}"/>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4</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47CF910A-AF1C-DE5F-2A63-244A1A6215EE}"/>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39" name="TextBox 23">
            <a:extLst>
              <a:ext uri="{FF2B5EF4-FFF2-40B4-BE49-F238E27FC236}">
                <a16:creationId xmlns:a16="http://schemas.microsoft.com/office/drawing/2014/main" id="{21CA446C-A7CA-7F7B-6129-F1126B043A20}"/>
              </a:ext>
            </a:extLst>
          </p:cNvPr>
          <p:cNvSpPr txBox="1"/>
          <p:nvPr/>
        </p:nvSpPr>
        <p:spPr>
          <a:xfrm>
            <a:off x="4174617" y="8202168"/>
            <a:ext cx="2665857" cy="344774"/>
          </a:xfrm>
          <a:prstGeom prst="rect">
            <a:avLst/>
          </a:prstGeom>
          <a:noFill/>
        </p:spPr>
        <p:txBody>
          <a:bodyPr wrap="square" lIns="0" tIns="0" rIns="0" bIns="0" anchor="t">
            <a:spAutoFit/>
          </a:bodyPr>
          <a:lstStyle/>
          <a:p>
            <a:pPr>
              <a:lnSpc>
                <a:spcPct val="112000"/>
              </a:lnSpc>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1</a:t>
            </a:r>
            <a:r>
              <a:rPr lang="en-US" altLang="ja-JP" sz="2100" b="1" dirty="0">
                <a:solidFill>
                  <a:srgbClr val="3A3326"/>
                </a:solidFill>
                <a:latin typeface="游明朝"/>
                <a:ea typeface="游明朝"/>
              </a:rPr>
              <a:t>,542</a:t>
            </a:r>
            <a:r>
              <a:rPr sz="2100" b="1" dirty="0">
                <a:solidFill>
                  <a:srgbClr val="3A3326"/>
                </a:solidFill>
                <a:latin typeface="游明朝"/>
                <a:ea typeface="游明朝"/>
              </a:rPr>
              <a:t>,000〜</a:t>
            </a:r>
          </a:p>
        </p:txBody>
      </p:sp>
      <p:sp>
        <p:nvSpPr>
          <p:cNvPr id="40" name="TextBox 24">
            <a:extLst>
              <a:ext uri="{FF2B5EF4-FFF2-40B4-BE49-F238E27FC236}">
                <a16:creationId xmlns:a16="http://schemas.microsoft.com/office/drawing/2014/main" id="{4F730E4D-B3C6-FB6E-A7C4-38E47D2E83ED}"/>
              </a:ext>
            </a:extLst>
          </p:cNvPr>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25</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42" name="TextBox 25">
            <a:extLst>
              <a:ext uri="{FF2B5EF4-FFF2-40B4-BE49-F238E27FC236}">
                <a16:creationId xmlns:a16="http://schemas.microsoft.com/office/drawing/2014/main" id="{055E9989-752A-9C9B-C97F-8DB81A579D3B}"/>
              </a:ext>
            </a:extLst>
          </p:cNvPr>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図プレースホルダー 31">
            <a:extLst>
              <a:ext uri="{FF2B5EF4-FFF2-40B4-BE49-F238E27FC236}">
                <a16:creationId xmlns:a16="http://schemas.microsoft.com/office/drawing/2014/main" id="{25E4E920-A9F7-809D-AAC2-40D8639E127E}"/>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4</a:t>
            </a:r>
            <a:r>
              <a:rPr sz="950" b="1" dirty="0">
                <a:solidFill>
                  <a:srgbClr val="B0934E"/>
                </a:solidFill>
                <a:latin typeface="游ゴシック"/>
                <a:ea typeface="游ゴシック"/>
              </a:rPr>
              <a:t> ／ REVISION</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先天的な鼻の発育不全</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22</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部位：専門・修正</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en-US" sz="950" b="1" dirty="0" err="1">
                <a:solidFill>
                  <a:srgbClr val="FFFFFF"/>
                </a:solidFill>
                <a:latin typeface="游ゴシック"/>
                <a:ea typeface="游ゴシック"/>
              </a:rPr>
              <a:t>可愛い</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生まれつきそうであったかのようなお鼻を目指しました</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72016847"/>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鼻中隔延長（オープン法）＋貴族猫＋プロテーゼ</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プロテーゼ（シリコン）／自家組織（肋軟骨、耳介軟骨）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6" name="Rounded Rectangle 25"/>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8" name="TextBox 27"/>
          <p:cNvSpPr txBox="1"/>
          <p:nvPr/>
        </p:nvSpPr>
        <p:spPr>
          <a:xfrm>
            <a:off x="841248" y="9586035"/>
            <a:ext cx="5999226" cy="386196"/>
          </a:xfrm>
          <a:prstGeom prst="rect">
            <a:avLst/>
          </a:prstGeom>
          <a:noFill/>
        </p:spPr>
        <p:txBody>
          <a:bodyPr wrap="square" lIns="0" tIns="0" rIns="0" bIns="0" anchor="t">
            <a:spAutoFit/>
          </a:bodyPr>
          <a:lstStyle/>
          <a:p>
            <a:pPr>
              <a:lnSpc>
                <a:spcPct val="130000"/>
              </a:lnSpc>
              <a:spcAft>
                <a:spcPts val="200"/>
              </a:spcAft>
            </a:pPr>
            <a:r>
              <a:rPr lang="ja-JP" altLang="en-US" sz="1000">
                <a:solidFill>
                  <a:srgbClr val="3A3326"/>
                </a:solidFill>
                <a:latin typeface="游ゴシック"/>
                <a:ea typeface="游ゴシック"/>
              </a:rPr>
              <a:t>最初はまだ高校生だし不安もあったけど、丁寧に説明してもらえて看護師さんも優しくて、安心して鼻の施術を受けることができました。仕上がりもすごく自然で、友達にも褒めてもらえて嬉しかったです！！</a:t>
            </a:r>
            <a:endParaRPr sz="1000" b="0" dirty="0">
              <a:solidFill>
                <a:srgbClr val="3A3326"/>
              </a:solidFill>
              <a:latin typeface="游ゴシック"/>
              <a:ea typeface="游ゴシック"/>
            </a:endParaRPr>
          </a:p>
        </p:txBody>
      </p:sp>
      <p:sp>
        <p:nvSpPr>
          <p:cNvPr id="29" name="TextBox 28"/>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dirty="0">
                <a:solidFill>
                  <a:srgbClr val="7A7060"/>
                </a:solidFill>
                <a:latin typeface="游ゴシック"/>
                <a:ea typeface="游ゴシック"/>
              </a:rPr>
              <a:t>4</a:t>
            </a:r>
            <a:r>
              <a:rPr sz="750" b="0" dirty="0">
                <a:solidFill>
                  <a:srgbClr val="7A7060"/>
                </a:solidFill>
                <a:latin typeface="游ゴシック"/>
                <a:ea typeface="游ゴシック"/>
              </a:rPr>
              <a:t>｜</a:t>
            </a:r>
            <a:r>
              <a:rPr lang="en-US" sz="750" dirty="0">
                <a:solidFill>
                  <a:srgbClr val="7A7060"/>
                </a:solidFill>
                <a:latin typeface="游ゴシック"/>
                <a:ea typeface="游ゴシック"/>
              </a:rPr>
              <a:t>先天的な鼻の発育不全</a:t>
            </a:r>
            <a:endParaRPr sz="750" b="0" dirty="0">
              <a:solidFill>
                <a:srgbClr val="7A7060"/>
              </a:solidFill>
              <a:latin typeface="游ゴシック"/>
              <a:ea typeface="游ゴシック"/>
            </a:endParaRPr>
          </a:p>
        </p:txBody>
      </p:sp>
      <p:sp>
        <p:nvSpPr>
          <p:cNvPr id="30" name="TextBox 2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3" name="TextBox 9">
            <a:extLst>
              <a:ext uri="{FF2B5EF4-FFF2-40B4-BE49-F238E27FC236}">
                <a16:creationId xmlns:a16="http://schemas.microsoft.com/office/drawing/2014/main" id="{1D765C1C-16FB-30F5-3A23-7EE72FEFC77D}"/>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ja-JP" altLang="en-US" sz="850">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4" name="TextBox 20">
            <a:extLst>
              <a:ext uri="{FF2B5EF4-FFF2-40B4-BE49-F238E27FC236}">
                <a16:creationId xmlns:a16="http://schemas.microsoft.com/office/drawing/2014/main" id="{DD8CAB61-10CE-E98B-FE8B-87EAA7B597DB}"/>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36" name="TextBox 23">
            <a:extLst>
              <a:ext uri="{FF2B5EF4-FFF2-40B4-BE49-F238E27FC236}">
                <a16:creationId xmlns:a16="http://schemas.microsoft.com/office/drawing/2014/main" id="{9560F5F0-8609-DFEB-90C4-F1FBD0261166}"/>
              </a:ext>
            </a:extLst>
          </p:cNvPr>
          <p:cNvSpPr txBox="1"/>
          <p:nvPr/>
        </p:nvSpPr>
        <p:spPr>
          <a:xfrm>
            <a:off x="4174617" y="8202168"/>
            <a:ext cx="2665857" cy="344774"/>
          </a:xfrm>
          <a:prstGeom prst="rect">
            <a:avLst/>
          </a:prstGeom>
          <a:noFill/>
        </p:spPr>
        <p:txBody>
          <a:bodyPr wrap="square" lIns="0" tIns="0" rIns="0" bIns="0" anchor="t">
            <a:spAutoFit/>
          </a:bodyPr>
          <a:lstStyle/>
          <a:p>
            <a:pPr>
              <a:lnSpc>
                <a:spcPct val="112000"/>
              </a:lnSpc>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1</a:t>
            </a:r>
            <a:r>
              <a:rPr lang="en-US" altLang="ja-JP" sz="2100" b="1" dirty="0">
                <a:solidFill>
                  <a:srgbClr val="3A3326"/>
                </a:solidFill>
                <a:latin typeface="游明朝"/>
                <a:ea typeface="游明朝"/>
              </a:rPr>
              <a:t>,</a:t>
            </a:r>
            <a:r>
              <a:rPr lang="en-US" sz="2100" b="1" dirty="0">
                <a:solidFill>
                  <a:srgbClr val="3A3326"/>
                </a:solidFill>
                <a:latin typeface="游明朝"/>
                <a:ea typeface="游明朝"/>
              </a:rPr>
              <a:t>300</a:t>
            </a:r>
            <a:r>
              <a:rPr sz="2100" b="1" dirty="0">
                <a:solidFill>
                  <a:srgbClr val="3A3326"/>
                </a:solidFill>
                <a:latin typeface="游明朝"/>
                <a:ea typeface="游明朝"/>
              </a:rPr>
              <a:t>,000〜</a:t>
            </a:r>
          </a:p>
        </p:txBody>
      </p:sp>
      <p:sp>
        <p:nvSpPr>
          <p:cNvPr id="37" name="TextBox 24">
            <a:extLst>
              <a:ext uri="{FF2B5EF4-FFF2-40B4-BE49-F238E27FC236}">
                <a16:creationId xmlns:a16="http://schemas.microsoft.com/office/drawing/2014/main" id="{96BB4135-001C-E8EB-84E1-E8F5F43BDAC1}"/>
              </a:ext>
            </a:extLst>
          </p:cNvPr>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21</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38" name="TextBox 25">
            <a:extLst>
              <a:ext uri="{FF2B5EF4-FFF2-40B4-BE49-F238E27FC236}">
                <a16:creationId xmlns:a16="http://schemas.microsoft.com/office/drawing/2014/main" id="{DF90611A-60DB-FE76-B5CC-BC1A667A6AB9}"/>
              </a:ext>
            </a:extLst>
          </p:cNvPr>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2" name="Picture Placeholder 1"/>
          <p:cNvSpPr>
            <a:spLocks noGrp="1"/>
          </p:cNvSpPr>
          <p:nvPr>
            <p:ph type="pic" idx="10"/>
          </p:nvPr>
        </p:nvSpPr>
        <p:spPr/>
        <p:txBody>
          <a:bodyPr/>
          <a:p/>
        </p:txBody>
      </p:sp>
      <p:sp>
        <p:nvSpPr>
          <p:cNvPr id="3" name="Picture Placeholder 2"/>
          <p:cNvSpPr>
            <a:spLocks noGrp="1"/>
          </p:cNvSpPr>
          <p:nvPr>
            <p:ph type="pic" idx="11"/>
          </p:nvPr>
        </p:nvSpPr>
        <p:spPr/>
        <p:txBody>
          <a:bodyPr/>
          <a:p/>
        </p:txBody>
      </p:sp>
      <p:sp>
        <p:nvSpPr>
          <p:cNvPr id="4" name="Picture Placeholder 3"/>
          <p:cNvSpPr>
            <a:spLocks noGrp="1"/>
          </p:cNvSpPr>
          <p:nvPr>
            <p:ph type="pic" idx="12"/>
          </p:nvPr>
        </p:nvSpPr>
        <p:spPr/>
        <p:txBody>
          <a:bodyPr/>
          <a:p/>
        </p:txBody>
      </p:sp>
      <p:sp>
        <p:nvSpPr>
          <p:cNvPr id="5" name="Picture Placeholder 4"/>
          <p:cNvSpPr>
            <a:spLocks noGrp="1"/>
          </p:cNvSpPr>
          <p:nvPr>
            <p:ph type="pic" idx="13"/>
          </p:nvPr>
        </p:nvSpPr>
        <p:spPr/>
        <p:txBody>
          <a:bodyPr/>
          <a:p/>
        </p:txBody>
      </p:sp>
      <p:sp>
        <p:nvSpPr>
          <p:cNvPr id="6" name="Picture Placeholder 5"/>
          <p:cNvSpPr>
            <a:spLocks noGrp="1"/>
          </p:cNvSpPr>
          <p:nvPr>
            <p:ph type="pic" idx="14"/>
          </p:nvPr>
        </p:nvSpPr>
        <p:spPr/>
        <p:txBody>
          <a:bodyPr/>
          <a:p/>
        </p:txBody>
      </p:sp>
      <p:sp>
        <p:nvSpPr>
          <p:cNvPr id="7" name="Picture Placeholder 6"/>
          <p:cNvSpPr>
            <a:spLocks noGrp="1"/>
          </p:cNvSpPr>
          <p:nvPr>
            <p:ph type="pic" idx="15"/>
          </p:nvPr>
        </p:nvSpPr>
        <p:spPr/>
        <p:txBody>
          <a:bodyPr/>
          <a:p/>
        </p:txBody>
      </p:sp>
      <p:sp>
        <p:nvSpPr>
          <p:cNvPr id="8" name="Picture Placeholder 7"/>
          <p:cNvSpPr>
            <a:spLocks noGrp="1"/>
          </p:cNvSpPr>
          <p:nvPr>
            <p:ph type="pic" idx="16"/>
          </p:nvPr>
        </p:nvSpPr>
        <p:spPr/>
        <p:txBody>
          <a:bodyPr/>
          <a:p/>
        </p:txBody>
      </p:sp>
      <p:sp>
        <p:nvSpPr>
          <p:cNvPr id="9" name="Picture Placeholder 8"/>
          <p:cNvSpPr>
            <a:spLocks noGrp="1"/>
          </p:cNvSpPr>
          <p:nvPr>
            <p:ph type="pic" idx="20"/>
          </p:nvPr>
        </p:nvSpPr>
        <p:spPr/>
        <p:txBody>
          <a:bodyPr/>
          <a:p/>
        </p:txBody>
      </p:sp>
      <p:sp>
        <p:nvSpPr>
          <p:cNvPr id="10" name="Picture Placeholder 9"/>
          <p:cNvSpPr>
            <a:spLocks noGrp="1"/>
          </p:cNvSpPr>
          <p:nvPr>
            <p:ph type="pic" idx="21"/>
          </p:nvPr>
        </p:nvSpPr>
        <p:spPr/>
        <p:txBody>
          <a:bodyPr/>
          <a:p/>
        </p:txBody>
      </p:sp>
      <p:sp>
        <p:nvSpPr>
          <p:cNvPr id="11" name="Picture Placeholder 10"/>
          <p:cNvSpPr>
            <a:spLocks noGrp="1"/>
          </p:cNvSpPr>
          <p:nvPr>
            <p:ph type="pic" idx="22"/>
          </p:nvPr>
        </p:nvSpPr>
        <p:spPr/>
        <p:txBody>
          <a:bodyPr/>
          <a:p/>
        </p:txBody>
      </p:sp>
      <p:sp>
        <p:nvSpPr>
          <p:cNvPr id="12" name="TextBox 11"/>
          <p:cNvSpPr txBox="1"/>
          <p:nvPr/>
        </p:nvSpPr>
        <p:spPr>
          <a:xfrm>
            <a:off x="566928" y="457200"/>
            <a:ext cx="6428994" cy="201168"/>
          </a:xfrm>
          <a:prstGeom prst="rect">
            <a:avLst/>
          </a:prstGeom>
          <a:noFill/>
        </p:spPr>
        <p:txBody>
          <a:bodyPr wrap="square" anchor="t" lIns="0" rIns="0" tIns="0" bIns="0">
            <a:spAutoFit/>
          </a:bodyPr>
          <a:lstStyle/>
          <a:p>
            <a:pPr algn="l">
              <a:lnSpc>
                <a:spcPct val="110000"/>
              </a:lnSpc>
              <a:spcBef>
                <a:spcPts val="0"/>
              </a:spcBef>
              <a:spcAft>
                <a:spcPts val="0"/>
              </a:spcAft>
            </a:pPr>
            <a:r>
              <a:rPr sz="950" b="1">
                <a:solidFill>
                  <a:srgbClr val="B0934E"/>
                </a:solidFill>
                <a:latin typeface="游ゴシック"/>
                <a:ea typeface="游ゴシック"/>
              </a:rPr>
              <a:t>DOWNTIME CALENDAR</a:t>
            </a:r>
          </a:p>
        </p:txBody>
      </p:sp>
      <p:sp>
        <p:nvSpPr>
          <p:cNvPr id="13" name="TextBox 12"/>
          <p:cNvSpPr txBox="1"/>
          <p:nvPr/>
        </p:nvSpPr>
        <p:spPr>
          <a:xfrm>
            <a:off x="566928" y="658368"/>
            <a:ext cx="5697474" cy="640080"/>
          </a:xfrm>
          <a:prstGeom prst="rect">
            <a:avLst/>
          </a:prstGeom>
          <a:noFill/>
        </p:spPr>
        <p:txBody>
          <a:bodyPr wrap="square" anchor="t" lIns="0" rIns="0" tIns="0" bIns="0">
            <a:spAutoFit/>
          </a:bodyPr>
          <a:lstStyle/>
          <a:p>
            <a:pPr algn="l">
              <a:lnSpc>
                <a:spcPct val="110000"/>
              </a:lnSpc>
              <a:spcBef>
                <a:spcPts val="0"/>
              </a:spcBef>
              <a:spcAft>
                <a:spcPts val="0"/>
              </a:spcAft>
            </a:pPr>
            <a:r>
              <a:rPr sz="2600" b="1">
                <a:solidFill>
                  <a:srgbClr val="3A3326"/>
                </a:solidFill>
                <a:latin typeface="游明朝"/>
                <a:ea typeface="游明朝"/>
              </a:rPr>
              <a:t>ダウンタイム・カレンダー</a:t>
            </a:r>
          </a:p>
        </p:txBody>
      </p:sp>
      <p:sp>
        <p:nvSpPr>
          <p:cNvPr id="14" name="TextBox 13"/>
          <p:cNvSpPr txBox="1"/>
          <p:nvPr/>
        </p:nvSpPr>
        <p:spPr>
          <a:xfrm>
            <a:off x="6355842" y="457200"/>
            <a:ext cx="640080" cy="274320"/>
          </a:xfrm>
          <a:prstGeom prst="rect">
            <a:avLst/>
          </a:prstGeom>
          <a:noFill/>
        </p:spPr>
        <p:txBody>
          <a:bodyPr wrap="square" anchor="t" lIns="0" rIns="0" tIns="0" bIns="0">
            <a:spAutoFit/>
          </a:bodyPr>
          <a:lstStyle/>
          <a:p>
            <a:pPr algn="r">
              <a:lnSpc>
                <a:spcPct val="110000"/>
              </a:lnSpc>
              <a:spcBef>
                <a:spcPts val="0"/>
              </a:spcBef>
              <a:spcAft>
                <a:spcPts val="0"/>
              </a:spcAft>
            </a:pPr>
            <a:r>
              <a:rPr sz="1100" b="0">
                <a:solidFill>
                  <a:srgbClr val="B0934E"/>
                </a:solidFill>
                <a:latin typeface="游明朝"/>
                <a:ea typeface="游明朝"/>
              </a:rPr>
              <a:t>23</a:t>
            </a:r>
          </a:p>
        </p:txBody>
      </p:sp>
      <p:sp>
        <p:nvSpPr>
          <p:cNvPr id="15" name="Rectangle 14"/>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1463040"/>
            <a:ext cx="6428994" cy="365760"/>
          </a:xfrm>
          <a:prstGeom prst="rect">
            <a:avLst/>
          </a:prstGeom>
          <a:noFill/>
        </p:spPr>
        <p:txBody>
          <a:bodyPr wrap="square" anchor="t" lIns="0" rIns="0" tIns="0" bIns="0">
            <a:spAutoFit/>
          </a:bodyPr>
          <a:lstStyle/>
          <a:p>
            <a:pPr algn="l">
              <a:lnSpc>
                <a:spcPct val="125000"/>
              </a:lnSpc>
              <a:spcBef>
                <a:spcPts val="0"/>
              </a:spcBef>
              <a:spcAft>
                <a:spcPts val="0"/>
              </a:spcAft>
            </a:pPr>
            <a:r>
              <a:rPr sz="1050" b="0">
                <a:solidFill>
                  <a:srgbClr val="3A3326"/>
                </a:solidFill>
                <a:latin typeface="游ゴシック"/>
                <a:ea typeface="游ゴシック"/>
              </a:rPr>
              <a:t>術後1週間は毎日の経過、以降は節目ごとに実際のお写真を。1週間後にギプス外し・抜糸です。各枠クリックで写真挿入。</a:t>
            </a:r>
          </a:p>
        </p:txBody>
      </p:sp>
      <p:sp>
        <p:nvSpPr>
          <p:cNvPr id="17" name="TextBox 16"/>
          <p:cNvSpPr txBox="1"/>
          <p:nvPr/>
        </p:nvSpPr>
        <p:spPr>
          <a:xfrm>
            <a:off x="566928" y="1847088"/>
            <a:ext cx="6428994" cy="219456"/>
          </a:xfrm>
          <a:prstGeom prst="rect">
            <a:avLst/>
          </a:prstGeom>
          <a:noFill/>
        </p:spPr>
        <p:txBody>
          <a:bodyPr wrap="square" anchor="t" lIns="0" rIns="0" tIns="0" bIns="0">
            <a:spAutoFit/>
          </a:bodyPr>
          <a:lstStyle/>
          <a:p>
            <a:pPr algn="l">
              <a:lnSpc>
                <a:spcPct val="110000"/>
              </a:lnSpc>
              <a:spcBef>
                <a:spcPts val="0"/>
              </a:spcBef>
              <a:spcAft>
                <a:spcPts val="0"/>
              </a:spcAft>
            </a:pPr>
            <a:r>
              <a:rPr sz="1250" b="1">
                <a:solidFill>
                  <a:srgbClr val="8C7339"/>
                </a:solidFill>
                <a:latin typeface="游明朝"/>
                <a:ea typeface="游明朝"/>
              </a:rPr>
              <a:t>1週目（毎日の経過）</a:t>
            </a:r>
          </a:p>
        </p:txBody>
      </p:sp>
      <p:sp>
        <p:nvSpPr>
          <p:cNvPr id="18" name="Rounded Rectangle 17"/>
          <p:cNvSpPr/>
          <p:nvPr/>
        </p:nvSpPr>
        <p:spPr>
          <a:xfrm>
            <a:off x="566928" y="2084831"/>
            <a:ext cx="840050" cy="292608"/>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2084831"/>
            <a:ext cx="840050" cy="292608"/>
          </a:xfrm>
          <a:prstGeom prst="rect">
            <a:avLst/>
          </a:prstGeom>
          <a:noFill/>
        </p:spPr>
        <p:txBody>
          <a:bodyPr wrap="square" anchor="ctr" lIns="0" rIns="0" tIns="0" bIns="0">
            <a:spAutoFit/>
          </a:bodyPr>
          <a:lstStyle/>
          <a:p>
            <a:pPr algn="ctr">
              <a:lnSpc>
                <a:spcPct val="100000"/>
              </a:lnSpc>
              <a:spcBef>
                <a:spcPts val="0"/>
              </a:spcBef>
              <a:spcAft>
                <a:spcPts val="0"/>
              </a:spcAft>
            </a:pPr>
            <a:r>
              <a:rPr sz="800" b="1">
                <a:solidFill>
                  <a:srgbClr val="FFFFFF"/>
                </a:solidFill>
                <a:latin typeface="游ゴシック"/>
                <a:ea typeface="游ゴシック"/>
              </a:rPr>
              <a:t>1日目</a:t>
            </a:r>
          </a:p>
          <a:p>
            <a:pPr algn="ctr">
              <a:lnSpc>
                <a:spcPct val="100000"/>
              </a:lnSpc>
              <a:spcBef>
                <a:spcPts val="0"/>
              </a:spcBef>
              <a:spcAft>
                <a:spcPts val="0"/>
              </a:spcAft>
            </a:pPr>
            <a:r>
              <a:rPr sz="620" b="0">
                <a:solidFill>
                  <a:srgbClr val="FFFFFF"/>
                </a:solidFill>
                <a:latin typeface="游ゴシック"/>
                <a:ea typeface="游ゴシック"/>
              </a:rPr>
              <a:t>手術</a:t>
            </a:r>
          </a:p>
        </p:txBody>
      </p:sp>
      <p:sp>
        <p:nvSpPr>
          <p:cNvPr id="20" name="Rounded Rectangle 19"/>
          <p:cNvSpPr/>
          <p:nvPr/>
        </p:nvSpPr>
        <p:spPr>
          <a:xfrm>
            <a:off x="1498418" y="2084831"/>
            <a:ext cx="840050" cy="292608"/>
          </a:xfrm>
          <a:prstGeom prst="roundRect">
            <a:avLst/>
          </a:prstGeom>
          <a:solidFill>
            <a:srgbClr val="F0E2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98418" y="2084831"/>
            <a:ext cx="840050" cy="292608"/>
          </a:xfrm>
          <a:prstGeom prst="rect">
            <a:avLst/>
          </a:prstGeom>
          <a:noFill/>
        </p:spPr>
        <p:txBody>
          <a:bodyPr wrap="square" anchor="ctr" lIns="0" rIns="0" tIns="0" bIns="0">
            <a:spAutoFit/>
          </a:bodyPr>
          <a:lstStyle/>
          <a:p>
            <a:pPr algn="ctr">
              <a:lnSpc>
                <a:spcPct val="100000"/>
              </a:lnSpc>
              <a:spcBef>
                <a:spcPts val="0"/>
              </a:spcBef>
              <a:spcAft>
                <a:spcPts val="0"/>
              </a:spcAft>
            </a:pPr>
            <a:r>
              <a:rPr sz="800" b="1">
                <a:solidFill>
                  <a:srgbClr val="3A3326"/>
                </a:solidFill>
                <a:latin typeface="游ゴシック"/>
                <a:ea typeface="游ゴシック"/>
              </a:rPr>
              <a:t>2日目</a:t>
            </a:r>
          </a:p>
          <a:p>
            <a:pPr algn="ctr">
              <a:lnSpc>
                <a:spcPct val="100000"/>
              </a:lnSpc>
              <a:spcBef>
                <a:spcPts val="0"/>
              </a:spcBef>
              <a:spcAft>
                <a:spcPts val="0"/>
              </a:spcAft>
            </a:pPr>
            <a:r>
              <a:rPr sz="620" b="0">
                <a:solidFill>
                  <a:srgbClr val="3A3326"/>
                </a:solidFill>
                <a:latin typeface="游ゴシック"/>
                <a:ea typeface="游ゴシック"/>
              </a:rPr>
              <a:t>腫れ</a:t>
            </a:r>
          </a:p>
        </p:txBody>
      </p:sp>
      <p:sp>
        <p:nvSpPr>
          <p:cNvPr id="22" name="Rounded Rectangle 21"/>
          <p:cNvSpPr/>
          <p:nvPr/>
        </p:nvSpPr>
        <p:spPr>
          <a:xfrm>
            <a:off x="2429909" y="2084831"/>
            <a:ext cx="840050" cy="292608"/>
          </a:xfrm>
          <a:prstGeom prst="roundRect">
            <a:avLst/>
          </a:prstGeom>
          <a:solidFill>
            <a:srgbClr val="F0E2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29909" y="2084831"/>
            <a:ext cx="840050" cy="292608"/>
          </a:xfrm>
          <a:prstGeom prst="rect">
            <a:avLst/>
          </a:prstGeom>
          <a:noFill/>
        </p:spPr>
        <p:txBody>
          <a:bodyPr wrap="square" anchor="ctr" lIns="0" rIns="0" tIns="0" bIns="0">
            <a:spAutoFit/>
          </a:bodyPr>
          <a:lstStyle/>
          <a:p>
            <a:pPr algn="ctr">
              <a:lnSpc>
                <a:spcPct val="100000"/>
              </a:lnSpc>
              <a:spcBef>
                <a:spcPts val="0"/>
              </a:spcBef>
              <a:spcAft>
                <a:spcPts val="0"/>
              </a:spcAft>
            </a:pPr>
            <a:r>
              <a:rPr sz="800" b="1">
                <a:solidFill>
                  <a:srgbClr val="3A3326"/>
                </a:solidFill>
                <a:latin typeface="游ゴシック"/>
                <a:ea typeface="游ゴシック"/>
              </a:rPr>
              <a:t>3日目</a:t>
            </a:r>
          </a:p>
          <a:p>
            <a:pPr algn="ctr">
              <a:lnSpc>
                <a:spcPct val="100000"/>
              </a:lnSpc>
              <a:spcBef>
                <a:spcPts val="0"/>
              </a:spcBef>
              <a:spcAft>
                <a:spcPts val="0"/>
              </a:spcAft>
            </a:pPr>
            <a:r>
              <a:rPr sz="620" b="0">
                <a:solidFill>
                  <a:srgbClr val="3A3326"/>
                </a:solidFill>
                <a:latin typeface="游ゴシック"/>
                <a:ea typeface="游ゴシック"/>
              </a:rPr>
              <a:t>腫れ</a:t>
            </a:r>
          </a:p>
        </p:txBody>
      </p:sp>
      <p:sp>
        <p:nvSpPr>
          <p:cNvPr id="24" name="Rounded Rectangle 23"/>
          <p:cNvSpPr/>
          <p:nvPr/>
        </p:nvSpPr>
        <p:spPr>
          <a:xfrm>
            <a:off x="3361399" y="2084831"/>
            <a:ext cx="840050" cy="292608"/>
          </a:xfrm>
          <a:prstGeom prst="roundRect">
            <a:avLst/>
          </a:prstGeom>
          <a:solidFill>
            <a:srgbClr val="FDFB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61399" y="2084831"/>
            <a:ext cx="840050" cy="292608"/>
          </a:xfrm>
          <a:prstGeom prst="rect">
            <a:avLst/>
          </a:prstGeom>
          <a:noFill/>
        </p:spPr>
        <p:txBody>
          <a:bodyPr wrap="square" anchor="ctr" lIns="0" rIns="0" tIns="0" bIns="0">
            <a:spAutoFit/>
          </a:bodyPr>
          <a:lstStyle/>
          <a:p>
            <a:pPr algn="ctr">
              <a:lnSpc>
                <a:spcPct val="110000"/>
              </a:lnSpc>
              <a:spcBef>
                <a:spcPts val="0"/>
              </a:spcBef>
              <a:spcAft>
                <a:spcPts val="0"/>
              </a:spcAft>
            </a:pPr>
            <a:r>
              <a:rPr sz="900" b="1">
                <a:solidFill>
                  <a:srgbClr val="3A3326"/>
                </a:solidFill>
                <a:latin typeface="游ゴシック"/>
                <a:ea typeface="游ゴシック"/>
              </a:rPr>
              <a:t>4日目</a:t>
            </a:r>
          </a:p>
        </p:txBody>
      </p:sp>
      <p:sp>
        <p:nvSpPr>
          <p:cNvPr id="26" name="Rounded Rectangle 25"/>
          <p:cNvSpPr/>
          <p:nvPr/>
        </p:nvSpPr>
        <p:spPr>
          <a:xfrm>
            <a:off x="4292890" y="2084831"/>
            <a:ext cx="840050" cy="292608"/>
          </a:xfrm>
          <a:prstGeom prst="roundRect">
            <a:avLst/>
          </a:prstGeom>
          <a:solidFill>
            <a:srgbClr val="FDFB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92890" y="2084831"/>
            <a:ext cx="840050" cy="292608"/>
          </a:xfrm>
          <a:prstGeom prst="rect">
            <a:avLst/>
          </a:prstGeom>
          <a:noFill/>
        </p:spPr>
        <p:txBody>
          <a:bodyPr wrap="square" anchor="ctr" lIns="0" rIns="0" tIns="0" bIns="0">
            <a:spAutoFit/>
          </a:bodyPr>
          <a:lstStyle/>
          <a:p>
            <a:pPr algn="ctr">
              <a:lnSpc>
                <a:spcPct val="110000"/>
              </a:lnSpc>
              <a:spcBef>
                <a:spcPts val="0"/>
              </a:spcBef>
              <a:spcAft>
                <a:spcPts val="0"/>
              </a:spcAft>
            </a:pPr>
            <a:r>
              <a:rPr sz="900" b="1">
                <a:solidFill>
                  <a:srgbClr val="3A3326"/>
                </a:solidFill>
                <a:latin typeface="游ゴシック"/>
                <a:ea typeface="游ゴシック"/>
              </a:rPr>
              <a:t>5日目</a:t>
            </a:r>
          </a:p>
        </p:txBody>
      </p:sp>
      <p:sp>
        <p:nvSpPr>
          <p:cNvPr id="28" name="Rounded Rectangle 27"/>
          <p:cNvSpPr/>
          <p:nvPr/>
        </p:nvSpPr>
        <p:spPr>
          <a:xfrm>
            <a:off x="5224380" y="2084831"/>
            <a:ext cx="840050" cy="292608"/>
          </a:xfrm>
          <a:prstGeom prst="roundRect">
            <a:avLst/>
          </a:prstGeom>
          <a:solidFill>
            <a:srgbClr val="FDFB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24380" y="2084831"/>
            <a:ext cx="840050" cy="292608"/>
          </a:xfrm>
          <a:prstGeom prst="rect">
            <a:avLst/>
          </a:prstGeom>
          <a:noFill/>
        </p:spPr>
        <p:txBody>
          <a:bodyPr wrap="square" anchor="ctr" lIns="0" rIns="0" tIns="0" bIns="0">
            <a:spAutoFit/>
          </a:bodyPr>
          <a:lstStyle/>
          <a:p>
            <a:pPr algn="ctr">
              <a:lnSpc>
                <a:spcPct val="110000"/>
              </a:lnSpc>
              <a:spcBef>
                <a:spcPts val="0"/>
              </a:spcBef>
              <a:spcAft>
                <a:spcPts val="0"/>
              </a:spcAft>
            </a:pPr>
            <a:r>
              <a:rPr sz="900" b="1">
                <a:solidFill>
                  <a:srgbClr val="3A3326"/>
                </a:solidFill>
                <a:latin typeface="游ゴシック"/>
                <a:ea typeface="游ゴシック"/>
              </a:rPr>
              <a:t>6日目</a:t>
            </a:r>
          </a:p>
        </p:txBody>
      </p:sp>
      <p:sp>
        <p:nvSpPr>
          <p:cNvPr id="30" name="Rounded Rectangle 29"/>
          <p:cNvSpPr/>
          <p:nvPr/>
        </p:nvSpPr>
        <p:spPr>
          <a:xfrm>
            <a:off x="6155871" y="2084831"/>
            <a:ext cx="840050" cy="292608"/>
          </a:xfrm>
          <a:prstGeom prst="roundRect">
            <a:avLst/>
          </a:prstGeom>
          <a:solidFill>
            <a:srgbClr val="8C7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55871" y="2084831"/>
            <a:ext cx="840050" cy="292608"/>
          </a:xfrm>
          <a:prstGeom prst="rect">
            <a:avLst/>
          </a:prstGeom>
          <a:noFill/>
        </p:spPr>
        <p:txBody>
          <a:bodyPr wrap="square" anchor="ctr" lIns="0" rIns="0" tIns="0" bIns="0">
            <a:spAutoFit/>
          </a:bodyPr>
          <a:lstStyle/>
          <a:p>
            <a:pPr algn="ctr">
              <a:lnSpc>
                <a:spcPct val="100000"/>
              </a:lnSpc>
              <a:spcBef>
                <a:spcPts val="0"/>
              </a:spcBef>
              <a:spcAft>
                <a:spcPts val="0"/>
              </a:spcAft>
            </a:pPr>
            <a:r>
              <a:rPr sz="800" b="1">
                <a:solidFill>
                  <a:srgbClr val="FFFFFF"/>
                </a:solidFill>
                <a:latin typeface="游ゴシック"/>
                <a:ea typeface="游ゴシック"/>
              </a:rPr>
              <a:t>7日目</a:t>
            </a:r>
          </a:p>
          <a:p>
            <a:pPr algn="ctr">
              <a:lnSpc>
                <a:spcPct val="100000"/>
              </a:lnSpc>
              <a:spcBef>
                <a:spcPts val="0"/>
              </a:spcBef>
              <a:spcAft>
                <a:spcPts val="0"/>
              </a:spcAft>
            </a:pPr>
            <a:r>
              <a:rPr sz="620" b="0">
                <a:solidFill>
                  <a:srgbClr val="FFFFFF"/>
                </a:solidFill>
                <a:latin typeface="游ゴシック"/>
                <a:ea typeface="游ゴシック"/>
              </a:rPr>
              <a:t>ギプスオフ・抜糸</a:t>
            </a:r>
          </a:p>
        </p:txBody>
      </p:sp>
      <p:sp>
        <p:nvSpPr>
          <p:cNvPr id="32" name="TextBox 31"/>
          <p:cNvSpPr txBox="1"/>
          <p:nvPr/>
        </p:nvSpPr>
        <p:spPr>
          <a:xfrm>
            <a:off x="566928" y="3611880"/>
            <a:ext cx="6428994" cy="219456"/>
          </a:xfrm>
          <a:prstGeom prst="rect">
            <a:avLst/>
          </a:prstGeom>
          <a:noFill/>
        </p:spPr>
        <p:txBody>
          <a:bodyPr wrap="square" anchor="t" lIns="0" rIns="0" tIns="0" bIns="0">
            <a:spAutoFit/>
          </a:bodyPr>
          <a:lstStyle/>
          <a:p>
            <a:pPr algn="l">
              <a:lnSpc>
                <a:spcPct val="110000"/>
              </a:lnSpc>
              <a:spcBef>
                <a:spcPts val="0"/>
              </a:spcBef>
              <a:spcAft>
                <a:spcPts val="0"/>
              </a:spcAft>
            </a:pPr>
            <a:r>
              <a:rPr sz="1250" b="1">
                <a:solidFill>
                  <a:srgbClr val="8C7339"/>
                </a:solidFill>
                <a:latin typeface="游明朝"/>
                <a:ea typeface="游明朝"/>
              </a:rPr>
              <a:t>その後の経過（節目）</a:t>
            </a:r>
          </a:p>
        </p:txBody>
      </p:sp>
      <p:sp>
        <p:nvSpPr>
          <p:cNvPr id="33" name="TextBox 32"/>
          <p:cNvSpPr txBox="1"/>
          <p:nvPr/>
        </p:nvSpPr>
        <p:spPr>
          <a:xfrm>
            <a:off x="566928" y="3822191"/>
            <a:ext cx="1929638" cy="274320"/>
          </a:xfrm>
          <a:prstGeom prst="rect">
            <a:avLst/>
          </a:prstGeom>
          <a:noFill/>
        </p:spPr>
        <p:txBody>
          <a:bodyPr wrap="square" anchor="ctr" lIns="0" rIns="0" tIns="0" bIns="0">
            <a:spAutoFit/>
          </a:bodyPr>
          <a:lstStyle/>
          <a:p>
            <a:pPr algn="l">
              <a:lnSpc>
                <a:spcPct val="110000"/>
              </a:lnSpc>
              <a:spcBef>
                <a:spcPts val="0"/>
              </a:spcBef>
              <a:spcAft>
                <a:spcPts val="0"/>
              </a:spcAft>
            </a:pPr>
            <a:r>
              <a:rPr sz="1100" b="1">
                <a:solidFill>
                  <a:srgbClr val="8C7339"/>
                </a:solidFill>
                <a:latin typeface="游明朝"/>
                <a:ea typeface="游明朝"/>
              </a:rPr>
              <a:t>2週間後　</a:t>
            </a:r>
            <a:r>
              <a:rPr sz="850" b="0">
                <a:solidFill>
                  <a:srgbClr val="7A7060"/>
                </a:solidFill>
                <a:latin typeface="游ゴシック"/>
                <a:ea typeface="游ゴシック"/>
              </a:rPr>
              <a:t>マスクで自然・仕事復帰</a:t>
            </a:r>
          </a:p>
        </p:txBody>
      </p:sp>
      <p:sp>
        <p:nvSpPr>
          <p:cNvPr id="34" name="TextBox 33"/>
          <p:cNvSpPr txBox="1"/>
          <p:nvPr/>
        </p:nvSpPr>
        <p:spPr>
          <a:xfrm>
            <a:off x="2816606" y="3822191"/>
            <a:ext cx="1929638" cy="274320"/>
          </a:xfrm>
          <a:prstGeom prst="rect">
            <a:avLst/>
          </a:prstGeom>
          <a:noFill/>
        </p:spPr>
        <p:txBody>
          <a:bodyPr wrap="square" anchor="ctr" lIns="0" rIns="0" tIns="0" bIns="0">
            <a:spAutoFit/>
          </a:bodyPr>
          <a:lstStyle/>
          <a:p>
            <a:pPr algn="l">
              <a:lnSpc>
                <a:spcPct val="110000"/>
              </a:lnSpc>
              <a:spcBef>
                <a:spcPts val="0"/>
              </a:spcBef>
              <a:spcAft>
                <a:spcPts val="0"/>
              </a:spcAft>
            </a:pPr>
            <a:r>
              <a:rPr sz="1100" b="1">
                <a:solidFill>
                  <a:srgbClr val="8C7339"/>
                </a:solidFill>
                <a:latin typeface="游明朝"/>
                <a:ea typeface="游明朝"/>
              </a:rPr>
              <a:t>3週間後　</a:t>
            </a:r>
            <a:r>
              <a:rPr sz="850" b="0">
                <a:solidFill>
                  <a:srgbClr val="7A7060"/>
                </a:solidFill>
                <a:latin typeface="游ゴシック"/>
                <a:ea typeface="游ゴシック"/>
              </a:rPr>
              <a:t>運動再開の目安</a:t>
            </a:r>
          </a:p>
        </p:txBody>
      </p:sp>
      <p:sp>
        <p:nvSpPr>
          <p:cNvPr id="35" name="TextBox 34"/>
          <p:cNvSpPr txBox="1"/>
          <p:nvPr/>
        </p:nvSpPr>
        <p:spPr>
          <a:xfrm>
            <a:off x="5066284" y="3822191"/>
            <a:ext cx="1929638" cy="274320"/>
          </a:xfrm>
          <a:prstGeom prst="rect">
            <a:avLst/>
          </a:prstGeom>
          <a:noFill/>
        </p:spPr>
        <p:txBody>
          <a:bodyPr wrap="square" anchor="ctr" lIns="0" rIns="0" tIns="0" bIns="0">
            <a:spAutoFit/>
          </a:bodyPr>
          <a:lstStyle/>
          <a:p>
            <a:pPr algn="l">
              <a:lnSpc>
                <a:spcPct val="110000"/>
              </a:lnSpc>
              <a:spcBef>
                <a:spcPts val="0"/>
              </a:spcBef>
              <a:spcAft>
                <a:spcPts val="0"/>
              </a:spcAft>
            </a:pPr>
            <a:r>
              <a:rPr sz="1100" b="1">
                <a:solidFill>
                  <a:srgbClr val="8C7339"/>
                </a:solidFill>
                <a:latin typeface="游明朝"/>
                <a:ea typeface="游明朝"/>
              </a:rPr>
              <a:t>1ヶ月後　</a:t>
            </a:r>
            <a:r>
              <a:rPr sz="850" b="0">
                <a:solidFill>
                  <a:srgbClr val="7A7060"/>
                </a:solidFill>
                <a:latin typeface="游ゴシック"/>
                <a:ea typeface="游ゴシック"/>
              </a:rPr>
              <a:t>腫れの大半が引く</a:t>
            </a:r>
          </a:p>
        </p:txBody>
      </p:sp>
      <p:sp>
        <p:nvSpPr>
          <p:cNvPr id="36" name="TextBox 35"/>
          <p:cNvSpPr txBox="1"/>
          <p:nvPr/>
        </p:nvSpPr>
        <p:spPr>
          <a:xfrm>
            <a:off x="566928" y="5669280"/>
            <a:ext cx="6428994" cy="274320"/>
          </a:xfrm>
          <a:prstGeom prst="rect">
            <a:avLst/>
          </a:prstGeom>
          <a:noFill/>
        </p:spPr>
        <p:txBody>
          <a:bodyPr wrap="square" anchor="t" lIns="0" rIns="0" tIns="0" bIns="0">
            <a:spAutoFit/>
          </a:bodyPr>
          <a:lstStyle/>
          <a:p>
            <a:pPr algn="l">
              <a:lnSpc>
                <a:spcPct val="110000"/>
              </a:lnSpc>
              <a:spcBef>
                <a:spcPts val="0"/>
              </a:spcBef>
              <a:spcAft>
                <a:spcPts val="0"/>
              </a:spcAft>
            </a:pPr>
            <a:r>
              <a:rPr sz="1250" b="1">
                <a:solidFill>
                  <a:srgbClr val="8C7339"/>
                </a:solidFill>
                <a:latin typeface="游明朝"/>
                <a:ea typeface="游明朝"/>
              </a:rPr>
              <a:t>▼ あなたの予定から逆算 ― 手術はいつまでに？</a:t>
            </a:r>
          </a:p>
        </p:txBody>
      </p:sp>
      <p:graphicFrame>
        <p:nvGraphicFramePr>
          <p:cNvPr id="37" name="Table 36"/>
          <p:cNvGraphicFramePr>
            <a:graphicFrameLocks noGrp="1"/>
          </p:cNvGraphicFramePr>
          <p:nvPr/>
        </p:nvGraphicFramePr>
        <p:xfrm>
          <a:off x="566928" y="6016752"/>
          <a:ext cx="6428993" cy="1783080"/>
        </p:xfrm>
        <a:graphic>
          <a:graphicData uri="http://schemas.openxmlformats.org/drawingml/2006/table">
            <a:tbl>
              <a:tblPr firstRow="1" bandRow="1">
                <a:tableStyleId>{5C22544A-7EE6-4342-B048-85BDC9FD1C3A}</a:tableStyleId>
              </a:tblPr>
              <a:tblGrid>
                <a:gridCol w="4114556"/>
                <a:gridCol w="2314437"/>
              </a:tblGrid>
              <a:tr h="297180">
                <a:tc>
                  <a:txBody>
                    <a:bodyPr wrap="square"/>
                    <a:lstStyle/>
                    <a:p>
                      <a:pPr algn="l"/>
                      <a:r>
                        <a:rPr sz="1100" b="1">
                          <a:solidFill>
                            <a:srgbClr val="FFFFFF"/>
                          </a:solidFill>
                          <a:latin typeface="游明朝"/>
                          <a:ea typeface="游明朝"/>
                        </a:rPr>
                        <a:t>こんなご予定に</a:t>
                      </a:r>
                    </a:p>
                  </a:txBody>
                  <a:tcPr anchor="ctr" marL="80000" marR="50000" marT="8000" marB="8000">
                    <a:solidFill>
                      <a:srgbClr val="B0934E"/>
                    </a:solidFill>
                  </a:tcPr>
                </a:tc>
                <a:tc>
                  <a:txBody>
                    <a:bodyPr wrap="square"/>
                    <a:lstStyle/>
                    <a:p>
                      <a:pPr algn="ctr"/>
                      <a:r>
                        <a:rPr sz="1100" b="1">
                          <a:solidFill>
                            <a:srgbClr val="FFFFFF"/>
                          </a:solidFill>
                          <a:latin typeface="游明朝"/>
                          <a:ea typeface="游明朝"/>
                        </a:rPr>
                        <a:t>手術はいつまでに</a:t>
                      </a:r>
                    </a:p>
                  </a:txBody>
                  <a:tcPr anchor="ctr" marL="80000" marR="50000" marT="8000" marB="8000">
                    <a:solidFill>
                      <a:srgbClr val="B0934E"/>
                    </a:solidFill>
                  </a:tcPr>
                </a:tc>
              </a:tr>
              <a:tr h="297180">
                <a:tc>
                  <a:txBody>
                    <a:bodyPr wrap="square"/>
                    <a:lstStyle/>
                    <a:p>
                      <a:pPr algn="l"/>
                      <a:r>
                        <a:rPr sz="1050" b="0">
                          <a:solidFill>
                            <a:srgbClr val="3A3326"/>
                          </a:solidFill>
                          <a:latin typeface="游ゴシック"/>
                          <a:ea typeface="游ゴシック"/>
                        </a:rPr>
                        <a:t>仕事・学校への復帰（マスクでOK）</a:t>
                      </a:r>
                    </a:p>
                  </a:txBody>
                  <a:tcPr anchor="ctr" marL="80000" marR="50000" marT="8000" marB="8000">
                    <a:solidFill>
                      <a:srgbClr val="FDFBF6"/>
                    </a:solidFill>
                  </a:tcPr>
                </a:tc>
                <a:tc>
                  <a:txBody>
                    <a:bodyPr wrap="square"/>
                    <a:lstStyle/>
                    <a:p>
                      <a:pPr algn="ctr"/>
                      <a:r>
                        <a:rPr sz="1200" b="1">
                          <a:solidFill>
                            <a:srgbClr val="3A3326"/>
                          </a:solidFill>
                          <a:latin typeface="游明朝"/>
                          <a:ea typeface="游明朝"/>
                        </a:rPr>
                        <a:t>約1〜2週間前</a:t>
                      </a:r>
                    </a:p>
                  </a:txBody>
                  <a:tcPr anchor="ctr" marL="80000" marR="50000" marT="8000" marB="8000">
                    <a:solidFill>
                      <a:srgbClr val="FDFBF6"/>
                    </a:solidFill>
                  </a:tcPr>
                </a:tc>
              </a:tr>
              <a:tr h="297180">
                <a:tc>
                  <a:txBody>
                    <a:bodyPr wrap="square"/>
                    <a:lstStyle/>
                    <a:p>
                      <a:pPr algn="l"/>
                      <a:r>
                        <a:rPr sz="1050" b="0">
                          <a:solidFill>
                            <a:srgbClr val="3A3326"/>
                          </a:solidFill>
                          <a:latin typeface="游ゴシック"/>
                          <a:ea typeface="游ゴシック"/>
                        </a:rPr>
                        <a:t>旅行・デート・帰省</a:t>
                      </a:r>
                    </a:p>
                  </a:txBody>
                  <a:tcPr anchor="ctr" marL="80000" marR="50000" marT="8000" marB="8000">
                    <a:solidFill>
                      <a:srgbClr val="F3ECDD"/>
                    </a:solidFill>
                  </a:tcPr>
                </a:tc>
                <a:tc>
                  <a:txBody>
                    <a:bodyPr wrap="square"/>
                    <a:lstStyle/>
                    <a:p>
                      <a:pPr algn="ctr"/>
                      <a:r>
                        <a:rPr sz="1200" b="1">
                          <a:solidFill>
                            <a:srgbClr val="3A3326"/>
                          </a:solidFill>
                          <a:latin typeface="游明朝"/>
                          <a:ea typeface="游明朝"/>
                        </a:rPr>
                        <a:t>約3〜4週間前</a:t>
                      </a:r>
                    </a:p>
                  </a:txBody>
                  <a:tcPr anchor="ctr" marL="80000" marR="50000" marT="8000" marB="8000">
                    <a:solidFill>
                      <a:srgbClr val="F3ECDD"/>
                    </a:solidFill>
                  </a:tcPr>
                </a:tc>
              </a:tr>
              <a:tr h="297180">
                <a:tc>
                  <a:txBody>
                    <a:bodyPr wrap="square"/>
                    <a:lstStyle/>
                    <a:p>
                      <a:pPr algn="l"/>
                      <a:r>
                        <a:rPr sz="1050" b="0">
                          <a:solidFill>
                            <a:srgbClr val="3A3326"/>
                          </a:solidFill>
                          <a:latin typeface="游ゴシック"/>
                          <a:ea typeface="游ゴシック"/>
                        </a:rPr>
                        <a:t>卒業式・入学式・就活／証明写真</a:t>
                      </a:r>
                    </a:p>
                  </a:txBody>
                  <a:tcPr anchor="ctr" marL="80000" marR="50000" marT="8000" marB="8000">
                    <a:solidFill>
                      <a:srgbClr val="FDFBF6"/>
                    </a:solidFill>
                  </a:tcPr>
                </a:tc>
                <a:tc>
                  <a:txBody>
                    <a:bodyPr wrap="square"/>
                    <a:lstStyle/>
                    <a:p>
                      <a:pPr algn="ctr"/>
                      <a:r>
                        <a:rPr sz="1200" b="1">
                          <a:solidFill>
                            <a:srgbClr val="3A3326"/>
                          </a:solidFill>
                          <a:latin typeface="游明朝"/>
                          <a:ea typeface="游明朝"/>
                        </a:rPr>
                        <a:t>約1〜2ヶ月前</a:t>
                      </a:r>
                    </a:p>
                  </a:txBody>
                  <a:tcPr anchor="ctr" marL="80000" marR="50000" marT="8000" marB="8000">
                    <a:solidFill>
                      <a:srgbClr val="FDFBF6"/>
                    </a:solidFill>
                  </a:tcPr>
                </a:tc>
              </a:tr>
              <a:tr h="297180">
                <a:tc>
                  <a:txBody>
                    <a:bodyPr wrap="square"/>
                    <a:lstStyle/>
                    <a:p>
                      <a:pPr algn="l"/>
                      <a:r>
                        <a:rPr sz="1050" b="0">
                          <a:solidFill>
                            <a:srgbClr val="3A3326"/>
                          </a:solidFill>
                          <a:latin typeface="游ゴシック"/>
                          <a:ea typeface="游ゴシック"/>
                        </a:rPr>
                        <a:t>成人式・前撮り・友人の結婚式に参列</a:t>
                      </a:r>
                    </a:p>
                  </a:txBody>
                  <a:tcPr anchor="ctr" marL="80000" marR="50000" marT="8000" marB="8000">
                    <a:solidFill>
                      <a:srgbClr val="F3ECDD"/>
                    </a:solidFill>
                  </a:tcPr>
                </a:tc>
                <a:tc>
                  <a:txBody>
                    <a:bodyPr wrap="square"/>
                    <a:lstStyle/>
                    <a:p>
                      <a:pPr algn="ctr"/>
                      <a:r>
                        <a:rPr sz="1200" b="1">
                          <a:solidFill>
                            <a:srgbClr val="3A3326"/>
                          </a:solidFill>
                          <a:latin typeface="游明朝"/>
                          <a:ea typeface="游明朝"/>
                        </a:rPr>
                        <a:t>約2〜3ヶ月前</a:t>
                      </a:r>
                    </a:p>
                  </a:txBody>
                  <a:tcPr anchor="ctr" marL="80000" marR="50000" marT="8000" marB="8000">
                    <a:solidFill>
                      <a:srgbClr val="F3ECDD"/>
                    </a:solidFill>
                  </a:tcPr>
                </a:tc>
              </a:tr>
              <a:tr h="297180">
                <a:tc>
                  <a:txBody>
                    <a:bodyPr wrap="square"/>
                    <a:lstStyle/>
                    <a:p>
                      <a:pPr algn="l"/>
                      <a:r>
                        <a:rPr sz="1050" b="0">
                          <a:solidFill>
                            <a:srgbClr val="3A3326"/>
                          </a:solidFill>
                          <a:latin typeface="游ゴシック"/>
                          <a:ea typeface="游ゴシック"/>
                        </a:rPr>
                        <a:t>自分の結婚式</a:t>
                      </a:r>
                    </a:p>
                  </a:txBody>
                  <a:tcPr anchor="ctr" marL="80000" marR="50000" marT="8000" marB="8000">
                    <a:solidFill>
                      <a:srgbClr val="FDFBF6"/>
                    </a:solidFill>
                  </a:tcPr>
                </a:tc>
                <a:tc>
                  <a:txBody>
                    <a:bodyPr wrap="square"/>
                    <a:lstStyle/>
                    <a:p>
                      <a:pPr algn="ctr"/>
                      <a:r>
                        <a:rPr sz="1200" b="1">
                          <a:solidFill>
                            <a:srgbClr val="3A3326"/>
                          </a:solidFill>
                          <a:latin typeface="游明朝"/>
                          <a:ea typeface="游明朝"/>
                        </a:rPr>
                        <a:t>約3ヶ月〜半年前</a:t>
                      </a:r>
                    </a:p>
                  </a:txBody>
                  <a:tcPr anchor="ctr" marL="80000" marR="50000" marT="8000" marB="8000">
                    <a:solidFill>
                      <a:srgbClr val="FDFBF6"/>
                    </a:solidFill>
                  </a:tcPr>
                </a:tc>
              </a:tr>
            </a:tbl>
          </a:graphicData>
        </a:graphic>
      </p:graphicFrame>
      <p:sp>
        <p:nvSpPr>
          <p:cNvPr id="38" name="TextBox 37"/>
          <p:cNvSpPr txBox="1"/>
          <p:nvPr/>
        </p:nvSpPr>
        <p:spPr>
          <a:xfrm>
            <a:off x="566928" y="10011982"/>
            <a:ext cx="6428994" cy="310896"/>
          </a:xfrm>
          <a:prstGeom prst="rect">
            <a:avLst/>
          </a:prstGeom>
          <a:noFill/>
        </p:spPr>
        <p:txBody>
          <a:bodyPr wrap="square" anchor="t" lIns="0" rIns="0" tIns="0" bIns="0">
            <a:spAutoFit/>
          </a:bodyPr>
          <a:lstStyle/>
          <a:p>
            <a:pPr algn="l">
              <a:lnSpc>
                <a:spcPct val="130000"/>
              </a:lnSpc>
              <a:spcBef>
                <a:spcPts val="0"/>
              </a:spcBef>
              <a:spcAft>
                <a:spcPts val="0"/>
              </a:spcAft>
            </a:pPr>
            <a:r>
              <a:rPr sz="850" b="0">
                <a:solidFill>
                  <a:srgbClr val="7A7060"/>
                </a:solidFill>
                <a:latin typeface="游ゴシック"/>
                <a:ea typeface="游ゴシック"/>
              </a:rPr>
              <a:t>※ GW・夏休み・年末年始など長期休みは“隠れみの”チャンス。回復・最適時期には個人差があります（骨切り・肋軟骨は長め）。詳しくはDM・カウンセリングで。</a:t>
            </a:r>
          </a:p>
        </p:txBody>
      </p:sp>
      <p:sp>
        <p:nvSpPr>
          <p:cNvPr id="39" name="TextBox 38"/>
          <p:cNvSpPr txBox="1"/>
          <p:nvPr/>
        </p:nvSpPr>
        <p:spPr>
          <a:xfrm>
            <a:off x="566928" y="10322878"/>
            <a:ext cx="4628875" cy="182880"/>
          </a:xfrm>
          <a:prstGeom prst="rect">
            <a:avLst/>
          </a:prstGeom>
          <a:noFill/>
        </p:spPr>
        <p:txBody>
          <a:bodyPr wrap="square" anchor="t" lIns="0" rIns="0" tIns="0" bIns="0">
            <a:spAutoFit/>
          </a:bodyPr>
          <a:lstStyle/>
          <a:p>
            <a:pPr algn="l">
              <a:lnSpc>
                <a:spcPct val="110000"/>
              </a:lnSpc>
              <a:spcBef>
                <a:spcPts val="0"/>
              </a:spcBef>
              <a:spcAft>
                <a:spcPts val="0"/>
              </a:spcAft>
            </a:pPr>
            <a:r>
              <a:rPr sz="750" b="0">
                <a:solidFill>
                  <a:srgbClr val="7A7060"/>
                </a:solidFill>
                <a:latin typeface="游ゴシック"/>
                <a:ea typeface="游ゴシック"/>
              </a:rPr>
              <a:t>鼻整形 デザインカタログ｜ダウンタイム・カレンダー</a:t>
            </a:r>
          </a:p>
        </p:txBody>
      </p:sp>
      <p:sp>
        <p:nvSpPr>
          <p:cNvPr id="40" name="TextBox 39"/>
          <p:cNvSpPr txBox="1"/>
          <p:nvPr/>
        </p:nvSpPr>
        <p:spPr>
          <a:xfrm>
            <a:off x="5715762" y="10322878"/>
            <a:ext cx="1280160" cy="182880"/>
          </a:xfrm>
          <a:prstGeom prst="rect">
            <a:avLst/>
          </a:prstGeom>
          <a:noFill/>
        </p:spPr>
        <p:txBody>
          <a:bodyPr wrap="square" anchor="t" lIns="0" rIns="0" tIns="0" bIns="0">
            <a:spAutoFit/>
          </a:bodyPr>
          <a:lstStyle/>
          <a:p>
            <a:pPr algn="r">
              <a:lnSpc>
                <a:spcPct val="110000"/>
              </a:lnSpc>
              <a:spcBef>
                <a:spcPts val="0"/>
              </a:spcBef>
              <a:spcAft>
                <a:spcPts val="0"/>
              </a:spcAft>
            </a:pPr>
            <a:r>
              <a:rPr sz="750" b="0">
                <a:solidFill>
                  <a:srgbClr val="7A7060"/>
                </a:solidFill>
                <a:latin typeface="游ゴシック"/>
                <a:ea typeface="游ゴシック"/>
              </a:rPr>
              <a:t>Zetith Beauty Clinic Fukuoka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WHY Dr.HANE</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なぜ、Dr.羽根なのか</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24</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457200"/>
          </a:xfrm>
          <a:prstGeom prst="rect">
            <a:avLst/>
          </a:prstGeom>
          <a:noFill/>
        </p:spPr>
        <p:txBody>
          <a:bodyPr wrap="square" lIns="0" tIns="0" rIns="0" bIns="0" anchor="t">
            <a:spAutoFit/>
          </a:bodyPr>
          <a:lstStyle/>
          <a:p>
            <a:pPr algn="l">
              <a:lnSpc>
                <a:spcPct val="150000"/>
              </a:lnSpc>
              <a:spcBef>
                <a:spcPts val="0"/>
              </a:spcBef>
              <a:spcAft>
                <a:spcPts val="200"/>
              </a:spcAft>
            </a:pPr>
            <a:r>
              <a:rPr sz="1100" b="0">
                <a:solidFill>
                  <a:srgbClr val="3A3326"/>
                </a:solidFill>
                <a:latin typeface="游ゴシック"/>
                <a:ea typeface="游ゴシック"/>
              </a:rPr>
              <a:t>“盛る”のではなく、“似合う”を自然に。他院と比べて迷っている方へ、Dr.羽根の4つの約束です。</a:t>
            </a:r>
          </a:p>
        </p:txBody>
      </p:sp>
      <p:sp>
        <p:nvSpPr>
          <p:cNvPr id="8" name="Rounded Rectangle 7"/>
          <p:cNvSpPr/>
          <p:nvPr/>
        </p:nvSpPr>
        <p:spPr>
          <a:xfrm>
            <a:off x="566928" y="246888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46888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269748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01</a:t>
            </a:r>
          </a:p>
        </p:txBody>
      </p:sp>
      <p:sp>
        <p:nvSpPr>
          <p:cNvPr id="11" name="TextBox 10"/>
          <p:cNvSpPr txBox="1"/>
          <p:nvPr/>
        </p:nvSpPr>
        <p:spPr>
          <a:xfrm>
            <a:off x="841248" y="3035808"/>
            <a:ext cx="2620137" cy="217945"/>
          </a:xfrm>
          <a:prstGeom prst="rect">
            <a:avLst/>
          </a:prstGeom>
          <a:noFill/>
        </p:spPr>
        <p:txBody>
          <a:bodyPr wrap="square" lIns="0" tIns="0" rIns="0" bIns="0" anchor="t">
            <a:spAutoFit/>
          </a:bodyPr>
          <a:lstStyle/>
          <a:p>
            <a:pPr algn="l">
              <a:lnSpc>
                <a:spcPct val="115000"/>
              </a:lnSpc>
              <a:spcBef>
                <a:spcPts val="0"/>
              </a:spcBef>
              <a:spcAft>
                <a:spcPts val="200"/>
              </a:spcAft>
            </a:pPr>
            <a:r>
              <a:rPr sz="1300" b="1" dirty="0" err="1">
                <a:solidFill>
                  <a:srgbClr val="3A3326"/>
                </a:solidFill>
                <a:latin typeface="游明朝"/>
                <a:ea typeface="游明朝"/>
              </a:rPr>
              <a:t>クローズド法</a:t>
            </a:r>
            <a:r>
              <a:rPr lang="ja-JP" altLang="en-US" sz="1300" b="1">
                <a:solidFill>
                  <a:srgbClr val="3A3326"/>
                </a:solidFill>
                <a:latin typeface="游明朝"/>
                <a:ea typeface="游明朝"/>
              </a:rPr>
              <a:t>のスペシャリスト</a:t>
            </a:r>
            <a:endParaRPr sz="1300" b="1" dirty="0">
              <a:solidFill>
                <a:srgbClr val="3A3326"/>
              </a:solidFill>
              <a:latin typeface="游明朝"/>
              <a:ea typeface="游明朝"/>
            </a:endParaRPr>
          </a:p>
        </p:txBody>
      </p:sp>
      <p:sp>
        <p:nvSpPr>
          <p:cNvPr id="12" name="TextBox 11"/>
          <p:cNvSpPr txBox="1"/>
          <p:nvPr/>
        </p:nvSpPr>
        <p:spPr>
          <a:xfrm>
            <a:off x="841248" y="354787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基本は鼻の穴の中から行うクローズド法で、傷あとを残さない設計。難症例ではオープン法も使い分けます。</a:t>
            </a:r>
          </a:p>
        </p:txBody>
      </p:sp>
      <p:sp>
        <p:nvSpPr>
          <p:cNvPr id="13" name="Rounded Rectangle 12"/>
          <p:cNvSpPr/>
          <p:nvPr/>
        </p:nvSpPr>
        <p:spPr>
          <a:xfrm>
            <a:off x="3918585" y="246888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918585" y="246888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92905" y="269748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02</a:t>
            </a:r>
          </a:p>
        </p:txBody>
      </p:sp>
      <p:sp>
        <p:nvSpPr>
          <p:cNvPr id="16" name="TextBox 15"/>
          <p:cNvSpPr txBox="1"/>
          <p:nvPr/>
        </p:nvSpPr>
        <p:spPr>
          <a:xfrm>
            <a:off x="4192905" y="303580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“やりすぎない”自然さ</a:t>
            </a:r>
          </a:p>
        </p:txBody>
      </p:sp>
      <p:sp>
        <p:nvSpPr>
          <p:cNvPr id="17" name="TextBox 16"/>
          <p:cNvSpPr txBox="1"/>
          <p:nvPr/>
        </p:nvSpPr>
        <p:spPr>
          <a:xfrm>
            <a:off x="4192905" y="354787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「整形した？」と聞かれない自然さを最優先。お顔全体のバランスから逆算してデザイン。</a:t>
            </a:r>
          </a:p>
        </p:txBody>
      </p:sp>
      <p:sp>
        <p:nvSpPr>
          <p:cNvPr id="18" name="Rounded Rectangle 17"/>
          <p:cNvSpPr/>
          <p:nvPr/>
        </p:nvSpPr>
        <p:spPr>
          <a:xfrm>
            <a:off x="566928" y="438912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438912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41248" y="461772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03</a:t>
            </a:r>
          </a:p>
        </p:txBody>
      </p:sp>
      <p:sp>
        <p:nvSpPr>
          <p:cNvPr id="21" name="TextBox 20"/>
          <p:cNvSpPr txBox="1"/>
          <p:nvPr/>
        </p:nvSpPr>
        <p:spPr>
          <a:xfrm>
            <a:off x="841248" y="495604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ベクトラ3Dシミュレーション</a:t>
            </a:r>
          </a:p>
        </p:txBody>
      </p:sp>
      <p:sp>
        <p:nvSpPr>
          <p:cNvPr id="22" name="TextBox 21"/>
          <p:cNvSpPr txBox="1"/>
          <p:nvPr/>
        </p:nvSpPr>
        <p:spPr>
          <a:xfrm>
            <a:off x="841248" y="546811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全カウンセリングで“なりたい鼻”をその場で可視化。イメージを共有してから決定。</a:t>
            </a:r>
          </a:p>
        </p:txBody>
      </p:sp>
      <p:sp>
        <p:nvSpPr>
          <p:cNvPr id="23" name="Rounded Rectangle 22"/>
          <p:cNvSpPr/>
          <p:nvPr/>
        </p:nvSpPr>
        <p:spPr>
          <a:xfrm>
            <a:off x="3918585" y="438912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3918585" y="438912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192905" y="461772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04</a:t>
            </a:r>
          </a:p>
        </p:txBody>
      </p:sp>
      <p:sp>
        <p:nvSpPr>
          <p:cNvPr id="26" name="TextBox 25"/>
          <p:cNvSpPr txBox="1"/>
          <p:nvPr/>
        </p:nvSpPr>
        <p:spPr>
          <a:xfrm>
            <a:off x="4192905" y="495604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豊富な症例と修正対応</a:t>
            </a:r>
          </a:p>
        </p:txBody>
      </p:sp>
      <p:sp>
        <p:nvSpPr>
          <p:cNvPr id="27" name="TextBox 26"/>
          <p:cNvSpPr txBox="1"/>
          <p:nvPr/>
        </p:nvSpPr>
        <p:spPr>
          <a:xfrm>
            <a:off x="4192905" y="5468112"/>
            <a:ext cx="2620137" cy="430567"/>
          </a:xfrm>
          <a:prstGeom prst="rect">
            <a:avLst/>
          </a:prstGeom>
          <a:noFill/>
        </p:spPr>
        <p:txBody>
          <a:bodyPr wrap="square" lIns="0" tIns="0" rIns="0" bIns="0" anchor="t">
            <a:spAutoFit/>
          </a:bodyPr>
          <a:lstStyle/>
          <a:p>
            <a:pPr algn="l">
              <a:lnSpc>
                <a:spcPct val="140000"/>
              </a:lnSpc>
              <a:spcBef>
                <a:spcPts val="0"/>
              </a:spcBef>
              <a:spcAft>
                <a:spcPts val="200"/>
              </a:spcAft>
            </a:pPr>
            <a:r>
              <a:rPr sz="980" b="0" dirty="0" err="1">
                <a:solidFill>
                  <a:srgbClr val="7A7060"/>
                </a:solidFill>
                <a:latin typeface="游ゴシック"/>
                <a:ea typeface="游ゴシック"/>
              </a:rPr>
              <a:t>多数の症例実績。難症</a:t>
            </a:r>
            <a:r>
              <a:rPr lang="ja-JP" altLang="en-US" sz="980" b="0">
                <a:solidFill>
                  <a:srgbClr val="7A7060"/>
                </a:solidFill>
                <a:latin typeface="游ゴシック"/>
                <a:ea typeface="游ゴシック"/>
              </a:rPr>
              <a:t>例・他院修正・肋軟骨</a:t>
            </a:r>
            <a:endParaRPr lang="en-US" altLang="ja-JP" sz="980" b="0" dirty="0">
              <a:solidFill>
                <a:srgbClr val="7A7060"/>
              </a:solidFill>
              <a:latin typeface="游ゴシック"/>
              <a:ea typeface="游ゴシック"/>
            </a:endParaRPr>
          </a:p>
          <a:p>
            <a:pPr algn="l">
              <a:lnSpc>
                <a:spcPct val="140000"/>
              </a:lnSpc>
              <a:spcBef>
                <a:spcPts val="0"/>
              </a:spcBef>
              <a:spcAft>
                <a:spcPts val="200"/>
              </a:spcAft>
            </a:pPr>
            <a:r>
              <a:rPr lang="ja-JP" altLang="en-US" sz="980">
                <a:solidFill>
                  <a:srgbClr val="7A7060"/>
                </a:solidFill>
                <a:latin typeface="游ゴシック"/>
                <a:ea typeface="游ゴシック"/>
              </a:rPr>
              <a:t>を用いた修正にも対応可能です。</a:t>
            </a:r>
            <a:endParaRPr lang="en-US" altLang="ja-JP" sz="980" b="0" dirty="0">
              <a:solidFill>
                <a:srgbClr val="7A7060"/>
              </a:solidFill>
              <a:latin typeface="游ゴシック"/>
              <a:ea typeface="游ゴシック"/>
            </a:endParaRPr>
          </a:p>
        </p:txBody>
      </p:sp>
      <p:sp>
        <p:nvSpPr>
          <p:cNvPr id="28" name="Rounded Rectangle 27"/>
          <p:cNvSpPr/>
          <p:nvPr/>
        </p:nvSpPr>
        <p:spPr>
          <a:xfrm>
            <a:off x="566928" y="8183879"/>
            <a:ext cx="6428994" cy="1325880"/>
          </a:xfrm>
          <a:prstGeom prst="round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32688" y="8385047"/>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100" b="1">
                <a:solidFill>
                  <a:srgbClr val="B0934E"/>
                </a:solidFill>
                <a:latin typeface="游ゴシック"/>
                <a:ea typeface="游ゴシック"/>
              </a:rPr>
              <a:t>先生のひとこと</a:t>
            </a:r>
          </a:p>
        </p:txBody>
      </p:sp>
      <p:sp>
        <p:nvSpPr>
          <p:cNvPr id="30" name="TextBox 29"/>
          <p:cNvSpPr txBox="1"/>
          <p:nvPr/>
        </p:nvSpPr>
        <p:spPr>
          <a:xfrm>
            <a:off x="932688" y="8714231"/>
            <a:ext cx="5697474" cy="574196"/>
          </a:xfrm>
          <a:prstGeom prst="rect">
            <a:avLst/>
          </a:prstGeom>
          <a:noFill/>
        </p:spPr>
        <p:txBody>
          <a:bodyPr wrap="square" lIns="0" tIns="0" rIns="0" bIns="0" anchor="t">
            <a:spAutoFit/>
          </a:bodyPr>
          <a:lstStyle/>
          <a:p>
            <a:pPr algn="l">
              <a:lnSpc>
                <a:spcPct val="150000"/>
              </a:lnSpc>
              <a:spcBef>
                <a:spcPts val="0"/>
              </a:spcBef>
              <a:spcAft>
                <a:spcPts val="200"/>
              </a:spcAft>
            </a:pPr>
            <a:r>
              <a:rPr sz="1250" b="0" dirty="0">
                <a:solidFill>
                  <a:srgbClr val="FFFFFF"/>
                </a:solidFill>
                <a:latin typeface="游明朝"/>
                <a:ea typeface="游明朝"/>
              </a:rPr>
              <a:t>「</a:t>
            </a:r>
            <a:r>
              <a:rPr sz="1250" b="0" dirty="0" err="1">
                <a:solidFill>
                  <a:srgbClr val="FFFFFF"/>
                </a:solidFill>
                <a:latin typeface="游明朝"/>
                <a:ea typeface="游明朝"/>
              </a:rPr>
              <a:t>良い症例」だけでなく「起こりうること」まで知って納得していただく</a:t>
            </a:r>
            <a:r>
              <a:rPr sz="1250" b="0" dirty="0">
                <a:solidFill>
                  <a:srgbClr val="FFFFFF"/>
                </a:solidFill>
                <a:latin typeface="游明朝"/>
                <a:ea typeface="游明朝"/>
              </a:rPr>
              <a:t>。</a:t>
            </a:r>
            <a:endParaRPr lang="en-US" sz="1250" b="0" dirty="0">
              <a:solidFill>
                <a:srgbClr val="FFFFFF"/>
              </a:solidFill>
              <a:latin typeface="游明朝"/>
              <a:ea typeface="游明朝"/>
            </a:endParaRPr>
          </a:p>
          <a:p>
            <a:pPr algn="l">
              <a:lnSpc>
                <a:spcPct val="150000"/>
              </a:lnSpc>
              <a:spcBef>
                <a:spcPts val="0"/>
              </a:spcBef>
              <a:spcAft>
                <a:spcPts val="200"/>
              </a:spcAft>
            </a:pPr>
            <a:r>
              <a:rPr sz="1250" b="0" dirty="0" err="1">
                <a:solidFill>
                  <a:srgbClr val="FFFFFF"/>
                </a:solidFill>
                <a:latin typeface="游明朝"/>
                <a:ea typeface="游明朝"/>
              </a:rPr>
              <a:t>それが、やりすぎない鼻整形の出発点です</a:t>
            </a:r>
            <a:r>
              <a:rPr sz="1250" b="0" dirty="0">
                <a:solidFill>
                  <a:srgbClr val="FFFFFF"/>
                </a:solidFill>
                <a:latin typeface="游明朝"/>
                <a:ea typeface="游明朝"/>
              </a:rPr>
              <a:t>。</a:t>
            </a:r>
          </a:p>
        </p:txBody>
      </p:sp>
      <p:sp>
        <p:nvSpPr>
          <p:cNvPr id="31" name="TextBox 30"/>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デザインカタログ｜なぜ、Dr.羽根なのか</a:t>
            </a:r>
          </a:p>
        </p:txBody>
      </p:sp>
      <p:sp>
        <p:nvSpPr>
          <p:cNvPr id="32" name="TextBox 31"/>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4"/>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SAFETY</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リスク・副作用・修正について</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25</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457200"/>
          </a:xfrm>
          <a:prstGeom prst="rect">
            <a:avLst/>
          </a:prstGeom>
          <a:noFill/>
        </p:spPr>
        <p:txBody>
          <a:bodyPr wrap="square" lIns="0" tIns="0" rIns="0" bIns="0" anchor="t">
            <a:spAutoFit/>
          </a:bodyPr>
          <a:lstStyle/>
          <a:p>
            <a:pPr algn="l">
              <a:lnSpc>
                <a:spcPct val="150000"/>
              </a:lnSpc>
              <a:spcBef>
                <a:spcPts val="0"/>
              </a:spcBef>
              <a:spcAft>
                <a:spcPts val="200"/>
              </a:spcAft>
            </a:pPr>
            <a:r>
              <a:rPr sz="1100" b="0">
                <a:solidFill>
                  <a:srgbClr val="3A3326"/>
                </a:solidFill>
                <a:latin typeface="游ゴシック"/>
                <a:ea typeface="游ゴシック"/>
              </a:rPr>
              <a:t>どの症例にも共通するリスクと、当院の修正・アフターケアの考え方です。手術前に必ずご確認ください。</a:t>
            </a:r>
          </a:p>
        </p:txBody>
      </p:sp>
      <p:sp>
        <p:nvSpPr>
          <p:cNvPr id="8" name="Rounded Rectangle 7"/>
          <p:cNvSpPr/>
          <p:nvPr/>
        </p:nvSpPr>
        <p:spPr>
          <a:xfrm>
            <a:off x="566928" y="2423160"/>
            <a:ext cx="6428994" cy="23774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6968" y="2624328"/>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鼻整形に共通するリスク・副作用</a:t>
            </a:r>
          </a:p>
        </p:txBody>
      </p:sp>
      <p:sp>
        <p:nvSpPr>
          <p:cNvPr id="10" name="TextBox 9"/>
          <p:cNvSpPr txBox="1"/>
          <p:nvPr/>
        </p:nvSpPr>
        <p:spPr>
          <a:xfrm>
            <a:off x="932688" y="3017520"/>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a:solidFill>
                  <a:srgbClr val="3A3326"/>
                </a:solidFill>
                <a:latin typeface="游ゴシック"/>
                <a:ea typeface="游ゴシック"/>
              </a:rPr>
              <a:t>腫れ・内出血・痛み（通常は数日〜2週間で軽快）</a:t>
            </a:r>
          </a:p>
        </p:txBody>
      </p:sp>
      <p:sp>
        <p:nvSpPr>
          <p:cNvPr id="11" name="TextBox 10"/>
          <p:cNvSpPr txBox="1"/>
          <p:nvPr/>
        </p:nvSpPr>
        <p:spPr>
          <a:xfrm>
            <a:off x="4147185" y="3017520"/>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感染・血腫（適切な処置が必要な場合があります）</a:t>
            </a:r>
          </a:p>
        </p:txBody>
      </p:sp>
      <p:sp>
        <p:nvSpPr>
          <p:cNvPr id="12" name="TextBox 11"/>
          <p:cNvSpPr txBox="1"/>
          <p:nvPr/>
        </p:nvSpPr>
        <p:spPr>
          <a:xfrm>
            <a:off x="932688" y="3438144"/>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左右差・知覚の鈍さ（一時的なことが多いが残る場合も</a:t>
            </a:r>
            <a:r>
              <a:rPr sz="950" b="0" dirty="0">
                <a:solidFill>
                  <a:srgbClr val="3A3326"/>
                </a:solidFill>
                <a:latin typeface="游ゴシック"/>
                <a:ea typeface="游ゴシック"/>
              </a:rPr>
              <a:t>）</a:t>
            </a:r>
          </a:p>
        </p:txBody>
      </p:sp>
      <p:sp>
        <p:nvSpPr>
          <p:cNvPr id="13" name="TextBox 12"/>
          <p:cNvSpPr txBox="1"/>
          <p:nvPr/>
        </p:nvSpPr>
        <p:spPr>
          <a:xfrm>
            <a:off x="4147185" y="3438144"/>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プロテーゼのズレ・露出・輪郭の浮き出し（人工物使用時）</a:t>
            </a:r>
          </a:p>
        </p:txBody>
      </p:sp>
      <p:sp>
        <p:nvSpPr>
          <p:cNvPr id="14" name="TextBox 13"/>
          <p:cNvSpPr txBox="1"/>
          <p:nvPr/>
        </p:nvSpPr>
        <p:spPr>
          <a:xfrm>
            <a:off x="932688" y="3858768"/>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傷あと・拘縮（時間経過で目立ちにくくなることが多い</a:t>
            </a:r>
            <a:r>
              <a:rPr sz="950" b="0" dirty="0">
                <a:solidFill>
                  <a:srgbClr val="3A3326"/>
                </a:solidFill>
                <a:latin typeface="游ゴシック"/>
                <a:ea typeface="游ゴシック"/>
              </a:rPr>
              <a:t>）</a:t>
            </a:r>
          </a:p>
        </p:txBody>
      </p:sp>
      <p:sp>
        <p:nvSpPr>
          <p:cNvPr id="15" name="TextBox 14"/>
          <p:cNvSpPr txBox="1"/>
          <p:nvPr/>
        </p:nvSpPr>
        <p:spPr>
          <a:xfrm>
            <a:off x="4147185" y="3858768"/>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仕上がりの個人差・後戻り（修正が必要な場合があります）</a:t>
            </a:r>
          </a:p>
        </p:txBody>
      </p:sp>
      <p:sp>
        <p:nvSpPr>
          <p:cNvPr id="16" name="TextBox 15"/>
          <p:cNvSpPr txBox="1"/>
          <p:nvPr/>
        </p:nvSpPr>
        <p:spPr>
          <a:xfrm>
            <a:off x="932688" y="4279392"/>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肋軟骨採取部の痛み・傷あと・気胸（肋軟骨使用時／稀</a:t>
            </a:r>
            <a:r>
              <a:rPr sz="950" b="0" dirty="0">
                <a:solidFill>
                  <a:srgbClr val="3A3326"/>
                </a:solidFill>
                <a:latin typeface="游ゴシック"/>
                <a:ea typeface="游ゴシック"/>
              </a:rPr>
              <a:t>）</a:t>
            </a:r>
          </a:p>
        </p:txBody>
      </p:sp>
      <p:sp>
        <p:nvSpPr>
          <p:cNvPr id="17" name="TextBox 16"/>
          <p:cNvSpPr txBox="1"/>
          <p:nvPr/>
        </p:nvSpPr>
        <p:spPr>
          <a:xfrm>
            <a:off x="4147185" y="4279392"/>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骨切り部の段差・左右差（骨切り術の場合）</a:t>
            </a:r>
          </a:p>
        </p:txBody>
      </p:sp>
      <p:sp>
        <p:nvSpPr>
          <p:cNvPr id="18" name="Rounded Rectangle 17"/>
          <p:cNvSpPr/>
          <p:nvPr/>
        </p:nvSpPr>
        <p:spPr>
          <a:xfrm>
            <a:off x="566928" y="5029200"/>
            <a:ext cx="6428994" cy="1806498"/>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86968" y="5230368"/>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当院の修正・アフターケア</a:t>
            </a:r>
          </a:p>
        </p:txBody>
      </p:sp>
      <p:sp>
        <p:nvSpPr>
          <p:cNvPr id="20" name="TextBox 19"/>
          <p:cNvSpPr txBox="1"/>
          <p:nvPr/>
        </p:nvSpPr>
        <p:spPr>
          <a:xfrm>
            <a:off x="886968" y="5539482"/>
            <a:ext cx="5788914" cy="1054071"/>
          </a:xfrm>
          <a:prstGeom prst="rect">
            <a:avLst/>
          </a:prstGeom>
          <a:noFill/>
        </p:spPr>
        <p:txBody>
          <a:bodyPr wrap="square" lIns="0" tIns="0" rIns="0" bIns="0" anchor="t">
            <a:spAutoFit/>
          </a:bodyPr>
          <a:lstStyle/>
          <a:p>
            <a:pPr algn="l">
              <a:lnSpc>
                <a:spcPct val="155000"/>
              </a:lnSpc>
              <a:spcBef>
                <a:spcPts val="0"/>
              </a:spcBef>
              <a:spcAft>
                <a:spcPts val="200"/>
              </a:spcAft>
            </a:pPr>
            <a:r>
              <a:rPr sz="1050" b="0" dirty="0">
                <a:solidFill>
                  <a:srgbClr val="3A3326"/>
                </a:solidFill>
                <a:latin typeface="游ゴシック"/>
                <a:ea typeface="游ゴシック"/>
              </a:rPr>
              <a:t>・</a:t>
            </a:r>
            <a:r>
              <a:rPr sz="1050" b="0" dirty="0" err="1">
                <a:solidFill>
                  <a:srgbClr val="3A3326"/>
                </a:solidFill>
                <a:latin typeface="游ゴシック"/>
                <a:ea typeface="游ゴシック"/>
              </a:rPr>
              <a:t>術後の経過診察は無料で対応します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感染・トラブル時の処置体制を整えています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一定期間内の修正対応の有無・条件は、カウンセリングで明確にお伝えします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保証内容は術式により異なります。詳細は同意書・契約時にご確認ください</a:t>
            </a:r>
            <a:r>
              <a:rPr sz="1050" b="0" dirty="0">
                <a:solidFill>
                  <a:srgbClr val="3A3326"/>
                </a:solidFill>
                <a:latin typeface="游ゴシック"/>
                <a:ea typeface="游ゴシック"/>
              </a:rPr>
              <a:t>。</a:t>
            </a:r>
          </a:p>
        </p:txBody>
      </p:sp>
      <p:sp>
        <p:nvSpPr>
          <p:cNvPr id="21" name="Rounded Rectangle 20"/>
          <p:cNvSpPr/>
          <p:nvPr/>
        </p:nvSpPr>
        <p:spPr>
          <a:xfrm>
            <a:off x="566928" y="7269480"/>
            <a:ext cx="6428994" cy="2194560"/>
          </a:xfrm>
          <a:prstGeom prst="roundRect">
            <a:avLst/>
          </a:prstGeom>
          <a:solidFill>
            <a:srgbClr val="FDFBF6"/>
          </a:solidFill>
          <a:ln w="1524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32688" y="7498080"/>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8C7339"/>
                </a:solidFill>
                <a:latin typeface="游明朝"/>
                <a:ea typeface="游明朝"/>
              </a:rPr>
              <a:t>納得してから、決めてください。</a:t>
            </a:r>
          </a:p>
        </p:txBody>
      </p:sp>
      <p:sp>
        <p:nvSpPr>
          <p:cNvPr id="23" name="TextBox 22"/>
          <p:cNvSpPr txBox="1"/>
          <p:nvPr/>
        </p:nvSpPr>
        <p:spPr>
          <a:xfrm>
            <a:off x="932688" y="7955280"/>
            <a:ext cx="5697474" cy="1280160"/>
          </a:xfrm>
          <a:prstGeom prst="rect">
            <a:avLst/>
          </a:prstGeom>
          <a:noFill/>
        </p:spPr>
        <p:txBody>
          <a:bodyPr wrap="square" lIns="0" tIns="0" rIns="0" bIns="0" anchor="t">
            <a:spAutoFit/>
          </a:bodyPr>
          <a:lstStyle/>
          <a:p>
            <a:pPr algn="l">
              <a:lnSpc>
                <a:spcPct val="170000"/>
              </a:lnSpc>
              <a:spcBef>
                <a:spcPts val="0"/>
              </a:spcBef>
              <a:spcAft>
                <a:spcPts val="200"/>
              </a:spcAft>
            </a:pPr>
            <a:r>
              <a:rPr sz="1100" b="0">
                <a:solidFill>
                  <a:srgbClr val="3A3326"/>
                </a:solidFill>
                <a:latin typeface="游ゴシック"/>
                <a:ea typeface="游ゴシック"/>
              </a:rPr>
              <a:t>私たちのカウンセリングは、契約のためではなく“あなたにとっての最善を一緒に考える”時間です。「今日決めなくては」という必要はありません。ベクトラのシミュレーション画像はお持ち帰りいただけます。ご家族と相談したい、他院と比べたい——どうぞ遠慮なく。納得いただけたときが、ベストなタイミングです。</a:t>
            </a:r>
          </a:p>
        </p:txBody>
      </p:sp>
      <p:sp>
        <p:nvSpPr>
          <p:cNvPr id="24" name="TextBox 23"/>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デザインカタログ｜リスク・副作用・修正について</a:t>
            </a:r>
          </a:p>
        </p:txBody>
      </p:sp>
      <p:sp>
        <p:nvSpPr>
          <p:cNvPr id="25" name="TextBox 24"/>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57200"/>
            <a:ext cx="6428994" cy="201168"/>
          </a:xfrm>
          <a:prstGeom prst="rect">
            <a:avLst/>
          </a:prstGeom>
          <a:noFill/>
        </p:spPr>
        <p:txBody>
          <a:bodyPr wrap="square" anchor="t" lIns="0" rIns="0" tIns="0" bIns="0">
            <a:spAutoFit/>
          </a:bodyPr>
          <a:lstStyle/>
          <a:p>
            <a:pPr algn="l">
              <a:lnSpc>
                <a:spcPct val="115000"/>
              </a:lnSpc>
              <a:spcBef>
                <a:spcPts val="0"/>
              </a:spcBef>
              <a:spcAft>
                <a:spcPts val="100"/>
              </a:spcAft>
            </a:pPr>
            <a:r>
              <a:rPr sz="950" b="1">
                <a:solidFill>
                  <a:srgbClr val="B0934E"/>
                </a:solidFill>
                <a:latin typeface="游ゴシック"/>
                <a:ea typeface="游ゴシック"/>
              </a:rPr>
              <a:t>PRICE</a:t>
            </a:r>
          </a:p>
        </p:txBody>
      </p:sp>
      <p:sp>
        <p:nvSpPr>
          <p:cNvPr id="4" name="TextBox 3"/>
          <p:cNvSpPr txBox="1"/>
          <p:nvPr/>
        </p:nvSpPr>
        <p:spPr>
          <a:xfrm>
            <a:off x="566928" y="658368"/>
            <a:ext cx="5697474" cy="640080"/>
          </a:xfrm>
          <a:prstGeom prst="rect">
            <a:avLst/>
          </a:prstGeom>
          <a:noFill/>
        </p:spPr>
        <p:txBody>
          <a:bodyPr wrap="square" anchor="t" lIns="0" rIns="0" tIns="0" bIns="0">
            <a:spAutoFit/>
          </a:bodyPr>
          <a:lstStyle/>
          <a:p>
            <a:pPr algn="l">
              <a:lnSpc>
                <a:spcPct val="115000"/>
              </a:lnSpc>
              <a:spcBef>
                <a:spcPts val="0"/>
              </a:spcBef>
              <a:spcAft>
                <a:spcPts val="100"/>
              </a:spcAft>
            </a:pPr>
            <a:r>
              <a:rPr sz="2700" b="1">
                <a:solidFill>
                  <a:srgbClr val="3A3326"/>
                </a:solidFill>
                <a:latin typeface="游明朝"/>
                <a:ea typeface="游明朝"/>
              </a:rPr>
              <a:t>料金プラン（セット料金）</a:t>
            </a:r>
          </a:p>
        </p:txBody>
      </p:sp>
      <p:sp>
        <p:nvSpPr>
          <p:cNvPr id="5" name="TextBox 4"/>
          <p:cNvSpPr txBox="1"/>
          <p:nvPr/>
        </p:nvSpPr>
        <p:spPr>
          <a:xfrm>
            <a:off x="6355842" y="457200"/>
            <a:ext cx="640080" cy="274320"/>
          </a:xfrm>
          <a:prstGeom prst="rect">
            <a:avLst/>
          </a:prstGeom>
          <a:noFill/>
        </p:spPr>
        <p:txBody>
          <a:bodyPr wrap="square" anchor="t" lIns="0" rIns="0" tIns="0" bIns="0">
            <a:spAutoFit/>
          </a:bodyPr>
          <a:lstStyle/>
          <a:p>
            <a:pPr algn="r">
              <a:lnSpc>
                <a:spcPct val="115000"/>
              </a:lnSpc>
              <a:spcBef>
                <a:spcPts val="0"/>
              </a:spcBef>
              <a:spcAft>
                <a:spcPts val="100"/>
              </a:spcAft>
            </a:pPr>
            <a:r>
              <a:rPr sz="1100" b="0">
                <a:solidFill>
                  <a:srgbClr val="B0934E"/>
                </a:solidFill>
                <a:latin typeface="游明朝"/>
                <a:ea typeface="游明朝"/>
              </a:rPr>
              <a:t>26</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517904"/>
            <a:ext cx="6428994" cy="365760"/>
          </a:xfrm>
          <a:prstGeom prst="rect">
            <a:avLst/>
          </a:prstGeom>
          <a:noFill/>
        </p:spPr>
        <p:txBody>
          <a:bodyPr wrap="square" anchor="t" lIns="0" rIns="0" tIns="0" bIns="0">
            <a:spAutoFit/>
          </a:bodyPr>
          <a:lstStyle/>
          <a:p>
            <a:pPr algn="l">
              <a:lnSpc>
                <a:spcPct val="130000"/>
              </a:lnSpc>
              <a:spcBef>
                <a:spcPts val="0"/>
              </a:spcBef>
              <a:spcAft>
                <a:spcPts val="100"/>
              </a:spcAft>
            </a:pPr>
            <a:r>
              <a:rPr sz="1050" b="0">
                <a:solidFill>
                  <a:srgbClr val="3A3326"/>
                </a:solidFill>
                <a:latin typeface="游ゴシック"/>
                <a:ea typeface="游ゴシック"/>
              </a:rPr>
              <a:t>当院はセット料金です。「ベースプラン」＋必要な「オプション」で総額が決まります（クローズド／オープン共通）。</a:t>
            </a:r>
          </a:p>
        </p:txBody>
      </p:sp>
      <p:sp>
        <p:nvSpPr>
          <p:cNvPr id="8" name="TextBox 7"/>
          <p:cNvSpPr txBox="1"/>
          <p:nvPr/>
        </p:nvSpPr>
        <p:spPr>
          <a:xfrm>
            <a:off x="566928" y="1975104"/>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300" b="1">
                <a:solidFill>
                  <a:srgbClr val="8C7339"/>
                </a:solidFill>
                <a:latin typeface="游明朝"/>
                <a:ea typeface="游明朝"/>
              </a:rPr>
              <a:t>① ベースプラン（いずれか1つ）</a:t>
            </a:r>
          </a:p>
        </p:txBody>
      </p:sp>
      <p:graphicFrame>
        <p:nvGraphicFramePr>
          <p:cNvPr id="9" name="Table 8"/>
          <p:cNvGraphicFramePr>
            <a:graphicFrameLocks noGrp="1"/>
          </p:cNvGraphicFramePr>
          <p:nvPr/>
        </p:nvGraphicFramePr>
        <p:xfrm>
          <a:off x="566928" y="2249424"/>
          <a:ext cx="6428993" cy="1371600"/>
        </p:xfrm>
        <a:graphic>
          <a:graphicData uri="http://schemas.openxmlformats.org/drawingml/2006/table">
            <a:tbl>
              <a:tblPr firstRow="1" bandRow="1">
                <a:tableStyleId>{5C22544A-7EE6-4342-B048-85BDC9FD1C3A}</a:tableStyleId>
              </a:tblPr>
              <a:tblGrid>
                <a:gridCol w="3214497"/>
                <a:gridCol w="1735828"/>
                <a:gridCol w="1478668"/>
              </a:tblGrid>
              <a:tr h="342900">
                <a:tc>
                  <a:txBody>
                    <a:bodyPr wrap="square"/>
                    <a:lstStyle/>
                    <a:p>
                      <a:pPr algn="l"/>
                      <a:r>
                        <a:rPr sz="1100" b="1">
                          <a:solidFill>
                            <a:srgbClr val="FFFFFF"/>
                          </a:solidFill>
                          <a:latin typeface="游明朝"/>
                          <a:ea typeface="游明朝"/>
                        </a:rPr>
                        <a:t>プラン</a:t>
                      </a:r>
                    </a:p>
                  </a:txBody>
                  <a:tcPr anchor="ctr" marL="80000" marR="60000" marT="10000" marB="10000">
                    <a:solidFill>
                      <a:srgbClr val="B0934E"/>
                    </a:solidFill>
                  </a:tcPr>
                </a:tc>
                <a:tc>
                  <a:txBody>
                    <a:bodyPr wrap="square"/>
                    <a:lstStyle/>
                    <a:p>
                      <a:pPr algn="r"/>
                      <a:r>
                        <a:rPr sz="1100" b="1">
                          <a:solidFill>
                            <a:srgbClr val="FFFFFF"/>
                          </a:solidFill>
                          <a:latin typeface="游明朝"/>
                          <a:ea typeface="游明朝"/>
                        </a:rPr>
                        <a:t>通常料金（税込）</a:t>
                      </a:r>
                    </a:p>
                  </a:txBody>
                  <a:tcPr anchor="ctr" marL="80000" marR="60000" marT="10000" marB="10000">
                    <a:solidFill>
                      <a:srgbClr val="B0934E"/>
                    </a:solidFill>
                  </a:tcPr>
                </a:tc>
                <a:tc>
                  <a:txBody>
                    <a:bodyPr wrap="square"/>
                    <a:lstStyle/>
                    <a:p>
                      <a:pPr algn="r"/>
                      <a:r>
                        <a:rPr sz="1100" b="1">
                          <a:solidFill>
                            <a:srgbClr val="FFFFFF"/>
                          </a:solidFill>
                          <a:latin typeface="游明朝"/>
                          <a:ea typeface="游明朝"/>
                        </a:rPr>
                        <a:t>月々(60回)</a:t>
                      </a:r>
                    </a:p>
                  </a:txBody>
                  <a:tcPr anchor="ctr" marL="80000" marR="60000" marT="10000" marB="10000">
                    <a:solidFill>
                      <a:srgbClr val="B0934E"/>
                    </a:solidFill>
                  </a:tcPr>
                </a:tc>
              </a:tr>
              <a:tr h="342900">
                <a:tc>
                  <a:txBody>
                    <a:bodyPr wrap="square"/>
                    <a:lstStyle/>
                    <a:p>
                      <a:pPr algn="l"/>
                      <a:r>
                        <a:rPr sz="1100" b="0">
                          <a:solidFill>
                            <a:srgbClr val="3A3326"/>
                          </a:solidFill>
                          <a:latin typeface="游ゴシック"/>
                          <a:ea typeface="游ゴシック"/>
                        </a:rPr>
                        <a:t>ストラット</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¥580,000</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¥9,700</a:t>
                      </a:r>
                    </a:p>
                  </a:txBody>
                  <a:tcPr anchor="ctr" marL="80000" marR="60000" marT="10000" marB="10000">
                    <a:solidFill>
                      <a:srgbClr val="FDFBF6"/>
                    </a:solidFill>
                  </a:tcPr>
                </a:tc>
              </a:tr>
              <a:tr h="342900">
                <a:tc>
                  <a:txBody>
                    <a:bodyPr wrap="square"/>
                    <a:lstStyle/>
                    <a:p>
                      <a:pPr algn="l"/>
                      <a:r>
                        <a:rPr sz="1100" b="0">
                          <a:solidFill>
                            <a:srgbClr val="3A3326"/>
                          </a:solidFill>
                          <a:latin typeface="游ゴシック"/>
                          <a:ea typeface="游ゴシック"/>
                        </a:rPr>
                        <a:t>鼻中隔延長（耳介軟骨）</a:t>
                      </a:r>
                    </a:p>
                  </a:txBody>
                  <a:tcPr anchor="ctr" marL="80000" marR="60000" marT="10000" marB="10000">
                    <a:solidFill>
                      <a:srgbClr val="F3ECDD"/>
                    </a:solidFill>
                  </a:tcPr>
                </a:tc>
                <a:tc>
                  <a:txBody>
                    <a:bodyPr wrap="square"/>
                    <a:lstStyle/>
                    <a:p>
                      <a:pPr algn="r"/>
                      <a:r>
                        <a:rPr sz="1250" b="1">
                          <a:solidFill>
                            <a:srgbClr val="3A3326"/>
                          </a:solidFill>
                          <a:latin typeface="游明朝"/>
                          <a:ea typeface="游明朝"/>
                        </a:rPr>
                        <a:t>¥880,000</a:t>
                      </a:r>
                    </a:p>
                  </a:txBody>
                  <a:tcPr anchor="ctr" marL="80000" marR="60000" marT="10000" marB="10000">
                    <a:solidFill>
                      <a:srgbClr val="F3ECDD"/>
                    </a:solidFill>
                  </a:tcPr>
                </a:tc>
                <a:tc>
                  <a:txBody>
                    <a:bodyPr wrap="square"/>
                    <a:lstStyle/>
                    <a:p>
                      <a:pPr algn="r"/>
                      <a:r>
                        <a:rPr sz="1250" b="1">
                          <a:solidFill>
                            <a:srgbClr val="3A3326"/>
                          </a:solidFill>
                          <a:latin typeface="游明朝"/>
                          <a:ea typeface="游明朝"/>
                        </a:rPr>
                        <a:t>¥14,700</a:t>
                      </a:r>
                    </a:p>
                  </a:txBody>
                  <a:tcPr anchor="ctr" marL="80000" marR="60000" marT="10000" marB="10000">
                    <a:solidFill>
                      <a:srgbClr val="F3ECDD"/>
                    </a:solidFill>
                  </a:tcPr>
                </a:tc>
              </a:tr>
              <a:tr h="342900">
                <a:tc>
                  <a:txBody>
                    <a:bodyPr wrap="square"/>
                    <a:lstStyle/>
                    <a:p>
                      <a:pPr algn="l"/>
                      <a:r>
                        <a:rPr sz="1100" b="0">
                          <a:solidFill>
                            <a:srgbClr val="3A3326"/>
                          </a:solidFill>
                          <a:latin typeface="游ゴシック"/>
                          <a:ea typeface="游ゴシック"/>
                        </a:rPr>
                        <a:t>鼻中隔延長（肋軟骨併用）</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¥1,100,000</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¥18,300</a:t>
                      </a:r>
                    </a:p>
                  </a:txBody>
                  <a:tcPr anchor="ctr" marL="80000" marR="60000" marT="10000" marB="10000">
                    <a:solidFill>
                      <a:srgbClr val="FDFBF6"/>
                    </a:solidFill>
                  </a:tcPr>
                </a:tc>
              </a:tr>
            </a:tbl>
          </a:graphicData>
        </a:graphic>
      </p:graphicFrame>
      <p:sp>
        <p:nvSpPr>
          <p:cNvPr id="10" name="TextBox 9"/>
          <p:cNvSpPr txBox="1"/>
          <p:nvPr/>
        </p:nvSpPr>
        <p:spPr>
          <a:xfrm>
            <a:off x="566928" y="3712463"/>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300" b="1">
                <a:solidFill>
                  <a:srgbClr val="8C7339"/>
                </a:solidFill>
                <a:latin typeface="游明朝"/>
                <a:ea typeface="游明朝"/>
              </a:rPr>
              <a:t>② オプション（部位ごとに加算）</a:t>
            </a:r>
          </a:p>
        </p:txBody>
      </p:sp>
      <p:graphicFrame>
        <p:nvGraphicFramePr>
          <p:cNvPr id="11" name="Table 10"/>
          <p:cNvGraphicFramePr>
            <a:graphicFrameLocks noGrp="1"/>
          </p:cNvGraphicFramePr>
          <p:nvPr/>
        </p:nvGraphicFramePr>
        <p:xfrm>
          <a:off x="566928" y="3986784"/>
          <a:ext cx="6428993" cy="932688"/>
        </p:xfrm>
        <a:graphic>
          <a:graphicData uri="http://schemas.openxmlformats.org/drawingml/2006/table">
            <a:tbl>
              <a:tblPr firstRow="1" bandRow="1">
                <a:tableStyleId>{5C22544A-7EE6-4342-B048-85BDC9FD1C3A}</a:tableStyleId>
              </a:tblPr>
              <a:tblGrid>
                <a:gridCol w="4628875"/>
                <a:gridCol w="1800118"/>
              </a:tblGrid>
              <a:tr h="310896">
                <a:tc>
                  <a:txBody>
                    <a:bodyPr wrap="square"/>
                    <a:lstStyle/>
                    <a:p>
                      <a:pPr algn="l"/>
                      <a:r>
                        <a:rPr sz="1100" b="1">
                          <a:solidFill>
                            <a:srgbClr val="FFFFFF"/>
                          </a:solidFill>
                          <a:latin typeface="游明朝"/>
                          <a:ea typeface="游明朝"/>
                        </a:rPr>
                        <a:t>追加する施術</a:t>
                      </a:r>
                    </a:p>
                  </a:txBody>
                  <a:tcPr anchor="ctr" marL="80000" marR="60000" marT="10000" marB="10000">
                    <a:solidFill>
                      <a:srgbClr val="B0934E"/>
                    </a:solidFill>
                  </a:tcPr>
                </a:tc>
                <a:tc>
                  <a:txBody>
                    <a:bodyPr wrap="square"/>
                    <a:lstStyle/>
                    <a:p>
                      <a:pPr algn="r"/>
                      <a:r>
                        <a:rPr sz="1100" b="1">
                          <a:solidFill>
                            <a:srgbClr val="FFFFFF"/>
                          </a:solidFill>
                          <a:latin typeface="游明朝"/>
                          <a:ea typeface="游明朝"/>
                        </a:rPr>
                        <a:t>追加料金</a:t>
                      </a:r>
                    </a:p>
                  </a:txBody>
                  <a:tcPr anchor="ctr" marL="80000" marR="60000" marT="10000" marB="10000">
                    <a:solidFill>
                      <a:srgbClr val="B0934E"/>
                    </a:solidFill>
                  </a:tcPr>
                </a:tc>
              </a:tr>
              <a:tr h="310896">
                <a:tc>
                  <a:txBody>
                    <a:bodyPr wrap="square"/>
                    <a:lstStyle/>
                    <a:p>
                      <a:pPr algn="l"/>
                      <a:r>
                        <a:rPr sz="1050" b="0">
                          <a:solidFill>
                            <a:srgbClr val="3A3326"/>
                          </a:solidFill>
                          <a:latin typeface="游ゴシック"/>
                          <a:ea typeface="游ゴシック"/>
                        </a:rPr>
                        <a:t>小鼻縮小 ／ 鼻孔縁挙上 ／ 鼻孔縁下降 ／ プロテーゼ</a:t>
                      </a:r>
                    </a:p>
                  </a:txBody>
                  <a:tcPr anchor="ctr" marL="80000" marR="60000" marT="10000" marB="10000">
                    <a:solidFill>
                      <a:srgbClr val="FDFBF6"/>
                    </a:solidFill>
                  </a:tcPr>
                </a:tc>
                <a:tc>
                  <a:txBody>
                    <a:bodyPr wrap="square"/>
                    <a:lstStyle/>
                    <a:p>
                      <a:pPr algn="r"/>
                      <a:r>
                        <a:rPr sz="1200" b="1">
                          <a:solidFill>
                            <a:srgbClr val="3A3326"/>
                          </a:solidFill>
                          <a:latin typeface="游明朝"/>
                          <a:ea typeface="游明朝"/>
                        </a:rPr>
                        <a:t>＋¥100,000 / 部位</a:t>
                      </a:r>
                    </a:p>
                  </a:txBody>
                  <a:tcPr anchor="ctr" marL="80000" marR="60000" marT="10000" marB="10000">
                    <a:solidFill>
                      <a:srgbClr val="FDFBF6"/>
                    </a:solidFill>
                  </a:tcPr>
                </a:tc>
              </a:tr>
              <a:tr h="310896">
                <a:tc>
                  <a:txBody>
                    <a:bodyPr wrap="square"/>
                    <a:lstStyle/>
                    <a:p>
                      <a:pPr algn="l"/>
                      <a:r>
                        <a:rPr sz="1050" b="0">
                          <a:solidFill>
                            <a:srgbClr val="3A3326"/>
                          </a:solidFill>
                          <a:latin typeface="游ゴシック"/>
                          <a:ea typeface="游ゴシック"/>
                        </a:rPr>
                        <a:t>鼻骨骨切り ／ ハンプ切除 ／ 貴族手術</a:t>
                      </a:r>
                    </a:p>
                  </a:txBody>
                  <a:tcPr anchor="ctr" marL="80000" marR="60000" marT="10000" marB="10000">
                    <a:solidFill>
                      <a:srgbClr val="F3ECDD"/>
                    </a:solidFill>
                  </a:tcPr>
                </a:tc>
                <a:tc>
                  <a:txBody>
                    <a:bodyPr wrap="square"/>
                    <a:lstStyle/>
                    <a:p>
                      <a:pPr algn="r"/>
                      <a:r>
                        <a:rPr sz="1200" b="1">
                          <a:solidFill>
                            <a:srgbClr val="3A3326"/>
                          </a:solidFill>
                          <a:latin typeface="游明朝"/>
                          <a:ea typeface="游明朝"/>
                        </a:rPr>
                        <a:t>＋¥150,000 / 部位</a:t>
                      </a:r>
                    </a:p>
                  </a:txBody>
                  <a:tcPr anchor="ctr" marL="80000" marR="60000" marT="10000" marB="10000">
                    <a:solidFill>
                      <a:srgbClr val="F3ECDD"/>
                    </a:solidFill>
                  </a:tcPr>
                </a:tc>
              </a:tr>
            </a:tbl>
          </a:graphicData>
        </a:graphic>
      </p:graphicFrame>
      <p:sp>
        <p:nvSpPr>
          <p:cNvPr id="12" name="Rounded Rectangle 11"/>
          <p:cNvSpPr/>
          <p:nvPr/>
        </p:nvSpPr>
        <p:spPr>
          <a:xfrm>
            <a:off x="566928" y="5029200"/>
            <a:ext cx="6428994" cy="4572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5029200"/>
            <a:ext cx="5880354" cy="457200"/>
          </a:xfrm>
          <a:prstGeom prst="rect">
            <a:avLst/>
          </a:prstGeom>
          <a:noFill/>
        </p:spPr>
        <p:txBody>
          <a:bodyPr wrap="square" anchor="ctr" lIns="0" rIns="0" tIns="0" bIns="0">
            <a:spAutoFit/>
          </a:bodyPr>
          <a:lstStyle/>
          <a:p>
            <a:pPr algn="l">
              <a:lnSpc>
                <a:spcPct val="115000"/>
              </a:lnSpc>
              <a:spcBef>
                <a:spcPts val="0"/>
              </a:spcBef>
              <a:spcAft>
                <a:spcPts val="100"/>
              </a:spcAft>
            </a:pPr>
            <a:r>
              <a:rPr sz="1100" b="1">
                <a:solidFill>
                  <a:srgbClr val="8C7339"/>
                </a:solidFill>
                <a:latin typeface="游ゴシック"/>
                <a:ea typeface="游ゴシック"/>
              </a:rPr>
              <a:t>総額 ＝ ベースプラン ＋ オプション　　</a:t>
            </a:r>
            <a:r>
              <a:rPr sz="1050" b="0">
                <a:solidFill>
                  <a:srgbClr val="3A3326"/>
                </a:solidFill>
                <a:latin typeface="游ゴシック"/>
                <a:ea typeface="游ゴシック"/>
              </a:rPr>
              <a:t>例）ストラット＋小鼻縮小 ＝ ¥680,000（月々 ¥11,300〜）</a:t>
            </a:r>
          </a:p>
        </p:txBody>
      </p:sp>
      <p:sp>
        <p:nvSpPr>
          <p:cNvPr id="14" name="Rounded Rectangle 13"/>
          <p:cNvSpPr/>
          <p:nvPr/>
        </p:nvSpPr>
        <p:spPr>
          <a:xfrm>
            <a:off x="566928" y="5559552"/>
            <a:ext cx="6428994" cy="457200"/>
          </a:xfrm>
          <a:prstGeom prst="roundRect">
            <a:avLst/>
          </a:prstGeom>
          <a:solidFill>
            <a:srgbClr val="FDFBF6"/>
          </a:solidFill>
          <a:ln w="12700">
            <a:solidFill>
              <a:srgbClr val="B055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5559552"/>
            <a:ext cx="73152" cy="4572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5559552"/>
            <a:ext cx="5971794" cy="457200"/>
          </a:xfrm>
          <a:prstGeom prst="rect">
            <a:avLst/>
          </a:prstGeom>
          <a:noFill/>
        </p:spPr>
        <p:txBody>
          <a:bodyPr wrap="square" anchor="ctr" lIns="0" rIns="0" tIns="0" bIns="0">
            <a:spAutoFit/>
          </a:bodyPr>
          <a:lstStyle/>
          <a:p>
            <a:pPr algn="l">
              <a:lnSpc>
                <a:spcPct val="115000"/>
              </a:lnSpc>
              <a:spcBef>
                <a:spcPts val="0"/>
              </a:spcBef>
              <a:spcAft>
                <a:spcPts val="100"/>
              </a:spcAft>
            </a:pPr>
            <a:r>
              <a:rPr sz="1050" b="1">
                <a:solidFill>
                  <a:srgbClr val="B0553A"/>
                </a:solidFill>
                <a:latin typeface="游ゴシック"/>
                <a:ea typeface="游ゴシック"/>
              </a:rPr>
              <a:t>別途費用　</a:t>
            </a:r>
            <a:r>
              <a:rPr sz="1000" b="0">
                <a:solidFill>
                  <a:srgbClr val="3A3326"/>
                </a:solidFill>
                <a:latin typeface="游ゴシック"/>
                <a:ea typeface="游ゴシック"/>
              </a:rPr>
              <a:t>静脈麻酔 ¥55,000 ／ 全身麻酔 ¥209,000 ／ 術前検査 ¥17,600 ／ お薬代（処方に応じて）</a:t>
            </a:r>
          </a:p>
        </p:txBody>
      </p:sp>
      <p:sp>
        <p:nvSpPr>
          <p:cNvPr id="17" name="TextBox 16"/>
          <p:cNvSpPr txBox="1"/>
          <p:nvPr/>
        </p:nvSpPr>
        <p:spPr>
          <a:xfrm>
            <a:off x="566928" y="6144768"/>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100" b="1">
                <a:solidFill>
                  <a:srgbClr val="7A7060"/>
                </a:solidFill>
                <a:latin typeface="游明朝"/>
                <a:ea typeface="游明朝"/>
              </a:rPr>
              <a:t>※ 単体施術メニュー（参考）</a:t>
            </a:r>
          </a:p>
        </p:txBody>
      </p:sp>
      <p:sp>
        <p:nvSpPr>
          <p:cNvPr id="18" name="Rounded Rectangle 17"/>
          <p:cNvSpPr/>
          <p:nvPr/>
        </p:nvSpPr>
        <p:spPr>
          <a:xfrm>
            <a:off x="566928" y="6400800"/>
            <a:ext cx="6428994" cy="10515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6510528"/>
            <a:ext cx="5880354" cy="868680"/>
          </a:xfrm>
          <a:prstGeom prst="rect">
            <a:avLst/>
          </a:prstGeom>
          <a:noFill/>
        </p:spPr>
        <p:txBody>
          <a:bodyPr wrap="square" anchor="t" lIns="0" rIns="0" tIns="0" bIns="0">
            <a:spAutoFit/>
          </a:bodyPr>
          <a:lstStyle/>
          <a:p>
            <a:pPr algn="l">
              <a:lnSpc>
                <a:spcPct val="145000"/>
              </a:lnSpc>
              <a:spcBef>
                <a:spcPts val="0"/>
              </a:spcBef>
              <a:spcAft>
                <a:spcPts val="100"/>
              </a:spcAft>
            </a:pPr>
            <a:r>
              <a:rPr sz="900" b="0">
                <a:solidFill>
                  <a:srgbClr val="3A3326"/>
                </a:solidFill>
                <a:latin typeface="游ゴシック"/>
                <a:ea typeface="游ゴシック"/>
              </a:rPr>
              <a:t>鼻尖形成 ¥330,000／鼻尖部軟骨移植 ¥220,000／鼻中隔延長(耳介) ¥528,000／鼻中隔延長(肋軟骨) ¥770,000／隆鼻(プロテーゼ) ¥242,000／自家組織隆鼻 ¥330,000／小鼻縮小(内+外) ¥308,000／貴族・猫手術 ¥275,000／鼻孔縁下降 ¥242,000／鼻孔縁挙上 ¥242,000／鼻柱下降 ¥308,000／ハンプ切除 ¥286,000／鼻骨骨切り幅寄せ ¥286,000</a:t>
            </a:r>
          </a:p>
        </p:txBody>
      </p:sp>
      <p:sp>
        <p:nvSpPr>
          <p:cNvPr id="20" name="Rounded Rectangle 19"/>
          <p:cNvSpPr/>
          <p:nvPr/>
        </p:nvSpPr>
        <p:spPr>
          <a:xfrm>
            <a:off x="566928" y="7589520"/>
            <a:ext cx="6428994" cy="86868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6968" y="7680960"/>
            <a:ext cx="5788914" cy="274320"/>
          </a:xfrm>
          <a:prstGeom prst="rect">
            <a:avLst/>
          </a:prstGeom>
          <a:noFill/>
        </p:spPr>
        <p:txBody>
          <a:bodyPr wrap="square" anchor="t" lIns="0" rIns="0" tIns="0" bIns="0">
            <a:spAutoFit/>
          </a:bodyPr>
          <a:lstStyle/>
          <a:p>
            <a:pPr algn="l">
              <a:lnSpc>
                <a:spcPct val="115000"/>
              </a:lnSpc>
              <a:spcBef>
                <a:spcPts val="0"/>
              </a:spcBef>
              <a:spcAft>
                <a:spcPts val="100"/>
              </a:spcAft>
            </a:pPr>
            <a:r>
              <a:rPr sz="1150" b="1">
                <a:solidFill>
                  <a:srgbClr val="8C7339"/>
                </a:solidFill>
                <a:latin typeface="游明朝"/>
                <a:ea typeface="游明朝"/>
              </a:rPr>
              <a:t>モニター制度について</a:t>
            </a:r>
          </a:p>
        </p:txBody>
      </p:sp>
      <p:sp>
        <p:nvSpPr>
          <p:cNvPr id="22" name="TextBox 21"/>
          <p:cNvSpPr txBox="1"/>
          <p:nvPr/>
        </p:nvSpPr>
        <p:spPr>
          <a:xfrm>
            <a:off x="886968" y="7973568"/>
            <a:ext cx="5788914" cy="411480"/>
          </a:xfrm>
          <a:prstGeom prst="rect">
            <a:avLst/>
          </a:prstGeom>
          <a:noFill/>
        </p:spPr>
        <p:txBody>
          <a:bodyPr wrap="square" anchor="t" lIns="0" rIns="0" tIns="0" bIns="0">
            <a:spAutoFit/>
          </a:bodyPr>
          <a:lstStyle/>
          <a:p>
            <a:pPr algn="l">
              <a:lnSpc>
                <a:spcPct val="135000"/>
              </a:lnSpc>
              <a:spcBef>
                <a:spcPts val="0"/>
              </a:spcBef>
              <a:spcAft>
                <a:spcPts val="100"/>
              </a:spcAft>
            </a:pPr>
            <a:r>
              <a:rPr sz="950" b="0">
                <a:solidFill>
                  <a:srgbClr val="3A3326"/>
                </a:solidFill>
                <a:latin typeface="游ゴシック"/>
                <a:ea typeface="游ゴシック"/>
              </a:rPr>
              <a:t>【部分モニター】【全額モニター】あり。術前・術後のお写真のご協力で通常料金より割安にご案内できます。割引額・適用はカウンセリングで個別にご案内します。</a:t>
            </a:r>
          </a:p>
        </p:txBody>
      </p:sp>
      <p:sp>
        <p:nvSpPr>
          <p:cNvPr id="23" name="TextBox 22"/>
          <p:cNvSpPr txBox="1"/>
          <p:nvPr/>
        </p:nvSpPr>
        <p:spPr>
          <a:xfrm>
            <a:off x="566928" y="8595360"/>
            <a:ext cx="6428994" cy="1188720"/>
          </a:xfrm>
          <a:prstGeom prst="rect">
            <a:avLst/>
          </a:prstGeom>
          <a:noFill/>
        </p:spPr>
        <p:txBody>
          <a:bodyPr wrap="square" anchor="t" lIns="0" rIns="0" tIns="0" bIns="0">
            <a:spAutoFit/>
          </a:bodyPr>
          <a:lstStyle/>
          <a:p>
            <a:pPr algn="l">
              <a:lnSpc>
                <a:spcPct val="150000"/>
              </a:lnSpc>
              <a:spcBef>
                <a:spcPts val="0"/>
              </a:spcBef>
              <a:spcAft>
                <a:spcPts val="100"/>
              </a:spcAft>
            </a:pPr>
            <a:r>
              <a:rPr sz="900" b="0">
                <a:solidFill>
                  <a:srgbClr val="7A7060"/>
                </a:solidFill>
                <a:latin typeface="游ゴシック"/>
                <a:ea typeface="游ゴシック"/>
              </a:rPr>
              <a:t>※ 表示はすべて通常料金（税込）の目安です。鼻整形は自由診療（保険適用外）です。
※ 上記の手術料金とは別に、麻酔・術前検査・お薬代が必要です（上記「別途費用」参照）。
※ 月々は通常料金・60回払いの一例で、金利・支払回数により変動します。
※ 単体施術メニューは参考価格です。最新の料金・キャンペーンは @zetith_hane／院内にてご確認ください。</a:t>
            </a:r>
          </a:p>
        </p:txBody>
      </p:sp>
      <p:sp>
        <p:nvSpPr>
          <p:cNvPr id="24" name="TextBox 23"/>
          <p:cNvSpPr txBox="1"/>
          <p:nvPr/>
        </p:nvSpPr>
        <p:spPr>
          <a:xfrm>
            <a:off x="566928" y="10304590"/>
            <a:ext cx="4500295" cy="182880"/>
          </a:xfrm>
          <a:prstGeom prst="rect">
            <a:avLst/>
          </a:prstGeom>
          <a:noFill/>
        </p:spPr>
        <p:txBody>
          <a:bodyPr wrap="square" anchor="t" lIns="0" rIns="0" tIns="0" bIns="0">
            <a:spAutoFit/>
          </a:bodyPr>
          <a:lstStyle/>
          <a:p>
            <a:pPr algn="l">
              <a:lnSpc>
                <a:spcPct val="115000"/>
              </a:lnSpc>
              <a:spcBef>
                <a:spcPts val="0"/>
              </a:spcBef>
              <a:spcAft>
                <a:spcPts val="100"/>
              </a:spcAft>
            </a:pPr>
            <a:r>
              <a:rPr sz="750" b="0">
                <a:solidFill>
                  <a:srgbClr val="7A7060"/>
                </a:solidFill>
                <a:latin typeface="游ゴシック"/>
                <a:ea typeface="游ゴシック"/>
              </a:rPr>
              <a:t>鼻整形 デザインカタログ｜料金プラン</a:t>
            </a:r>
          </a:p>
        </p:txBody>
      </p:sp>
      <p:sp>
        <p:nvSpPr>
          <p:cNvPr id="25" name="TextBox 24"/>
          <p:cNvSpPr txBox="1"/>
          <p:nvPr/>
        </p:nvSpPr>
        <p:spPr>
          <a:xfrm>
            <a:off x="5715762" y="10304590"/>
            <a:ext cx="1280160" cy="182880"/>
          </a:xfrm>
          <a:prstGeom prst="rect">
            <a:avLst/>
          </a:prstGeom>
          <a:noFill/>
        </p:spPr>
        <p:txBody>
          <a:bodyPr wrap="square" anchor="t" lIns="0" rIns="0" tIns="0" bIns="0">
            <a:spAutoFit/>
          </a:bodyPr>
          <a:lstStyle/>
          <a:p>
            <a:pPr algn="r">
              <a:lnSpc>
                <a:spcPct val="115000"/>
              </a:lnSpc>
              <a:spcBef>
                <a:spcPts val="0"/>
              </a:spcBef>
              <a:spcAft>
                <a:spcPts val="100"/>
              </a:spcAft>
            </a:pPr>
            <a:r>
              <a:rPr sz="750" b="0">
                <a:solidFill>
                  <a:srgbClr val="7A7060"/>
                </a:solidFill>
                <a:latin typeface="游ゴシック"/>
                <a:ea typeface="游ゴシック"/>
              </a:rPr>
              <a:t>Zetith Beauty Clinic Fukuoka</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8624"/>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RESERVATION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ご予約・ご相談</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27</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91640"/>
            <a:ext cx="6428994" cy="731520"/>
          </a:xfrm>
          <a:prstGeom prst="rect">
            <a:avLst/>
          </a:prstGeom>
          <a:noFill/>
        </p:spPr>
        <p:txBody>
          <a:bodyPr wrap="square" lIns="0" tIns="0" rIns="0" bIns="0" anchor="t">
            <a:spAutoFit/>
          </a:bodyPr>
          <a:lstStyle/>
          <a:p>
            <a:pPr algn="l">
              <a:lnSpc>
                <a:spcPct val="160000"/>
              </a:lnSpc>
              <a:spcBef>
                <a:spcPts val="0"/>
              </a:spcBef>
              <a:spcAft>
                <a:spcPts val="200"/>
              </a:spcAft>
            </a:pPr>
            <a:r>
              <a:rPr sz="1200" b="0">
                <a:solidFill>
                  <a:srgbClr val="3A3326"/>
                </a:solidFill>
                <a:latin typeface="游明朝"/>
                <a:ea typeface="游明朝"/>
              </a:rPr>
              <a:t>本日はカウンセリングへお越しいただき、ありがとうございました。ご自宅でゆっくり見比べて、納得してからお決めください。気になることは、いつでもDMでお気軽にご質問ください。</a:t>
            </a:r>
          </a:p>
        </p:txBody>
      </p:sp>
      <p:sp>
        <p:nvSpPr>
          <p:cNvPr id="8" name="Rounded Rectangle 7"/>
          <p:cNvSpPr/>
          <p:nvPr/>
        </p:nvSpPr>
        <p:spPr>
          <a:xfrm>
            <a:off x="566928" y="288036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88036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306324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DMで個別相談OK</a:t>
            </a:r>
          </a:p>
        </p:txBody>
      </p:sp>
      <p:sp>
        <p:nvSpPr>
          <p:cNvPr id="11" name="TextBox 10"/>
          <p:cNvSpPr txBox="1"/>
          <p:nvPr/>
        </p:nvSpPr>
        <p:spPr>
          <a:xfrm>
            <a:off x="841248" y="348386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カウンセリングで気になったこと・聞きそびれたことは、InstagramのDMで個別にお答えします。</a:t>
            </a:r>
          </a:p>
        </p:txBody>
      </p:sp>
      <p:sp>
        <p:nvSpPr>
          <p:cNvPr id="12" name="Rounded Rectangle 11"/>
          <p:cNvSpPr/>
          <p:nvPr/>
        </p:nvSpPr>
        <p:spPr>
          <a:xfrm>
            <a:off x="3918585" y="288036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918585" y="288036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192905" y="306324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術後もDMでフォロー</a:t>
            </a:r>
          </a:p>
        </p:txBody>
      </p:sp>
      <p:sp>
        <p:nvSpPr>
          <p:cNvPr id="15" name="TextBox 14"/>
          <p:cNvSpPr txBox="1"/>
          <p:nvPr/>
        </p:nvSpPr>
        <p:spPr>
          <a:xfrm>
            <a:off x="4192905" y="348386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手術のあとも、経過やお悩みのご相談はDMでいつでもご連絡ください。</a:t>
            </a:r>
          </a:p>
        </p:txBody>
      </p:sp>
      <p:sp>
        <p:nvSpPr>
          <p:cNvPr id="16" name="Rounded Rectangle 15"/>
          <p:cNvSpPr/>
          <p:nvPr/>
        </p:nvSpPr>
        <p:spPr>
          <a:xfrm>
            <a:off x="566928" y="406908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66928" y="406908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41248" y="425196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ご予約・手術日の調整</a:t>
            </a:r>
          </a:p>
        </p:txBody>
      </p:sp>
      <p:sp>
        <p:nvSpPr>
          <p:cNvPr id="19" name="TextBox 18"/>
          <p:cNvSpPr txBox="1"/>
          <p:nvPr/>
        </p:nvSpPr>
        <p:spPr>
          <a:xfrm>
            <a:off x="841248" y="467258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WEB・LINE・お電話で。カウンセリング優先でご案内します。</a:t>
            </a:r>
          </a:p>
        </p:txBody>
      </p:sp>
      <p:sp>
        <p:nvSpPr>
          <p:cNvPr id="20" name="Rounded Rectangle 19"/>
          <p:cNvSpPr/>
          <p:nvPr/>
        </p:nvSpPr>
        <p:spPr>
          <a:xfrm>
            <a:off x="3918585" y="406908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3918585" y="406908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192905" y="425196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迷ったら、もう一度</a:t>
            </a:r>
          </a:p>
        </p:txBody>
      </p:sp>
      <p:sp>
        <p:nvSpPr>
          <p:cNvPr id="23" name="TextBox 22"/>
          <p:cNvSpPr txBox="1"/>
          <p:nvPr/>
        </p:nvSpPr>
        <p:spPr>
          <a:xfrm>
            <a:off x="4192905" y="467258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ご家族との相談・再カウンセリングも歓迎。納得が、ベストなタイミングです。</a:t>
            </a:r>
          </a:p>
        </p:txBody>
      </p:sp>
      <p:sp>
        <p:nvSpPr>
          <p:cNvPr id="24" name="Rounded Rectangle 23"/>
          <p:cNvSpPr/>
          <p:nvPr/>
        </p:nvSpPr>
        <p:spPr>
          <a:xfrm>
            <a:off x="566928" y="5532120"/>
            <a:ext cx="6428994" cy="3154680"/>
          </a:xfrm>
          <a:prstGeom prst="round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24128" y="5852160"/>
            <a:ext cx="3685794" cy="365760"/>
          </a:xfrm>
          <a:prstGeom prst="rect">
            <a:avLst/>
          </a:prstGeom>
          <a:noFill/>
        </p:spPr>
        <p:txBody>
          <a:bodyPr wrap="square" lIns="0" tIns="0" rIns="0" bIns="0" anchor="t">
            <a:spAutoFit/>
          </a:bodyPr>
          <a:lstStyle/>
          <a:p>
            <a:pPr algn="l">
              <a:lnSpc>
                <a:spcPct val="112000"/>
              </a:lnSpc>
              <a:spcBef>
                <a:spcPts val="0"/>
              </a:spcBef>
              <a:spcAft>
                <a:spcPts val="200"/>
              </a:spcAft>
            </a:pPr>
            <a:r>
              <a:rPr sz="1800" b="1">
                <a:solidFill>
                  <a:srgbClr val="FFFFFF"/>
                </a:solidFill>
                <a:latin typeface="游明朝"/>
                <a:ea typeface="游明朝"/>
              </a:rPr>
              <a:t>ご予約・ご相談</a:t>
            </a:r>
          </a:p>
        </p:txBody>
      </p:sp>
      <p:sp>
        <p:nvSpPr>
          <p:cNvPr id="26" name="TextBox 25"/>
          <p:cNvSpPr txBox="1"/>
          <p:nvPr/>
        </p:nvSpPr>
        <p:spPr>
          <a:xfrm>
            <a:off x="1024128" y="6446520"/>
            <a:ext cx="3502914" cy="1243225"/>
          </a:xfrm>
          <a:prstGeom prst="rect">
            <a:avLst/>
          </a:prstGeom>
          <a:noFill/>
        </p:spPr>
        <p:txBody>
          <a:bodyPr wrap="square" lIns="0" tIns="0" rIns="0" bIns="0" anchor="t">
            <a:spAutoFit/>
          </a:bodyPr>
          <a:lstStyle/>
          <a:p>
            <a:pPr algn="l">
              <a:lnSpc>
                <a:spcPct val="145000"/>
              </a:lnSpc>
              <a:spcBef>
                <a:spcPts val="0"/>
              </a:spcBef>
              <a:spcAft>
                <a:spcPts val="200"/>
              </a:spcAft>
            </a:pPr>
            <a:r>
              <a:rPr sz="1100" b="1" dirty="0">
                <a:solidFill>
                  <a:srgbClr val="B0934E"/>
                </a:solidFill>
                <a:latin typeface="游ゴシック"/>
                <a:ea typeface="游ゴシック"/>
              </a:rPr>
              <a:t>Instagram</a:t>
            </a:r>
          </a:p>
          <a:p>
            <a:pPr algn="l">
              <a:lnSpc>
                <a:spcPct val="145000"/>
              </a:lnSpc>
              <a:spcBef>
                <a:spcPts val="0"/>
              </a:spcBef>
              <a:spcAft>
                <a:spcPts val="200"/>
              </a:spcAft>
            </a:pPr>
            <a:r>
              <a:rPr sz="1500" b="1" dirty="0">
                <a:solidFill>
                  <a:srgbClr val="FFFFFF"/>
                </a:solidFill>
                <a:latin typeface="游明朝"/>
                <a:ea typeface="游明朝"/>
              </a:rPr>
              <a:t>@</a:t>
            </a:r>
            <a:r>
              <a:rPr sz="1500" b="1" dirty="0" err="1">
                <a:solidFill>
                  <a:srgbClr val="FFFFFF"/>
                </a:solidFill>
                <a:latin typeface="游明朝"/>
                <a:ea typeface="游明朝"/>
              </a:rPr>
              <a:t>zetith_hane</a:t>
            </a:r>
            <a:endParaRPr sz="1500" b="1" dirty="0">
              <a:solidFill>
                <a:srgbClr val="FFFFFF"/>
              </a:solidFill>
              <a:latin typeface="游明朝"/>
              <a:ea typeface="游明朝"/>
            </a:endParaRPr>
          </a:p>
          <a:p>
            <a:pPr algn="l">
              <a:lnSpc>
                <a:spcPct val="145000"/>
              </a:lnSpc>
              <a:spcBef>
                <a:spcPts val="0"/>
              </a:spcBef>
              <a:spcAft>
                <a:spcPts val="200"/>
              </a:spcAft>
            </a:pPr>
            <a:r>
              <a:rPr sz="500" b="0" dirty="0">
                <a:solidFill>
                  <a:srgbClr val="3A3326"/>
                </a:solidFill>
                <a:latin typeface="游ゴシック"/>
                <a:ea typeface="游ゴシック"/>
              </a:rPr>
              <a:t> </a:t>
            </a:r>
          </a:p>
          <a:p>
            <a:pPr algn="l">
              <a:lnSpc>
                <a:spcPct val="145000"/>
              </a:lnSpc>
              <a:spcBef>
                <a:spcPts val="0"/>
              </a:spcBef>
              <a:spcAft>
                <a:spcPts val="200"/>
              </a:spcAft>
            </a:pPr>
            <a:r>
              <a:rPr sz="1100" b="0" dirty="0" err="1">
                <a:solidFill>
                  <a:srgbClr val="FFFFFF"/>
                </a:solidFill>
                <a:latin typeface="游ゴシック"/>
                <a:ea typeface="游ゴシック"/>
              </a:rPr>
              <a:t>Zetith</a:t>
            </a:r>
            <a:r>
              <a:rPr sz="1100" b="0" dirty="0">
                <a:solidFill>
                  <a:srgbClr val="FFFFFF"/>
                </a:solidFill>
                <a:latin typeface="游ゴシック"/>
                <a:ea typeface="游ゴシック"/>
              </a:rPr>
              <a:t> Beauty Clinic </a:t>
            </a:r>
            <a:r>
              <a:rPr sz="1100" b="0" dirty="0" err="1">
                <a:solidFill>
                  <a:srgbClr val="FFFFFF"/>
                </a:solidFill>
                <a:latin typeface="游ゴシック"/>
                <a:ea typeface="游ゴシック"/>
              </a:rPr>
              <a:t>福岡院</a:t>
            </a:r>
            <a:endParaRPr sz="1100" b="0" dirty="0">
              <a:solidFill>
                <a:srgbClr val="FFFFFF"/>
              </a:solidFill>
              <a:latin typeface="游ゴシック"/>
              <a:ea typeface="游ゴシック"/>
            </a:endParaRPr>
          </a:p>
          <a:p>
            <a:pPr algn="l">
              <a:lnSpc>
                <a:spcPct val="145000"/>
              </a:lnSpc>
              <a:spcBef>
                <a:spcPts val="0"/>
              </a:spcBef>
              <a:spcAft>
                <a:spcPts val="200"/>
              </a:spcAft>
            </a:pPr>
            <a:r>
              <a:rPr sz="1000" b="0" dirty="0">
                <a:solidFill>
                  <a:srgbClr val="CBC1AD"/>
                </a:solidFill>
                <a:latin typeface="游ゴシック"/>
                <a:ea typeface="游ゴシック"/>
              </a:rPr>
              <a:t>天神駅より徒歩6分　／　Dr. </a:t>
            </a:r>
            <a:r>
              <a:rPr sz="1000" b="0" dirty="0" err="1">
                <a:solidFill>
                  <a:srgbClr val="CBC1AD"/>
                </a:solidFill>
                <a:latin typeface="游ゴシック"/>
                <a:ea typeface="游ゴシック"/>
              </a:rPr>
              <a:t>羽</a:t>
            </a:r>
            <a:r>
              <a:rPr lang="ja-JP" altLang="en-US" sz="1000" b="0">
                <a:solidFill>
                  <a:srgbClr val="CBC1AD"/>
                </a:solidFill>
                <a:latin typeface="游ゴシック"/>
                <a:ea typeface="游ゴシック"/>
              </a:rPr>
              <a:t>根</a:t>
            </a:r>
            <a:r>
              <a:rPr sz="1000" b="0" dirty="0">
                <a:solidFill>
                  <a:srgbClr val="CBC1AD"/>
                </a:solidFill>
                <a:latin typeface="游ゴシック"/>
                <a:ea typeface="游ゴシック"/>
              </a:rPr>
              <a:t> 和秀</a:t>
            </a:r>
          </a:p>
        </p:txBody>
      </p:sp>
      <p:sp>
        <p:nvSpPr>
          <p:cNvPr id="27" name="Rounded Rectangle 26"/>
          <p:cNvSpPr/>
          <p:nvPr/>
        </p:nvSpPr>
        <p:spPr>
          <a:xfrm>
            <a:off x="5167122" y="6035040"/>
            <a:ext cx="1463040" cy="1463040"/>
          </a:xfrm>
          <a:prstGeom prst="roundRect">
            <a:avLst/>
          </a:prstGeom>
          <a:solidFill>
            <a:srgbClr val="FFFFFF"/>
          </a:solidFill>
          <a:ln w="1270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1024128" y="7772400"/>
            <a:ext cx="2286000" cy="50292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024128" y="7772400"/>
            <a:ext cx="2286000" cy="502920"/>
          </a:xfrm>
          <a:prstGeom prst="rect">
            <a:avLst/>
          </a:prstGeom>
          <a:noFill/>
        </p:spPr>
        <p:txBody>
          <a:bodyPr wrap="square" lIns="0" tIns="0" rIns="0" bIns="0" anchor="ctr">
            <a:spAutoFit/>
          </a:bodyPr>
          <a:lstStyle/>
          <a:p>
            <a:pPr algn="ctr">
              <a:lnSpc>
                <a:spcPct val="112000"/>
              </a:lnSpc>
              <a:spcBef>
                <a:spcPts val="0"/>
              </a:spcBef>
              <a:spcAft>
                <a:spcPts val="200"/>
              </a:spcAft>
            </a:pPr>
            <a:r>
              <a:rPr sz="1200" b="1">
                <a:solidFill>
                  <a:srgbClr val="FFFFFF"/>
                </a:solidFill>
                <a:latin typeface="游ゴシック"/>
                <a:ea typeface="游ゴシック"/>
              </a:rPr>
              <a:t>WEB / LINEで予約する</a:t>
            </a:r>
          </a:p>
        </p:txBody>
      </p:sp>
      <p:sp>
        <p:nvSpPr>
          <p:cNvPr id="31" name="Rounded Rectangle 30"/>
          <p:cNvSpPr/>
          <p:nvPr/>
        </p:nvSpPr>
        <p:spPr>
          <a:xfrm>
            <a:off x="3447288" y="7772400"/>
            <a:ext cx="2286000" cy="502920"/>
          </a:xfrm>
          <a:prstGeom prst="roundRect">
            <a:avLst/>
          </a:prstGeom>
          <a:solidFill>
            <a:srgbClr val="26221B"/>
          </a:solidFill>
          <a:ln w="1270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447288" y="7772400"/>
            <a:ext cx="2286000" cy="502920"/>
          </a:xfrm>
          <a:prstGeom prst="rect">
            <a:avLst/>
          </a:prstGeom>
          <a:noFill/>
        </p:spPr>
        <p:txBody>
          <a:bodyPr wrap="square" lIns="0" tIns="0" rIns="0" bIns="0" anchor="ctr">
            <a:spAutoFit/>
          </a:bodyPr>
          <a:lstStyle/>
          <a:p>
            <a:pPr algn="ctr">
              <a:lnSpc>
                <a:spcPct val="112000"/>
              </a:lnSpc>
              <a:spcBef>
                <a:spcPts val="0"/>
              </a:spcBef>
              <a:spcAft>
                <a:spcPts val="200"/>
              </a:spcAft>
            </a:pPr>
            <a:r>
              <a:rPr sz="1100" b="1">
                <a:solidFill>
                  <a:srgbClr val="B0934E"/>
                </a:solidFill>
                <a:latin typeface="游ゴシック"/>
                <a:ea typeface="游ゴシック"/>
              </a:rPr>
              <a:t>カウンセリング優先案内</a:t>
            </a:r>
          </a:p>
        </p:txBody>
      </p:sp>
      <p:sp>
        <p:nvSpPr>
          <p:cNvPr id="33" name="TextBox 32"/>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デザインカタログ｜ご予約・ご相談</a:t>
            </a:r>
          </a:p>
        </p:txBody>
      </p:sp>
      <p:sp>
        <p:nvSpPr>
          <p:cNvPr id="34" name="TextBox 33"/>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pic>
        <p:nvPicPr>
          <p:cNvPr id="35" name="図プレースホルダー 37">
            <a:extLst>
              <a:ext uri="{FF2B5EF4-FFF2-40B4-BE49-F238E27FC236}">
                <a16:creationId xmlns:a16="http://schemas.microsoft.com/office/drawing/2014/main" id="{CA223DAF-B50D-079A-35CF-34ECEC4BB439}"/>
              </a:ext>
            </a:extLst>
          </p:cNvPr>
          <p:cNvPicPr>
            <a:picLocks noChangeAspect="1"/>
          </p:cNvPicPr>
          <p:nvPr/>
        </p:nvPicPr>
        <p:blipFill>
          <a:blip r:embed="rId2"/>
          <a:srcRect/>
          <a:stretch/>
        </p:blipFill>
        <p:spPr>
          <a:xfrm>
            <a:off x="5167122" y="6035040"/>
            <a:ext cx="1463040" cy="1463040"/>
          </a:xfrm>
          <a:prstGeom prst="roundRect">
            <a:avLst>
              <a:gd name="adj" fmla="val 2000"/>
            </a:avLst>
          </a:prstGeom>
          <a:solidFill>
            <a:srgbClr val="ECE4D4"/>
          </a:solidFill>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507</TotalTime>
  <Words>3661</Words>
  <Application>Microsoft Macintosh PowerPoint</Application>
  <PresentationFormat>ユーザー設定</PresentationFormat>
  <Paragraphs>661</Paragraphs>
  <Slides>28</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28</vt:i4>
      </vt:variant>
    </vt:vector>
  </HeadingPairs>
  <TitlesOfParts>
    <vt:vector size="33" baseType="lpstr">
      <vt:lpstr>游ゴシック</vt:lpstr>
      <vt:lpstr>游明朝</vt:lpstr>
      <vt:lpstr>Arial</vt:lpstr>
      <vt:lpstr>Calibri</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和秀 羽根</cp:lastModifiedBy>
  <cp:revision>15</cp:revision>
  <dcterms:created xsi:type="dcterms:W3CDTF">2013-01-27T09:14:16Z</dcterms:created>
  <dcterms:modified xsi:type="dcterms:W3CDTF">2026-06-08T15:22:14Z</dcterms:modified>
  <cp:category/>
</cp:coreProperties>
</file>