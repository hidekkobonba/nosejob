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70681"/>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a:t>
            </a:r>
            <a:r>
              <a:rPr sz="1400" b="0" dirty="0" err="1">
                <a:solidFill>
                  <a:srgbClr val="3A3326"/>
                </a:solidFill>
                <a:latin typeface="游明朝"/>
                <a:ea typeface="游明朝"/>
              </a:rPr>
              <a:t>自然さ”にこだわる</a:t>
            </a:r>
            <a:r>
              <a:rPr sz="1400" b="0" dirty="0">
                <a:solidFill>
                  <a:srgbClr val="3A3326"/>
                </a:solidFill>
                <a:latin typeface="游明朝"/>
                <a:ea typeface="游明朝"/>
              </a:rPr>
              <a:t>、</a:t>
            </a:r>
            <a:r>
              <a:rPr lang="ja-JP" altLang="en-US" sz="1400" b="0">
                <a:solidFill>
                  <a:srgbClr val="3A3326"/>
                </a:solidFill>
                <a:latin typeface="游明朝"/>
                <a:ea typeface="游明朝"/>
              </a:rPr>
              <a:t>クローズド法</a:t>
            </a:r>
            <a:r>
              <a:rPr sz="1400" b="0" dirty="0" err="1">
                <a:solidFill>
                  <a:srgbClr val="3A3326"/>
                </a:solidFill>
                <a:latin typeface="游明朝"/>
                <a:ea typeface="游明朝"/>
              </a:rPr>
              <a:t>の設計集</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457200"/>
          </a:xfrm>
          <a:prstGeom prst="rect">
            <a:avLst/>
          </a:prstGeom>
          <a:noFill/>
        </p:spPr>
        <p:txBody>
          <a:bodyPr wrap="square" lIns="0" tIns="0" rIns="0" bIns="0" anchor="t">
            <a:spAutoFit/>
          </a:bodyPr>
          <a:lstStyle/>
          <a:p>
            <a:pPr algn="ctr">
              <a:lnSpc>
                <a:spcPct val="110000"/>
              </a:lnSpc>
              <a:spcBef>
                <a:spcPts val="0"/>
              </a:spcBef>
              <a:spcAft>
                <a:spcPts val="200"/>
              </a:spcAft>
            </a:pPr>
            <a:r>
              <a:rPr sz="1250" b="1">
                <a:solidFill>
                  <a:srgbClr val="3A3326"/>
                </a:solidFill>
                <a:latin typeface="游明朝"/>
                <a:ea typeface="游明朝"/>
              </a:rPr>
              <a:t>Baby &amp; 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457200"/>
          </a:xfrm>
          <a:prstGeom prst="rect">
            <a:avLst/>
          </a:prstGeom>
          <a:noFill/>
        </p:spPr>
        <p:txBody>
          <a:bodyPr wrap="square" lIns="0" tIns="0" rIns="0" bIns="0" anchor="t">
            <a:spAutoFit/>
          </a:bodyPr>
          <a:lstStyle/>
          <a:p>
            <a:pPr algn="ctr">
              <a:lnSpc>
                <a:spcPct val="110000"/>
              </a:lnSpc>
              <a:spcBef>
                <a:spcPts val="0"/>
              </a:spcBef>
              <a:spcAft>
                <a:spcPts val="200"/>
              </a:spcAft>
            </a:pPr>
            <a:r>
              <a:rPr sz="1250" b="1">
                <a:solidFill>
                  <a:srgbClr val="3A3326"/>
                </a:solidFill>
                <a:latin typeface="游明朝"/>
                <a:ea typeface="游明朝"/>
              </a:rPr>
              <a:t>Elegant &amp; Straight</a:t>
            </a: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457200"/>
          </a:xfrm>
          <a:prstGeom prst="rect">
            <a:avLst/>
          </a:prstGeom>
          <a:noFill/>
        </p:spPr>
        <p:txBody>
          <a:bodyPr wrap="square" lIns="0" tIns="0" rIns="0" bIns="0" anchor="t">
            <a:spAutoFit/>
          </a:bodyPr>
          <a:lstStyle/>
          <a:p>
            <a:pPr algn="ctr">
              <a:lnSpc>
                <a:spcPct val="110000"/>
              </a:lnSpc>
              <a:spcBef>
                <a:spcPts val="0"/>
              </a:spcBef>
              <a:spcAft>
                <a:spcPts val="200"/>
              </a:spcAft>
            </a:pPr>
            <a:r>
              <a:rPr sz="1250" b="1">
                <a:solidFill>
                  <a:srgbClr val="3A3326"/>
                </a:solidFill>
                <a:latin typeface="游明朝"/>
                <a:ea typeface="游明朝"/>
              </a:rPr>
              <a:t>Dramatic &amp; 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で章立てし、各症例にはその仕上がりに最も近い「印象」を1つ表示しています。次ページの印象の説明と、巻頭の“印象×お悩みマトリクス”から、どちらの探し方でもご自身に近い症例に辿り着け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a:solidFill>
                  <a:srgbClr val="3A3326"/>
                </a:solidFill>
                <a:latin typeface="游ゴシック"/>
                <a:ea typeface="游ゴシック"/>
              </a:rPr>
              <a:t>⑤ ダウンタイム　</a:t>
            </a:r>
          </a:p>
          <a:p>
            <a:pPr algn="l">
              <a:lnSpc>
                <a:spcPct val="120000"/>
              </a:lnSpc>
              <a:spcBef>
                <a:spcPts val="0"/>
              </a:spcBef>
              <a:spcAft>
                <a:spcPts val="200"/>
              </a:spcAft>
            </a:pPr>
            <a:r>
              <a:rPr sz="930" b="0">
                <a:solidFill>
                  <a:srgbClr val="7A7060"/>
                </a:solidFill>
                <a:latin typeface="游ゴシック"/>
                <a:ea typeface="游ゴシック"/>
              </a:rPr>
              <a:t>腫れ・内出血が引くまでの目安</a:t>
            </a: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365760"/>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Baby &amp; 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365760"/>
          </a:xfrm>
          <a:prstGeom prst="rect">
            <a:avLst/>
          </a:prstGeom>
          <a:noFill/>
        </p:spPr>
        <p:txBody>
          <a:bodyPr wrap="square" lIns="0" tIns="0" rIns="0" bIns="0" anchor="t">
            <a:spAutoFit/>
          </a:bodyPr>
          <a:lstStyle/>
          <a:p>
            <a:pPr algn="l">
              <a:lnSpc>
                <a:spcPct val="112000"/>
              </a:lnSpc>
              <a:spcBef>
                <a:spcPts val="0"/>
              </a:spcBef>
              <a:spcAft>
                <a:spcPts val="200"/>
              </a:spcAft>
            </a:pPr>
            <a:r>
              <a:rPr sz="1700" b="1">
                <a:solidFill>
                  <a:srgbClr val="3A3326"/>
                </a:solidFill>
                <a:latin typeface="游明朝"/>
                <a:ea typeface="游明朝"/>
              </a:rPr>
              <a:t>Elegant &amp; Straight</a:t>
            </a: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余計な凹凸だけを整え、自然なストレートラインで“バレない”自然さに。</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365760"/>
          </a:xfrm>
          <a:prstGeom prst="rect">
            <a:avLst/>
          </a:prstGeom>
          <a:noFill/>
        </p:spPr>
        <p:txBody>
          <a:bodyPr wrap="square" lIns="0" tIns="0" rIns="0" bIns="0" anchor="t">
            <a:spAutoFit/>
          </a:bodyPr>
          <a:lstStyle/>
          <a:p>
            <a:pPr algn="l">
              <a:lnSpc>
                <a:spcPct val="112000"/>
              </a:lnSpc>
              <a:spcBef>
                <a:spcPts val="0"/>
              </a:spcBef>
              <a:spcAft>
                <a:spcPts val="200"/>
              </a:spcAft>
            </a:pPr>
            <a:r>
              <a:rPr sz="1700" b="1">
                <a:solidFill>
                  <a:srgbClr val="3A3326"/>
                </a:solidFill>
                <a:latin typeface="游明朝"/>
                <a:ea typeface="游明朝"/>
              </a:rPr>
              <a:t>Dramatic &amp; 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09174"/>
            <a:ext cx="5788914" cy="548640"/>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gridCol w="1542958"/>
                <a:gridCol w="1285798"/>
              </a:tblGrid>
              <a:tr h="370332">
                <a:tc>
                  <a:txBody>
                    <a:bodyPr wrap="square"/>
                    <a:lstStyle/>
                    <a:p>
                      <a:pPr algn="l"/>
                      <a:r>
                        <a:rPr sz="1100" b="1">
                          <a:solidFill>
                            <a:srgbClr val="FFFFFF"/>
                          </a:solidFill>
                          <a:latin typeface="游明朝"/>
                          <a:ea typeface="游明朝"/>
                        </a:rPr>
                        <a:t>お悩み（症例）</a:t>
                      </a:r>
                    </a:p>
                  </a:txBody>
                  <a:tcPr anchor="ctr" marL="80000" marR="60000" marT="15000" marB="15000">
                    <a:solidFill>
                      <a:srgbClr val="B0934E"/>
                    </a:solidFill>
                  </a:tcPr>
                </a:tc>
                <a:tc>
                  <a:txBody>
                    <a:bodyPr wrap="square"/>
                    <a:lstStyle/>
                    <a:p>
                      <a:pPr algn="ctr"/>
                      <a:r>
                        <a:rPr sz="1100" b="1">
                          <a:solidFill>
                            <a:srgbClr val="FFFFFF"/>
                          </a:solidFill>
                          <a:latin typeface="游明朝"/>
                          <a:ea typeface="游明朝"/>
                        </a:rPr>
                        <a:t>印象</a:t>
                      </a:r>
                    </a:p>
                  </a:txBody>
                  <a:tcPr anchor="ctr" marL="80000" marR="60000" marT="15000" marB="15000">
                    <a:solidFill>
                      <a:srgbClr val="B0934E"/>
                    </a:solidFill>
                  </a:tcPr>
                </a:tc>
                <a:tc>
                  <a:txBody>
                    <a:bodyPr wrap="square"/>
                    <a:lstStyle/>
                    <a:p>
                      <a:pPr algn="ctr"/>
                      <a:r>
                        <a:rPr sz="1100" b="1">
                          <a:solidFill>
                            <a:srgbClr val="FFFFFF"/>
                          </a:solidFill>
                          <a:latin typeface="游明朝"/>
                          <a:ea typeface="游明朝"/>
                        </a:rPr>
                        <a:t>ページ</a:t>
                      </a:r>
                    </a:p>
                  </a:txBody>
                  <a:tcPr anchor="ctr" marL="80000" marR="60000" marT="15000" marB="15000">
                    <a:solidFill>
                      <a:srgbClr val="B0934E"/>
                    </a:solidFill>
                  </a:tcPr>
                </a:tc>
              </a:tr>
              <a:tr h="370332">
                <a:tc gridSpan="3">
                  <a:txBody>
                    <a:bodyPr wrap="square"/>
                    <a:lstStyle/>
                    <a:p>
                      <a:pPr algn="l"/>
                      <a:r>
                        <a:rPr sz="1150" b="1">
                          <a:solidFill>
                            <a:srgbClr val="8C7339"/>
                          </a:solidFill>
                          <a:latin typeface="游明朝"/>
                          <a:ea typeface="游明朝"/>
                        </a:rPr>
                        <a:t>■ 鼻先</a:t>
                      </a:r>
                    </a:p>
                  </a:txBody>
                  <a:tcPr anchor="ctr" marL="80000" marR="60000" marT="15000" marB="15000">
                    <a:solidFill>
                      <a:srgbClr val="EFE7D4"/>
                    </a:solidFill>
                  </a:tcPr>
                </a:tc>
                <a:tc hMerge="1">
                  <a:txBody>
                    <a:bodyPr/>
                    <a:lstStyle/>
                    <a:p/>
                  </a:txBody>
                  <a:tcPr/>
                </a:tc>
                <a:tc hMerge="1">
                  <a:txBody>
                    <a:bodyPr/>
                    <a:lstStyle/>
                    <a:p/>
                  </a:txBody>
                  <a:tcPr/>
                </a:tc>
              </a:tr>
              <a:tr h="370332">
                <a:tc>
                  <a:txBody>
                    <a:bodyPr wrap="square"/>
                    <a:lstStyle/>
                    <a:p>
                      <a:pPr algn="l"/>
                      <a:r>
                        <a:rPr sz="1100" b="0">
                          <a:solidFill>
                            <a:srgbClr val="3A3326"/>
                          </a:solidFill>
                          <a:latin typeface="游ゴシック"/>
                          <a:ea typeface="游ゴシック"/>
                        </a:rPr>
                        <a:t>団子鼻</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華やか</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P05</a:t>
                      </a:r>
                    </a:p>
                  </a:txBody>
                  <a:tcPr anchor="ctr" marL="80000" marR="60000" marT="15000" marB="15000">
                    <a:solidFill>
                      <a:srgbClr val="FDFBF6"/>
                    </a:solidFill>
                  </a:tcPr>
                </a:tc>
              </a:tr>
              <a:tr h="370332">
                <a:tc>
                  <a:txBody>
                    <a:bodyPr wrap="square"/>
                    <a:lstStyle/>
                    <a:p>
                      <a:pPr algn="l"/>
                      <a:r>
                        <a:rPr sz="1100" b="0">
                          <a:solidFill>
                            <a:srgbClr val="3A3326"/>
                          </a:solidFill>
                          <a:latin typeface="游ゴシック"/>
                          <a:ea typeface="游ゴシック"/>
                        </a:rPr>
                        <a:t>鼻先の丸み</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可愛い</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P06</a:t>
                      </a:r>
                    </a:p>
                  </a:txBody>
                  <a:tcPr anchor="ctr" marL="80000" marR="60000" marT="15000" marB="15000">
                    <a:solidFill>
                      <a:srgbClr val="FDFBF6"/>
                    </a:solidFill>
                  </a:tcPr>
                </a:tc>
              </a:tr>
              <a:tr h="370332">
                <a:tc>
                  <a:txBody>
                    <a:bodyPr wrap="square"/>
                    <a:lstStyle/>
                    <a:p>
                      <a:pPr algn="l"/>
                      <a:r>
                        <a:rPr sz="1100" b="0">
                          <a:solidFill>
                            <a:srgbClr val="3A3326"/>
                          </a:solidFill>
                          <a:latin typeface="游ゴシック"/>
                          <a:ea typeface="游ゴシック"/>
                        </a:rPr>
                        <a:t>鼻先の大きさ</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P07</a:t>
                      </a:r>
                    </a:p>
                  </a:txBody>
                  <a:tcPr anchor="ctr" marL="80000" marR="60000" marT="15000" marB="15000">
                    <a:solidFill>
                      <a:srgbClr val="FDFBF6"/>
                    </a:solidFill>
                  </a:tcPr>
                </a:tc>
              </a:tr>
              <a:tr h="370332">
                <a:tc gridSpan="3">
                  <a:txBody>
                    <a:bodyPr wrap="square"/>
                    <a:lstStyle/>
                    <a:p>
                      <a:pPr algn="l"/>
                      <a:r>
                        <a:rPr sz="1150" b="1">
                          <a:solidFill>
                            <a:srgbClr val="8C7339"/>
                          </a:solidFill>
                          <a:latin typeface="游明朝"/>
                          <a:ea typeface="游明朝"/>
                        </a:rPr>
                        <a:t>■ 鼻筋</a:t>
                      </a:r>
                    </a:p>
                  </a:txBody>
                  <a:tcPr anchor="ctr" marL="80000" marR="60000" marT="15000" marB="15000">
                    <a:solidFill>
                      <a:srgbClr val="EFE7D4"/>
                    </a:solidFill>
                  </a:tcPr>
                </a:tc>
                <a:tc hMerge="1">
                  <a:txBody>
                    <a:bodyPr/>
                    <a:lstStyle/>
                    <a:p/>
                  </a:txBody>
                  <a:tcPr/>
                </a:tc>
                <a:tc hMerge="1">
                  <a:txBody>
                    <a:bodyPr/>
                    <a:lstStyle/>
                    <a:p/>
                  </a:txBody>
                  <a:tcPr/>
                </a:tc>
              </a:tr>
              <a:tr h="370332">
                <a:tc>
                  <a:txBody>
                    <a:bodyPr wrap="square"/>
                    <a:lstStyle/>
                    <a:p>
                      <a:pPr algn="l"/>
                      <a:r>
                        <a:rPr sz="1100" b="0">
                          <a:solidFill>
                            <a:srgbClr val="3A3326"/>
                          </a:solidFill>
                          <a:latin typeface="游ゴシック"/>
                          <a:ea typeface="游ゴシック"/>
                        </a:rPr>
                        <a:t>鼻筋の低さ</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華やか</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P09</a:t>
                      </a:r>
                    </a:p>
                  </a:txBody>
                  <a:tcPr anchor="ctr" marL="80000" marR="60000" marT="15000" marB="15000">
                    <a:solidFill>
                      <a:srgbClr val="FDFBF6"/>
                    </a:solidFill>
                  </a:tcPr>
                </a:tc>
              </a:tr>
              <a:tr h="370332">
                <a:tc>
                  <a:txBody>
                    <a:bodyPr wrap="square"/>
                    <a:lstStyle/>
                    <a:p>
                      <a:pPr algn="l"/>
                      <a:r>
                        <a:rPr sz="1100" b="0">
                          <a:solidFill>
                            <a:srgbClr val="3A3326"/>
                          </a:solidFill>
                          <a:latin typeface="游ゴシック"/>
                          <a:ea typeface="游ゴシック"/>
                        </a:rPr>
                        <a:t>わし鼻</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華やか</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P10</a:t>
                      </a:r>
                    </a:p>
                  </a:txBody>
                  <a:tcPr anchor="ctr" marL="80000" marR="60000" marT="15000" marB="15000">
                    <a:solidFill>
                      <a:srgbClr val="FDFBF6"/>
                    </a:solidFill>
                  </a:tcPr>
                </a:tc>
              </a:tr>
              <a:tr h="370332">
                <a:tc>
                  <a:txBody>
                    <a:bodyPr wrap="square"/>
                    <a:lstStyle/>
                    <a:p>
                      <a:pPr algn="l"/>
                      <a:r>
                        <a:rPr sz="1100" b="0">
                          <a:solidFill>
                            <a:srgbClr val="3A3326"/>
                          </a:solidFill>
                          <a:latin typeface="游ゴシック"/>
                          <a:ea typeface="游ゴシック"/>
                        </a:rPr>
                        <a:t>鼻筋の太さ</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華やか</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P11</a:t>
                      </a:r>
                    </a:p>
                  </a:txBody>
                  <a:tcPr anchor="ctr" marL="80000" marR="60000" marT="15000" marB="15000">
                    <a:solidFill>
                      <a:srgbClr val="FDFBF6"/>
                    </a:solidFill>
                  </a:tcPr>
                </a:tc>
              </a:tr>
              <a:tr h="370332">
                <a:tc gridSpan="3">
                  <a:txBody>
                    <a:bodyPr wrap="square"/>
                    <a:lstStyle/>
                    <a:p>
                      <a:pPr algn="l"/>
                      <a:r>
                        <a:rPr sz="1150" b="1">
                          <a:solidFill>
                            <a:srgbClr val="8C7339"/>
                          </a:solidFill>
                          <a:latin typeface="游明朝"/>
                          <a:ea typeface="游明朝"/>
                        </a:rPr>
                        <a:t>■ 小鼻・鼻の穴</a:t>
                      </a:r>
                    </a:p>
                  </a:txBody>
                  <a:tcPr anchor="ctr" marL="80000" marR="60000" marT="15000" marB="15000">
                    <a:solidFill>
                      <a:srgbClr val="EFE7D4"/>
                    </a:solidFill>
                  </a:tcPr>
                </a:tc>
                <a:tc hMerge="1">
                  <a:txBody>
                    <a:bodyPr/>
                    <a:lstStyle/>
                    <a:p/>
                  </a:txBody>
                  <a:tcPr/>
                </a:tc>
                <a:tc hMerge="1">
                  <a:txBody>
                    <a:bodyPr/>
                    <a:lstStyle/>
                    <a:p/>
                  </a:txBody>
                  <a:tcPr/>
                </a:tc>
              </a:tr>
              <a:tr h="370332">
                <a:tc>
                  <a:txBody>
                    <a:bodyPr wrap="square"/>
                    <a:lstStyle/>
                    <a:p>
                      <a:pPr algn="l"/>
                      <a:r>
                        <a:rPr sz="1100" b="0">
                          <a:solidFill>
                            <a:srgbClr val="3A3326"/>
                          </a:solidFill>
                          <a:latin typeface="游ゴシック"/>
                          <a:ea typeface="游ゴシック"/>
                        </a:rPr>
                        <a:t>小鼻の大きさ</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P13</a:t>
                      </a:r>
                    </a:p>
                  </a:txBody>
                  <a:tcPr anchor="ctr" marL="80000" marR="60000" marT="15000" marB="15000">
                    <a:solidFill>
                      <a:srgbClr val="FDFBF6"/>
                    </a:solidFill>
                  </a:tcPr>
                </a:tc>
              </a:tr>
              <a:tr h="370332">
                <a:tc>
                  <a:txBody>
                    <a:bodyPr wrap="square"/>
                    <a:lstStyle/>
                    <a:p>
                      <a:pPr algn="l"/>
                      <a:r>
                        <a:rPr sz="1100" b="0">
                          <a:solidFill>
                            <a:srgbClr val="3A3326"/>
                          </a:solidFill>
                          <a:latin typeface="游ゴシック"/>
                          <a:ea typeface="游ゴシック"/>
                        </a:rPr>
                        <a:t>鼻の穴が目立つ</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P14</a:t>
                      </a:r>
                    </a:p>
                  </a:txBody>
                  <a:tcPr anchor="ctr" marL="80000" marR="60000" marT="15000" marB="15000">
                    <a:solidFill>
                      <a:srgbClr val="FDFBF6"/>
                    </a:solidFill>
                  </a:tcPr>
                </a:tc>
              </a:tr>
              <a:tr h="370332">
                <a:tc>
                  <a:txBody>
                    <a:bodyPr wrap="square"/>
                    <a:lstStyle/>
                    <a:p>
                      <a:pPr algn="l"/>
                      <a:r>
                        <a:rPr sz="1100" b="0">
                          <a:solidFill>
                            <a:srgbClr val="3A3326"/>
                          </a:solidFill>
                          <a:latin typeface="游ゴシック"/>
                          <a:ea typeface="游ゴシック"/>
                        </a:rPr>
                        <a:t>肉厚鼻</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P15</a:t>
                      </a:r>
                    </a:p>
                  </a:txBody>
                  <a:tcPr anchor="ctr" marL="80000" marR="60000" marT="15000" marB="15000">
                    <a:solidFill>
                      <a:srgbClr val="FDFBF6"/>
                    </a:solidFill>
                  </a:tcPr>
                </a:tc>
              </a:tr>
              <a:tr h="370332">
                <a:tc gridSpan="3">
                  <a:txBody>
                    <a:bodyPr wrap="square"/>
                    <a:lstStyle/>
                    <a:p>
                      <a:pPr algn="l"/>
                      <a:r>
                        <a:rPr sz="1150" b="1">
                          <a:solidFill>
                            <a:srgbClr val="8C7339"/>
                          </a:solidFill>
                          <a:latin typeface="游明朝"/>
                          <a:ea typeface="游明朝"/>
                        </a:rPr>
                        <a:t>■ 全体・横顔</a:t>
                      </a:r>
                    </a:p>
                  </a:txBody>
                  <a:tcPr anchor="ctr" marL="80000" marR="60000" marT="15000" marB="15000">
                    <a:solidFill>
                      <a:srgbClr val="EFE7D4"/>
                    </a:solidFill>
                  </a:tcPr>
                </a:tc>
                <a:tc hMerge="1">
                  <a:txBody>
                    <a:bodyPr/>
                    <a:lstStyle/>
                    <a:p/>
                  </a:txBody>
                  <a:tcPr/>
                </a:tc>
                <a:tc hMerge="1">
                  <a:txBody>
                    <a:bodyPr/>
                    <a:lstStyle/>
                    <a:p/>
                  </a:txBody>
                  <a:tcPr/>
                </a:tc>
              </a:tr>
              <a:tr h="370332">
                <a:tc>
                  <a:txBody>
                    <a:bodyPr wrap="square"/>
                    <a:lstStyle/>
                    <a:p>
                      <a:pPr algn="l"/>
                      <a:r>
                        <a:rPr sz="1100" b="0">
                          <a:solidFill>
                            <a:srgbClr val="3A3326"/>
                          </a:solidFill>
                          <a:latin typeface="游ゴシック"/>
                          <a:ea typeface="游ゴシック"/>
                        </a:rPr>
                        <a:t>Eラインを整えたい</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P17</a:t>
                      </a:r>
                    </a:p>
                  </a:txBody>
                  <a:tcPr anchor="ctr" marL="80000" marR="60000" marT="15000" marB="15000">
                    <a:solidFill>
                      <a:srgbClr val="FDFBF6"/>
                    </a:solidFill>
                  </a:tcPr>
                </a:tc>
              </a:tr>
              <a:tr h="370332">
                <a:tc>
                  <a:txBody>
                    <a:bodyPr wrap="square"/>
                    <a:lstStyle/>
                    <a:p>
                      <a:pPr algn="l"/>
                      <a:r>
                        <a:rPr sz="1100" b="0">
                          <a:solidFill>
                            <a:srgbClr val="3A3326"/>
                          </a:solidFill>
                          <a:latin typeface="游ゴシック"/>
                          <a:ea typeface="游ゴシック"/>
                        </a:rPr>
                        <a:t>鼻を高くしたい</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華やか</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P18</a:t>
                      </a:r>
                    </a:p>
                  </a:txBody>
                  <a:tcPr anchor="ctr" marL="80000" marR="60000" marT="15000" marB="15000">
                    <a:solidFill>
                      <a:srgbClr val="FDFBF6"/>
                    </a:solidFill>
                  </a:tcPr>
                </a:tc>
              </a:tr>
              <a:tr h="370332">
                <a:tc>
                  <a:txBody>
                    <a:bodyPr wrap="square"/>
                    <a:lstStyle/>
                    <a:p>
                      <a:pPr algn="l"/>
                      <a:r>
                        <a:rPr sz="1100" b="0">
                          <a:solidFill>
                            <a:srgbClr val="3A3326"/>
                          </a:solidFill>
                          <a:latin typeface="游ゴシック"/>
                          <a:ea typeface="游ゴシック"/>
                        </a:rPr>
                        <a:t>忘れ鼻になりたい</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P19</a:t>
                      </a:r>
                    </a:p>
                  </a:txBody>
                  <a:tcPr anchor="ctr" marL="80000" marR="60000" marT="15000" marB="15000">
                    <a:solidFill>
                      <a:srgbClr val="FDFBF6"/>
                    </a:solidFill>
                  </a:tcPr>
                </a:tc>
              </a:tr>
              <a:tr h="370332">
                <a:tc gridSpan="3">
                  <a:txBody>
                    <a:bodyPr wrap="square"/>
                    <a:lstStyle/>
                    <a:p>
                      <a:pPr algn="l"/>
                      <a:r>
                        <a:rPr sz="1150" b="1">
                          <a:solidFill>
                            <a:srgbClr val="8C7339"/>
                          </a:solidFill>
                          <a:latin typeface="游明朝"/>
                          <a:ea typeface="游明朝"/>
                        </a:rPr>
                        <a:t>■ 専門・修正</a:t>
                      </a:r>
                    </a:p>
                  </a:txBody>
                  <a:tcPr anchor="ctr" marL="80000" marR="60000" marT="15000" marB="15000">
                    <a:solidFill>
                      <a:srgbClr val="EFE7D4"/>
                    </a:solidFill>
                  </a:tcPr>
                </a:tc>
                <a:tc hMerge="1">
                  <a:txBody>
                    <a:bodyPr/>
                    <a:lstStyle/>
                    <a:p/>
                  </a:txBody>
                  <a:tcPr/>
                </a:tc>
                <a:tc hMerge="1">
                  <a:txBody>
                    <a:bodyPr/>
                    <a:lstStyle/>
                    <a:p/>
                  </a:txBody>
                  <a:tcPr/>
                </a:tc>
              </a:tr>
              <a:tr h="370332">
                <a:tc>
                  <a:txBody>
                    <a:bodyPr wrap="square"/>
                    <a:lstStyle/>
                    <a:p>
                      <a:pPr algn="l"/>
                      <a:r>
                        <a:rPr sz="1100" b="0">
                          <a:solidFill>
                            <a:srgbClr val="3A3326"/>
                          </a:solidFill>
                          <a:latin typeface="游ゴシック"/>
                          <a:ea typeface="游ゴシック"/>
                        </a:rPr>
                        <a:t>拘縮鼻の修正</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P21</a:t>
                      </a:r>
                    </a:p>
                  </a:txBody>
                  <a:tcPr anchor="ctr" marL="80000" marR="60000" marT="15000" marB="15000">
                    <a:solidFill>
                      <a:srgbClr val="FDFBF6"/>
                    </a:solidFill>
                  </a:tcPr>
                </a:tc>
              </a:tr>
              <a:tr h="370332">
                <a:tc>
                  <a:txBody>
                    <a:bodyPr wrap="square"/>
                    <a:lstStyle/>
                    <a:p>
                      <a:pPr algn="l"/>
                      <a:r>
                        <a:rPr sz="1100" b="0">
                          <a:solidFill>
                            <a:srgbClr val="3A3326"/>
                          </a:solidFill>
                          <a:latin typeface="游ゴシック"/>
                          <a:ea typeface="游ゴシック"/>
                        </a:rPr>
                        <a:t>先天的な鼻の発育不全</a:t>
                      </a:r>
                    </a:p>
                  </a:txBody>
                  <a:tcPr anchor="ctr" marL="160000" marR="60000" marT="15000" marB="15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5000" marB="15000">
                    <a:solidFill>
                      <a:srgbClr val="FDFBF6"/>
                    </a:solidFill>
                  </a:tcPr>
                </a:tc>
                <a:tc>
                  <a:txBody>
                    <a:bodyPr wrap="square"/>
                    <a:lstStyle/>
                    <a:p>
                      <a:pPr algn="ctr"/>
                      <a:r>
                        <a:rPr sz="1100" b="1">
                          <a:solidFill>
                            <a:srgbClr val="3A3326"/>
                          </a:solidFill>
                          <a:latin typeface="游明朝"/>
                          <a:ea typeface="游明朝"/>
                        </a:rPr>
                        <a:t>P22</a:t>
                      </a:r>
                    </a:p>
                  </a:txBody>
                  <a:tcPr anchor="ctr" marL="80000" marR="60000" marT="15000" marB="15000">
                    <a:solidFill>
                      <a:srgbClr val="FDFBF6"/>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25545"/>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¥440,000〜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¥7,800〜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¥495,000〜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¥8,800〜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¥495,000〜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¥8,800〜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25545"/>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a:t>
            </a:r>
            <a:r>
              <a:rPr lang="en-US" sz="1100" b="0" dirty="0">
                <a:solidFill>
                  <a:srgbClr val="B0934E"/>
                </a:solidFill>
                <a:latin typeface="游明朝"/>
                <a:ea typeface="游明朝"/>
              </a:rPr>
              <a:t>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¥385,000〜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¥6,900〜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¥495,000〜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¥8,800〜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¥550,000〜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¥9,800〜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572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a:t>
            </a:r>
            <a:r>
              <a:rPr lang="en-US" sz="1100" b="0" dirty="0">
                <a:solidFill>
                  <a:srgbClr val="FFFFFF"/>
                </a:solidFill>
                <a:latin typeface="游明朝"/>
                <a:ea typeface="游明朝"/>
              </a:rPr>
              <a:t>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¥330,000〜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¥5,900〜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a:t>
            </a:r>
            <a:r>
              <a:rPr lang="en-US" sz="950" b="1" dirty="0">
                <a:solidFill>
                  <a:srgbClr val="B0934E"/>
                </a:solidFill>
                <a:latin typeface="游ゴシック"/>
                <a:ea typeface="游ゴシック"/>
              </a:rPr>
              <a:t>8</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¥440,000〜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¥7,800〜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a:t>
            </a:r>
            <a:r>
              <a:rPr lang="en-US" sz="750" dirty="0">
                <a:solidFill>
                  <a:srgbClr val="7A7060"/>
                </a:solidFill>
                <a:latin typeface="游ゴシック"/>
                <a:ea typeface="游ゴシック"/>
              </a:rPr>
              <a:t>8</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a:t>
            </a:r>
            <a:r>
              <a:rPr lang="en-US" sz="950" b="1" dirty="0">
                <a:solidFill>
                  <a:srgbClr val="B0934E"/>
                </a:solidFill>
                <a:latin typeface="游ゴシック"/>
                <a:ea typeface="游ゴシック"/>
              </a:rPr>
              <a:t>9</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¥440,000〜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¥7,800〜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a:t>
            </a:r>
            <a:r>
              <a:rPr lang="en-US" sz="750" b="0" dirty="0">
                <a:solidFill>
                  <a:srgbClr val="7A7060"/>
                </a:solidFill>
                <a:latin typeface="游ゴシック"/>
                <a:ea typeface="游ゴシック"/>
              </a:rPr>
              <a:t>9</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572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a:t>
            </a:r>
            <a:r>
              <a:rPr lang="en-US" sz="1100" b="0" dirty="0">
                <a:solidFill>
                  <a:srgbClr val="FFFFFF"/>
                </a:solidFill>
                <a:latin typeface="游明朝"/>
                <a:ea typeface="游明朝"/>
              </a:rPr>
              <a:t>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¥495,000〜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¥8,800〜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¥550,000〜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¥9,800〜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2</a:t>
            </a:r>
            <a:r>
              <a:rPr sz="950" b="1" dirty="0">
                <a:solidFill>
                  <a:srgbClr val="B0934E"/>
                </a:solidFill>
                <a:latin typeface="游ゴシック"/>
                <a:ea typeface="游ゴシック"/>
              </a:rPr>
              <a:t>／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¥385,000〜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¥6,900〜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228600"/>
          </a:xfrm>
          <a:prstGeom prst="rect">
            <a:avLst/>
          </a:prstGeom>
          <a:noFill/>
        </p:spPr>
        <p:txBody>
          <a:bodyPr wrap="square" lIns="0" tIns="0" rIns="0" bIns="0" anchor="t">
            <a:spAutoFit/>
          </a:bodyPr>
          <a:lstStyle/>
          <a:p>
            <a:pPr algn="l">
              <a:lnSpc>
                <a:spcPct val="112000"/>
              </a:lnSpc>
              <a:spcBef>
                <a:spcPts val="0"/>
              </a:spcBef>
              <a:spcAft>
                <a:spcPts val="200"/>
              </a:spcAft>
            </a:pPr>
            <a:r>
              <a:rPr sz="900" b="1">
                <a:solidFill>
                  <a:srgbClr val="B0934E"/>
                </a:solidFill>
                <a:latin typeface="游ゴシック"/>
                <a:ea typeface="游ゴシック"/>
              </a:rPr>
              <a:t>患者さまの声 ／ Dr.コメント</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572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a:t>
            </a:r>
            <a:r>
              <a:rPr lang="en-US" sz="1100" b="0" dirty="0">
                <a:solidFill>
                  <a:srgbClr val="FFFFFF"/>
                </a:solidFill>
                <a:latin typeface="游明朝"/>
                <a:ea typeface="游明朝"/>
              </a:rPr>
              <a:t>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1458255338"/>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769C855D-4AF6-4FCE-DF43-C0CB15C88CBD}"/>
              </a:ext>
            </a:extLst>
          </p:cNvPr>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1500" b="1" dirty="0" err="1">
                <a:solidFill>
                  <a:srgbClr val="3A3326"/>
                </a:solidFill>
                <a:latin typeface="游明朝"/>
                <a:ea typeface="游明朝"/>
              </a:rPr>
              <a:t>別途お見積り</a:t>
            </a:r>
            <a:endParaRPr sz="1500" b="1" dirty="0">
              <a:solidFill>
                <a:srgbClr val="3A3326"/>
              </a:solidFill>
              <a:latin typeface="游明朝"/>
              <a:ea typeface="游明朝"/>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1500" b="1" dirty="0" err="1">
                <a:solidFill>
                  <a:srgbClr val="3A3326"/>
                </a:solidFill>
                <a:latin typeface="游明朝"/>
                <a:ea typeface="游明朝"/>
              </a:rPr>
              <a:t>別途お見積り</a:t>
            </a:r>
            <a:endParaRPr sz="1500" b="1" dirty="0">
              <a:solidFill>
                <a:srgbClr val="3A3326"/>
              </a:solidFill>
              <a:latin typeface="游明朝"/>
              <a:ea typeface="游明朝"/>
            </a:endParaRP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32" name="Rounded Rectangle 31"/>
          <p:cNvSpPr/>
          <p:nvPr/>
        </p:nvSpPr>
        <p:spPr>
          <a:xfrm>
            <a:off x="566928" y="8092440"/>
            <a:ext cx="6428994" cy="141732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図プレースホルダー 37">
            <a:extLst>
              <a:ext uri="{FF2B5EF4-FFF2-40B4-BE49-F238E27FC236}">
                <a16:creationId xmlns:a16="http://schemas.microsoft.com/office/drawing/2014/main" id="{5B95D734-8E2D-C0D0-3016-BE2CD46A4F50}"/>
              </a:ext>
            </a:extLst>
          </p:cNvPr>
          <p:cNvPicPr>
            <a:picLocks noGrp="1" noChangeAspect="1"/>
          </p:cNvPicPr>
          <p:nvPr>
            <p:ph type="pic" idx="10"/>
          </p:nvPr>
        </p:nvPicPr>
        <p:blipFill>
          <a:blip r:embed="rId2"/>
          <a:srcRect/>
          <a:stretch>
            <a:fillRect/>
          </a:stretch>
        </p:blipFill>
        <p:spPr>
          <a:prstGeom prst="roundRect">
            <a:avLst>
              <a:gd name="adj" fmla="val 2000"/>
            </a:avLst>
          </a:prstGeom>
          <a:solidFill>
            <a:srgbClr val="ECE4D4"/>
          </a:solidFill>
        </p:spPr>
      </p:pic>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PATIENT JOURNEY</a:t>
            </a:r>
          </a:p>
        </p:txBody>
      </p:sp>
      <p:sp>
        <p:nvSpPr>
          <p:cNvPr id="4" name="TextBox 3"/>
          <p:cNvSpPr txBox="1"/>
          <p:nvPr/>
        </p:nvSpPr>
        <p:spPr>
          <a:xfrm>
            <a:off x="566928" y="658368"/>
            <a:ext cx="5697474" cy="476156"/>
          </a:xfrm>
          <a:prstGeom prst="rect">
            <a:avLst/>
          </a:prstGeom>
          <a:noFill/>
        </p:spPr>
        <p:txBody>
          <a:bodyPr wrap="square" lIns="0" tIns="0" rIns="0" bIns="0" anchor="t">
            <a:spAutoFit/>
          </a:bodyPr>
          <a:lstStyle/>
          <a:p>
            <a:pPr algn="l">
              <a:lnSpc>
                <a:spcPct val="112000"/>
              </a:lnSpc>
              <a:spcBef>
                <a:spcPts val="0"/>
              </a:spcBef>
              <a:spcAft>
                <a:spcPts val="200"/>
              </a:spcAft>
            </a:pPr>
            <a:r>
              <a:rPr sz="2900" b="1" dirty="0">
                <a:solidFill>
                  <a:srgbClr val="3A3326"/>
                </a:solidFill>
                <a:latin typeface="游明朝"/>
                <a:ea typeface="游明朝"/>
              </a:rPr>
              <a:t>ある患者さまの</a:t>
            </a:r>
            <a:r>
              <a:rPr lang="en-US" sz="2900" b="1" dirty="0">
                <a:solidFill>
                  <a:srgbClr val="3A3326"/>
                </a:solidFill>
                <a:latin typeface="游明朝"/>
                <a:ea typeface="游明朝"/>
              </a:rPr>
              <a:t>6</a:t>
            </a:r>
            <a:r>
              <a:rPr sz="2900" b="1" dirty="0">
                <a:solidFill>
                  <a:srgbClr val="3A3326"/>
                </a:solidFill>
                <a:latin typeface="游明朝"/>
                <a:ea typeface="游明朝"/>
              </a:rPr>
              <a:t>ヶ月</a:t>
            </a:r>
            <a:r>
              <a:rPr lang="en-US" sz="2900" b="1" dirty="0">
                <a:solidFill>
                  <a:srgbClr val="3A3326"/>
                </a:solidFill>
                <a:latin typeface="游明朝"/>
                <a:ea typeface="游明朝"/>
              </a:rPr>
              <a:t>(</a:t>
            </a:r>
            <a:r>
              <a:rPr lang="en-US" sz="2900" b="1" dirty="0" err="1">
                <a:solidFill>
                  <a:srgbClr val="3A3326"/>
                </a:solidFill>
                <a:latin typeface="游明朝"/>
                <a:ea typeface="游明朝"/>
              </a:rPr>
              <a:t>肋軟骨使用</a:t>
            </a:r>
            <a:r>
              <a:rPr lang="en-US" sz="2900" b="1" dirty="0">
                <a:solidFill>
                  <a:srgbClr val="3A3326"/>
                </a:solidFill>
                <a:latin typeface="游明朝"/>
                <a:ea typeface="游明朝"/>
              </a:rPr>
              <a:t>)</a:t>
            </a:r>
            <a:endParaRPr sz="29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509691"/>
          </a:xfrm>
          <a:prstGeom prst="rect">
            <a:avLst/>
          </a:prstGeom>
          <a:noFill/>
        </p:spPr>
        <p:txBody>
          <a:bodyPr wrap="square" lIns="0" tIns="0" rIns="0" bIns="0" anchor="t">
            <a:spAutoFit/>
          </a:bodyPr>
          <a:lstStyle/>
          <a:p>
            <a:pPr algn="l">
              <a:lnSpc>
                <a:spcPct val="150000"/>
              </a:lnSpc>
              <a:spcBef>
                <a:spcPts val="0"/>
              </a:spcBef>
              <a:spcAft>
                <a:spcPts val="200"/>
              </a:spcAft>
            </a:pP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団子鼻</a:t>
            </a: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に悩まれていた</a:t>
            </a:r>
            <a:r>
              <a:rPr sz="1100" b="0" dirty="0">
                <a:solidFill>
                  <a:srgbClr val="3A3326"/>
                </a:solidFill>
                <a:latin typeface="游ゴシック"/>
                <a:ea typeface="游ゴシック"/>
              </a:rPr>
              <a:t>20代の方の、相談から</a:t>
            </a:r>
            <a:r>
              <a:rPr lang="en-US" sz="1100" b="0" dirty="0">
                <a:solidFill>
                  <a:srgbClr val="3A3326"/>
                </a:solidFill>
                <a:latin typeface="游ゴシック"/>
                <a:ea typeface="游ゴシック"/>
              </a:rPr>
              <a:t>6</a:t>
            </a:r>
            <a:r>
              <a:rPr sz="1100" b="0" dirty="0">
                <a:solidFill>
                  <a:srgbClr val="3A3326"/>
                </a:solidFill>
                <a:latin typeface="游ゴシック"/>
                <a:ea typeface="游ゴシック"/>
              </a:rPr>
              <a:t>ヶ月までの経過です。ダウンタイムのリアルを、</a:t>
            </a:r>
            <a:endParaRPr lang="en-US" sz="1100" b="0" dirty="0">
              <a:solidFill>
                <a:srgbClr val="3A3326"/>
              </a:solidFill>
              <a:latin typeface="游ゴシック"/>
              <a:ea typeface="游ゴシック"/>
            </a:endParaRPr>
          </a:p>
          <a:p>
            <a:pPr algn="l">
              <a:lnSpc>
                <a:spcPct val="150000"/>
              </a:lnSpc>
              <a:spcBef>
                <a:spcPts val="0"/>
              </a:spcBef>
              <a:spcAft>
                <a:spcPts val="200"/>
              </a:spcAft>
            </a:pPr>
            <a:r>
              <a:rPr sz="1100" b="0" dirty="0" err="1">
                <a:solidFill>
                  <a:srgbClr val="3A3326"/>
                </a:solidFill>
                <a:latin typeface="游ゴシック"/>
                <a:ea typeface="游ゴシック"/>
              </a:rPr>
              <a:t>ご本人のインタビュー動画と合わせてご覧ください</a:t>
            </a:r>
            <a:r>
              <a:rPr sz="1100" b="0" dirty="0">
                <a:solidFill>
                  <a:srgbClr val="3A3326"/>
                </a:solidFill>
                <a:latin typeface="游ゴシック"/>
                <a:ea typeface="游ゴシック"/>
              </a:rPr>
              <a:t>。</a:t>
            </a:r>
          </a:p>
        </p:txBody>
      </p:sp>
      <p:sp>
        <p:nvSpPr>
          <p:cNvPr id="8" name="Rounded Rectangle 7"/>
          <p:cNvSpPr/>
          <p:nvPr/>
        </p:nvSpPr>
        <p:spPr>
          <a:xfrm>
            <a:off x="566928" y="2514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25146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1</a:t>
            </a:r>
          </a:p>
          <a:p>
            <a:pPr algn="ctr">
              <a:lnSpc>
                <a:spcPct val="130000"/>
              </a:lnSpc>
              <a:spcBef>
                <a:spcPts val="0"/>
              </a:spcBef>
              <a:spcAft>
                <a:spcPts val="200"/>
              </a:spcAft>
            </a:pPr>
            <a:r>
              <a:rPr sz="1100" b="1">
                <a:solidFill>
                  <a:srgbClr val="FFFFFF"/>
                </a:solidFill>
                <a:latin typeface="游明朝"/>
                <a:ea typeface="游明朝"/>
              </a:rPr>
              <a:t>相談・デザイン</a:t>
            </a:r>
          </a:p>
        </p:txBody>
      </p:sp>
      <p:sp>
        <p:nvSpPr>
          <p:cNvPr id="10" name="Rounded Rectangle 9"/>
          <p:cNvSpPr/>
          <p:nvPr/>
        </p:nvSpPr>
        <p:spPr>
          <a:xfrm>
            <a:off x="2258568" y="2514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87168" y="2690565"/>
            <a:ext cx="4280154" cy="425309"/>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a:solidFill>
                  <a:srgbClr val="3A3326"/>
                </a:solidFill>
                <a:latin typeface="游ゴシック"/>
                <a:ea typeface="游ゴシック"/>
              </a:rPr>
              <a:t>ベクトラ（3Dシミュレーション）で“なりたい鼻”をその場で確認。</a:t>
            </a:r>
            <a:endParaRPr lang="en-US" sz="1000" b="0" dirty="0">
              <a:solidFill>
                <a:srgbClr val="3A3326"/>
              </a:solidFill>
              <a:latin typeface="游ゴシック"/>
              <a:ea typeface="游ゴシック"/>
            </a:endParaRPr>
          </a:p>
          <a:p>
            <a:pPr algn="l">
              <a:lnSpc>
                <a:spcPct val="135000"/>
              </a:lnSpc>
              <a:spcBef>
                <a:spcPts val="0"/>
              </a:spcBef>
              <a:spcAft>
                <a:spcPts val="200"/>
              </a:spcAft>
            </a:pPr>
            <a:r>
              <a:rPr lang="ja-JP" altLang="en-US" sz="1000">
                <a:solidFill>
                  <a:srgbClr val="3A3326"/>
                </a:solidFill>
                <a:latin typeface="游ゴシック"/>
                <a:ea typeface="游ゴシック"/>
              </a:rPr>
              <a:t>オープン</a:t>
            </a:r>
            <a:r>
              <a:rPr sz="1000" b="0" dirty="0" err="1">
                <a:solidFill>
                  <a:srgbClr val="3A3326"/>
                </a:solidFill>
                <a:latin typeface="游ゴシック"/>
                <a:ea typeface="游ゴシック"/>
              </a:rPr>
              <a:t>法で計画</a:t>
            </a:r>
            <a:r>
              <a:rPr sz="1000" b="0" dirty="0">
                <a:solidFill>
                  <a:srgbClr val="3A3326"/>
                </a:solidFill>
                <a:latin typeface="游ゴシック"/>
                <a:ea typeface="游ゴシック"/>
              </a:rPr>
              <a:t>。</a:t>
            </a:r>
          </a:p>
        </p:txBody>
      </p:sp>
      <p:sp>
        <p:nvSpPr>
          <p:cNvPr id="12" name="Rounded Rectangle 11"/>
          <p:cNvSpPr/>
          <p:nvPr/>
        </p:nvSpPr>
        <p:spPr>
          <a:xfrm>
            <a:off x="566928" y="34290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4290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2</a:t>
            </a:r>
          </a:p>
          <a:p>
            <a:pPr algn="ctr">
              <a:lnSpc>
                <a:spcPct val="130000"/>
              </a:lnSpc>
              <a:spcBef>
                <a:spcPts val="0"/>
              </a:spcBef>
              <a:spcAft>
                <a:spcPts val="200"/>
              </a:spcAft>
            </a:pPr>
            <a:r>
              <a:rPr sz="1100" b="1">
                <a:solidFill>
                  <a:srgbClr val="FFFFFF"/>
                </a:solidFill>
                <a:latin typeface="游明朝"/>
                <a:ea typeface="游明朝"/>
              </a:rPr>
              <a:t>手術当日</a:t>
            </a:r>
          </a:p>
        </p:txBody>
      </p:sp>
      <p:sp>
        <p:nvSpPr>
          <p:cNvPr id="14" name="Rounded Rectangle 13"/>
          <p:cNvSpPr/>
          <p:nvPr/>
        </p:nvSpPr>
        <p:spPr>
          <a:xfrm>
            <a:off x="2258568" y="34290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87168" y="37216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lang="ja-JP" altLang="en-US" sz="1000">
                <a:solidFill>
                  <a:srgbClr val="3A3326"/>
                </a:solidFill>
                <a:latin typeface="游ゴシック"/>
                <a:ea typeface="游ゴシック"/>
              </a:rPr>
              <a:t>全身</a:t>
            </a:r>
            <a:r>
              <a:rPr sz="1000" b="0" dirty="0">
                <a:solidFill>
                  <a:srgbClr val="3A3326"/>
                </a:solidFill>
                <a:latin typeface="游ゴシック"/>
                <a:ea typeface="游ゴシック"/>
              </a:rPr>
              <a:t>麻酔下で約</a:t>
            </a:r>
            <a:r>
              <a:rPr lang="en-US" sz="1000" b="0" dirty="0">
                <a:solidFill>
                  <a:srgbClr val="3A3326"/>
                </a:solidFill>
                <a:latin typeface="游ゴシック"/>
                <a:ea typeface="游ゴシック"/>
              </a:rPr>
              <a:t>5時間</a:t>
            </a:r>
            <a:r>
              <a:rPr sz="1000" b="0" dirty="0">
                <a:solidFill>
                  <a:srgbClr val="3A3326"/>
                </a:solidFill>
                <a:latin typeface="游ゴシック"/>
                <a:ea typeface="游ゴシック"/>
              </a:rPr>
              <a:t>。日帰り。ギプスで固定して帰宅。</a:t>
            </a:r>
          </a:p>
        </p:txBody>
      </p:sp>
      <p:sp>
        <p:nvSpPr>
          <p:cNvPr id="16" name="Rounded Rectangle 15"/>
          <p:cNvSpPr/>
          <p:nvPr/>
        </p:nvSpPr>
        <p:spPr>
          <a:xfrm>
            <a:off x="566928" y="43434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43434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3</a:t>
            </a:r>
          </a:p>
          <a:p>
            <a:pPr algn="ctr">
              <a:lnSpc>
                <a:spcPct val="130000"/>
              </a:lnSpc>
              <a:spcBef>
                <a:spcPts val="0"/>
              </a:spcBef>
              <a:spcAft>
                <a:spcPts val="200"/>
              </a:spcAft>
            </a:pPr>
            <a:r>
              <a:rPr sz="1100" b="1">
                <a:solidFill>
                  <a:srgbClr val="FFFFFF"/>
                </a:solidFill>
                <a:latin typeface="游明朝"/>
                <a:ea typeface="游明朝"/>
              </a:rPr>
              <a:t>翌日〜3日</a:t>
            </a:r>
          </a:p>
        </p:txBody>
      </p:sp>
      <p:sp>
        <p:nvSpPr>
          <p:cNvPr id="18" name="Rounded Rectangle 17"/>
          <p:cNvSpPr/>
          <p:nvPr/>
        </p:nvSpPr>
        <p:spPr>
          <a:xfrm>
            <a:off x="2258568" y="43434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487168" y="46360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腫れ・内出血のピーク。痛みは内服でコントロール</a:t>
            </a:r>
            <a:r>
              <a:rPr sz="1000" b="0" dirty="0">
                <a:solidFill>
                  <a:srgbClr val="3A3326"/>
                </a:solidFill>
                <a:latin typeface="游ゴシック"/>
                <a:ea typeface="游ゴシック"/>
              </a:rPr>
              <a:t>。</a:t>
            </a:r>
          </a:p>
        </p:txBody>
      </p:sp>
      <p:sp>
        <p:nvSpPr>
          <p:cNvPr id="20" name="Rounded Rectangle 19"/>
          <p:cNvSpPr/>
          <p:nvPr/>
        </p:nvSpPr>
        <p:spPr>
          <a:xfrm>
            <a:off x="566928" y="52578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52578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4</a:t>
            </a:r>
          </a:p>
          <a:p>
            <a:pPr algn="ctr">
              <a:lnSpc>
                <a:spcPct val="130000"/>
              </a:lnSpc>
              <a:spcBef>
                <a:spcPts val="0"/>
              </a:spcBef>
              <a:spcAft>
                <a:spcPts val="200"/>
              </a:spcAft>
            </a:pPr>
            <a:r>
              <a:rPr sz="1100" b="1">
                <a:solidFill>
                  <a:srgbClr val="FFFFFF"/>
                </a:solidFill>
                <a:latin typeface="游明朝"/>
                <a:ea typeface="游明朝"/>
              </a:rPr>
              <a:t>1週間（ギプスオフ）</a:t>
            </a:r>
          </a:p>
        </p:txBody>
      </p:sp>
      <p:sp>
        <p:nvSpPr>
          <p:cNvPr id="22" name="Rounded Rectangle 21"/>
          <p:cNvSpPr/>
          <p:nvPr/>
        </p:nvSpPr>
        <p:spPr>
          <a:xfrm>
            <a:off x="2258568" y="52578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87168" y="52578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ギプスを外し、メイクOK。むくみは残るが“鼻が高くなった”を実感。</a:t>
            </a:r>
          </a:p>
        </p:txBody>
      </p:sp>
      <p:sp>
        <p:nvSpPr>
          <p:cNvPr id="24" name="Rounded Rectangle 23"/>
          <p:cNvSpPr/>
          <p:nvPr/>
        </p:nvSpPr>
        <p:spPr>
          <a:xfrm>
            <a:off x="566928" y="61722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1722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5</a:t>
            </a:r>
          </a:p>
          <a:p>
            <a:pPr algn="ctr">
              <a:lnSpc>
                <a:spcPct val="130000"/>
              </a:lnSpc>
              <a:spcBef>
                <a:spcPts val="0"/>
              </a:spcBef>
              <a:spcAft>
                <a:spcPts val="200"/>
              </a:spcAft>
            </a:pPr>
            <a:r>
              <a:rPr sz="1100" b="1">
                <a:solidFill>
                  <a:srgbClr val="FFFFFF"/>
                </a:solidFill>
                <a:latin typeface="游明朝"/>
                <a:ea typeface="游明朝"/>
              </a:rPr>
              <a:t>1ヶ月</a:t>
            </a:r>
          </a:p>
        </p:txBody>
      </p:sp>
      <p:sp>
        <p:nvSpPr>
          <p:cNvPr id="26" name="Rounded Rectangle 25"/>
          <p:cNvSpPr/>
          <p:nvPr/>
        </p:nvSpPr>
        <p:spPr>
          <a:xfrm>
            <a:off x="2258568" y="61722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487168" y="61722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腫れの大半が引く。横顔のラインが整い、自然な仕上がりに。</a:t>
            </a:r>
          </a:p>
        </p:txBody>
      </p:sp>
      <p:sp>
        <p:nvSpPr>
          <p:cNvPr id="28" name="Rounded Rectangle 27"/>
          <p:cNvSpPr/>
          <p:nvPr/>
        </p:nvSpPr>
        <p:spPr>
          <a:xfrm>
            <a:off x="566928" y="7086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6928" y="7280647"/>
            <a:ext cx="1554480" cy="389145"/>
          </a:xfrm>
          <a:prstGeom prst="rect">
            <a:avLst/>
          </a:prstGeom>
          <a:noFill/>
        </p:spPr>
        <p:txBody>
          <a:bodyPr wrap="square" lIns="0" tIns="0" rIns="0" bIns="0" anchor="ctr">
            <a:spAutoFit/>
          </a:bodyPr>
          <a:lstStyle/>
          <a:p>
            <a:pPr algn="ctr">
              <a:lnSpc>
                <a:spcPct val="130000"/>
              </a:lnSpc>
              <a:spcBef>
                <a:spcPts val="0"/>
              </a:spcBef>
              <a:spcAft>
                <a:spcPts val="200"/>
              </a:spcAft>
            </a:pPr>
            <a:r>
              <a:rPr sz="800" b="0" dirty="0">
                <a:solidFill>
                  <a:srgbClr val="F3E9D2"/>
                </a:solidFill>
                <a:latin typeface="游ゴシック"/>
                <a:ea typeface="游ゴシック"/>
              </a:rPr>
              <a:t>STEP 6</a:t>
            </a:r>
          </a:p>
          <a:p>
            <a:pPr algn="ctr">
              <a:lnSpc>
                <a:spcPct val="130000"/>
              </a:lnSpc>
              <a:spcBef>
                <a:spcPts val="0"/>
              </a:spcBef>
              <a:spcAft>
                <a:spcPts val="200"/>
              </a:spcAft>
            </a:pPr>
            <a:r>
              <a:rPr lang="en-US" sz="1100" b="1" dirty="0">
                <a:solidFill>
                  <a:srgbClr val="FFFFFF"/>
                </a:solidFill>
                <a:latin typeface="游明朝"/>
                <a:ea typeface="游明朝"/>
              </a:rPr>
              <a:t>6</a:t>
            </a:r>
            <a:r>
              <a:rPr sz="1100" b="1" dirty="0">
                <a:solidFill>
                  <a:srgbClr val="FFFFFF"/>
                </a:solidFill>
                <a:latin typeface="游明朝"/>
                <a:ea typeface="游明朝"/>
              </a:rPr>
              <a:t>ヶ月</a:t>
            </a:r>
          </a:p>
        </p:txBody>
      </p:sp>
      <p:sp>
        <p:nvSpPr>
          <p:cNvPr id="30" name="Rounded Rectangle 29"/>
          <p:cNvSpPr/>
          <p:nvPr/>
        </p:nvSpPr>
        <p:spPr>
          <a:xfrm>
            <a:off x="2258568" y="7086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487168" y="73792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完成</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横顔</a:t>
            </a:r>
            <a:r>
              <a:rPr lang="en-US" sz="1000" dirty="0" err="1">
                <a:solidFill>
                  <a:srgbClr val="3A3326"/>
                </a:solidFill>
                <a:latin typeface="游ゴシック"/>
                <a:ea typeface="游ゴシック"/>
              </a:rPr>
              <a:t>に自信を持てました</a:t>
            </a:r>
            <a:r>
              <a:rPr sz="1000" b="0" dirty="0" err="1">
                <a:solidFill>
                  <a:srgbClr val="3A3326"/>
                </a:solidFill>
                <a:latin typeface="游ゴシック"/>
                <a:ea typeface="游ゴシック"/>
              </a:rPr>
              <a:t>」とご本人</a:t>
            </a:r>
            <a:r>
              <a:rPr sz="1000" b="0" dirty="0">
                <a:solidFill>
                  <a:srgbClr val="3A3326"/>
                </a:solidFill>
                <a:latin typeface="游ゴシック"/>
                <a:ea typeface="游ゴシック"/>
              </a:rPr>
              <a:t>。</a:t>
            </a:r>
          </a:p>
        </p:txBody>
      </p:sp>
      <p:sp>
        <p:nvSpPr>
          <p:cNvPr id="34" name="TextBox 33"/>
          <p:cNvSpPr txBox="1"/>
          <p:nvPr/>
        </p:nvSpPr>
        <p:spPr>
          <a:xfrm>
            <a:off x="1984248" y="8385048"/>
            <a:ext cx="4691634" cy="496867"/>
          </a:xfrm>
          <a:prstGeom prst="rect">
            <a:avLst/>
          </a:prstGeom>
          <a:noFill/>
        </p:spPr>
        <p:txBody>
          <a:bodyPr wrap="square" lIns="0" tIns="0" rIns="0" bIns="0" anchor="t">
            <a:spAutoFit/>
          </a:bodyPr>
          <a:lstStyle/>
          <a:p>
            <a:pPr algn="l">
              <a:lnSpc>
                <a:spcPct val="145000"/>
              </a:lnSpc>
              <a:spcBef>
                <a:spcPts val="0"/>
              </a:spcBef>
              <a:spcAft>
                <a:spcPts val="200"/>
              </a:spcAft>
            </a:pPr>
            <a:r>
              <a:rPr sz="1200" b="1" dirty="0">
                <a:solidFill>
                  <a:srgbClr val="8C7339"/>
                </a:solidFill>
                <a:latin typeface="游ゴシック"/>
                <a:ea typeface="游ゴシック"/>
              </a:rPr>
              <a:t>▶ </a:t>
            </a:r>
            <a:r>
              <a:rPr sz="1200" b="1" dirty="0" err="1">
                <a:solidFill>
                  <a:srgbClr val="8C7339"/>
                </a:solidFill>
                <a:latin typeface="游ゴシック"/>
                <a:ea typeface="游ゴシック"/>
              </a:rPr>
              <a:t>この方のインタビューを見る</a:t>
            </a:r>
            <a:endParaRPr sz="1200" b="1" dirty="0">
              <a:solidFill>
                <a:srgbClr val="8C7339"/>
              </a:solidFill>
              <a:latin typeface="游ゴシック"/>
              <a:ea typeface="游ゴシック"/>
            </a:endParaRPr>
          </a:p>
          <a:p>
            <a:pPr algn="l">
              <a:lnSpc>
                <a:spcPct val="145000"/>
              </a:lnSpc>
              <a:spcBef>
                <a:spcPts val="0"/>
              </a:spcBef>
              <a:spcAft>
                <a:spcPts val="200"/>
              </a:spcAft>
            </a:pPr>
            <a:r>
              <a:rPr sz="1000" b="0" dirty="0">
                <a:solidFill>
                  <a:srgbClr val="3A3326"/>
                </a:solidFill>
                <a:latin typeface="游ゴシック"/>
                <a:ea typeface="游ゴシック"/>
              </a:rPr>
              <a:t>「</a:t>
            </a:r>
            <a:r>
              <a:rPr lang="ja-JP" altLang="en-US" sz="1000">
                <a:solidFill>
                  <a:srgbClr val="3A3326"/>
                </a:solidFill>
                <a:latin typeface="游ゴシック"/>
                <a:ea typeface="游ゴシック"/>
              </a:rPr>
              <a:t>横顔の変化がすごい</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ご本人の言葉でどうぞ</a:t>
            </a:r>
            <a:r>
              <a:rPr sz="1000" b="0" dirty="0">
                <a:solidFill>
                  <a:srgbClr val="3A3326"/>
                </a:solidFill>
                <a:latin typeface="游ゴシック"/>
                <a:ea typeface="游ゴシック"/>
              </a:rPr>
              <a:t>。</a:t>
            </a:r>
          </a:p>
        </p:txBody>
      </p:sp>
      <p:sp>
        <p:nvSpPr>
          <p:cNvPr id="35" name="TextBox 34"/>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デザインカタログ｜ある患者さまの3ヶ月</a:t>
            </a:r>
          </a:p>
        </p:txBody>
      </p:sp>
      <p:sp>
        <p:nvSpPr>
          <p:cNvPr id="36" name="TextBox 35"/>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鼻の穴の中から手術。外からの傷あとを残さず、ダウンタイムにも配慮した設計。</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5</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通常料金・月々のお支払い目安</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6</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554480"/>
            <a:ext cx="6428994" cy="365760"/>
          </a:xfrm>
          <a:prstGeom prst="rect">
            <a:avLst/>
          </a:prstGeom>
          <a:noFill/>
        </p:spPr>
        <p:txBody>
          <a:bodyPr wrap="square" lIns="0" tIns="0" rIns="0" bIns="0" anchor="t">
            <a:spAutoFit/>
          </a:bodyPr>
          <a:lstStyle/>
          <a:p>
            <a:pPr algn="l">
              <a:lnSpc>
                <a:spcPct val="135000"/>
              </a:lnSpc>
              <a:spcBef>
                <a:spcPts val="0"/>
              </a:spcBef>
              <a:spcAft>
                <a:spcPts val="200"/>
              </a:spcAft>
            </a:pPr>
            <a:r>
              <a:rPr sz="1000" b="0">
                <a:solidFill>
                  <a:srgbClr val="3A3326"/>
                </a:solidFill>
                <a:latin typeface="游ゴシック"/>
                <a:ea typeface="游ゴシック"/>
              </a:rPr>
              <a:t>下記は単体施術の通常料金（税込）の目安です。月々は60回払いの一例（金利別途）。モニター価格・実際のご料金はカウンセリングで個別にご案内します。</a:t>
            </a:r>
          </a:p>
        </p:txBody>
      </p:sp>
      <p:sp>
        <p:nvSpPr>
          <p:cNvPr id="9" name="Rounded Rectangle 8"/>
          <p:cNvSpPr/>
          <p:nvPr/>
        </p:nvSpPr>
        <p:spPr>
          <a:xfrm>
            <a:off x="566928" y="6400800"/>
            <a:ext cx="6428994" cy="15544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660196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明朝"/>
                <a:ea typeface="游明朝"/>
              </a:rPr>
              <a:t>モニター制度について</a:t>
            </a:r>
          </a:p>
        </p:txBody>
      </p:sp>
      <p:sp>
        <p:nvSpPr>
          <p:cNvPr id="11" name="TextBox 10"/>
          <p:cNvSpPr txBox="1"/>
          <p:nvPr/>
        </p:nvSpPr>
        <p:spPr>
          <a:xfrm>
            <a:off x="932688" y="6967728"/>
            <a:ext cx="5697474" cy="914400"/>
          </a:xfrm>
          <a:prstGeom prst="rect">
            <a:avLst/>
          </a:prstGeom>
          <a:noFill/>
        </p:spPr>
        <p:txBody>
          <a:bodyPr wrap="square" lIns="0" tIns="0" rIns="0" bIns="0" anchor="t">
            <a:spAutoFit/>
          </a:bodyPr>
          <a:lstStyle/>
          <a:p>
            <a:pPr algn="l">
              <a:lnSpc>
                <a:spcPct val="155000"/>
              </a:lnSpc>
              <a:spcBef>
                <a:spcPts val="0"/>
              </a:spcBef>
              <a:spcAft>
                <a:spcPts val="200"/>
              </a:spcAft>
            </a:pPr>
            <a:r>
              <a:rPr sz="1050" b="0">
                <a:solidFill>
                  <a:srgbClr val="3A3326"/>
                </a:solidFill>
                <a:latin typeface="游ゴシック"/>
                <a:ea typeface="游ゴシック"/>
              </a:rPr>
              <a:t>当院には【通常料金】のほか【部分モニター】【全額モニター】があります。術前・術後のお写真のご提供にご協力いただける方は、通常料金より割安にご案内できます。適用条件・実際のご料金はカウンセリングで個別にご案内します（割引額は本資料には掲載していません）。</a:t>
            </a:r>
          </a:p>
        </p:txBody>
      </p:sp>
      <p:sp>
        <p:nvSpPr>
          <p:cNvPr id="12" name="TextBox 11"/>
          <p:cNvSpPr txBox="1"/>
          <p:nvPr/>
        </p:nvSpPr>
        <p:spPr>
          <a:xfrm>
            <a:off x="566928" y="8092440"/>
            <a:ext cx="6428994" cy="1463040"/>
          </a:xfrm>
          <a:prstGeom prst="rect">
            <a:avLst/>
          </a:prstGeom>
          <a:noFill/>
        </p:spPr>
        <p:txBody>
          <a:bodyPr wrap="square" lIns="0" tIns="0" rIns="0" bIns="0" anchor="t">
            <a:spAutoFit/>
          </a:bodyPr>
          <a:lstStyle/>
          <a:p>
            <a:pPr algn="l">
              <a:lnSpc>
                <a:spcPct val="160000"/>
              </a:lnSpc>
              <a:spcBef>
                <a:spcPts val="0"/>
              </a:spcBef>
              <a:spcAft>
                <a:spcPts val="200"/>
              </a:spcAft>
            </a:pPr>
            <a:r>
              <a:rPr sz="900" b="0">
                <a:solidFill>
                  <a:srgbClr val="7A7060"/>
                </a:solidFill>
                <a:latin typeface="游ゴシック"/>
                <a:ea typeface="游ゴシック"/>
              </a:rPr>
              <a:t>※ 上記は「通常料金」の目安です。鼻整形は自由診療（保険適用外）です。
※ 月々は通常料金・60回払いの一例で、金利・支払回数により変動します（現金・各種クレジット・医療ローン対応）。
※ モニター価格の具体的な割引額は、医療広告の観点から本資料には掲載していません。院内・カウンセリングでご案内します。
※ 最新の料金・キャンペーンは @zetith_hane／院内・カウンセリングにてご確認ください。</a:t>
            </a:r>
          </a:p>
        </p:txBody>
      </p:sp>
      <p:sp>
        <p:nvSpPr>
          <p:cNvPr id="13" name="TextBox 1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デザインカタログ｜通常料金・月々のお支払い目安</a:t>
            </a:r>
          </a:p>
        </p:txBody>
      </p:sp>
      <p:sp>
        <p:nvSpPr>
          <p:cNvPr id="14" name="TextBox 1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5" name="Table 14"/>
          <p:cNvGraphicFramePr>
            <a:graphicFrameLocks noGrp="1"/>
          </p:cNvGraphicFramePr>
          <p:nvPr/>
        </p:nvGraphicFramePr>
        <p:xfrm>
          <a:off x="566928" y="2103120"/>
          <a:ext cx="6428993" cy="4114800"/>
        </p:xfrm>
        <a:graphic>
          <a:graphicData uri="http://schemas.openxmlformats.org/drawingml/2006/table">
            <a:tbl>
              <a:tblPr firstRow="1" bandRow="1">
                <a:tableStyleId>{5C22544A-7EE6-4342-B048-85BDC9FD1C3A}</a:tableStyleId>
              </a:tblPr>
              <a:tblGrid>
                <a:gridCol w="3214497"/>
                <a:gridCol w="1735828"/>
                <a:gridCol w="1478668"/>
              </a:tblGrid>
              <a:tr h="293914">
                <a:tc>
                  <a:txBody>
                    <a:bodyPr wrap="square"/>
                    <a:lstStyle/>
                    <a:p>
                      <a:pPr algn="l"/>
                      <a:r>
                        <a:rPr sz="1050" b="1">
                          <a:solidFill>
                            <a:srgbClr val="FFFFFF"/>
                          </a:solidFill>
                          <a:latin typeface="游明朝"/>
                          <a:ea typeface="游明朝"/>
                        </a:rPr>
                        <a:t>施術</a:t>
                      </a:r>
                    </a:p>
                  </a:txBody>
                  <a:tcPr anchor="ctr" marL="80000" marR="60000" marT="15000" marB="15000">
                    <a:solidFill>
                      <a:srgbClr val="B0934E"/>
                    </a:solidFill>
                  </a:tcPr>
                </a:tc>
                <a:tc>
                  <a:txBody>
                    <a:bodyPr wrap="square"/>
                    <a:lstStyle/>
                    <a:p>
                      <a:pPr algn="r"/>
                      <a:r>
                        <a:rPr sz="1050" b="1">
                          <a:solidFill>
                            <a:srgbClr val="FFFFFF"/>
                          </a:solidFill>
                          <a:latin typeface="游明朝"/>
                          <a:ea typeface="游明朝"/>
                        </a:rPr>
                        <a:t>通常料金（税込）</a:t>
                      </a:r>
                    </a:p>
                  </a:txBody>
                  <a:tcPr anchor="ctr" marL="80000" marR="60000" marT="15000" marB="15000">
                    <a:solidFill>
                      <a:srgbClr val="B0934E"/>
                    </a:solidFill>
                  </a:tcPr>
                </a:tc>
                <a:tc>
                  <a:txBody>
                    <a:bodyPr wrap="square"/>
                    <a:lstStyle/>
                    <a:p>
                      <a:pPr algn="r"/>
                      <a:r>
                        <a:rPr sz="1050" b="1">
                          <a:solidFill>
                            <a:srgbClr val="FFFFFF"/>
                          </a:solidFill>
                          <a:latin typeface="游明朝"/>
                          <a:ea typeface="游明朝"/>
                        </a:rPr>
                        <a:t>月々（60回・目安）</a:t>
                      </a:r>
                    </a:p>
                  </a:txBody>
                  <a:tcPr anchor="ctr" marL="80000" marR="60000" marT="15000" marB="15000">
                    <a:solidFill>
                      <a:srgbClr val="B0934E"/>
                    </a:solidFill>
                  </a:tcPr>
                </a:tc>
              </a:tr>
              <a:tr h="293914">
                <a:tc>
                  <a:txBody>
                    <a:bodyPr wrap="square"/>
                    <a:lstStyle/>
                    <a:p>
                      <a:pPr algn="l"/>
                      <a:r>
                        <a:rPr sz="1050" b="0">
                          <a:solidFill>
                            <a:srgbClr val="3A3326"/>
                          </a:solidFill>
                          <a:latin typeface="游ゴシック"/>
                          <a:ea typeface="游ゴシック"/>
                        </a:rPr>
                        <a:t>鼻尖形成</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¥330,000</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¥5,500</a:t>
                      </a:r>
                    </a:p>
                  </a:txBody>
                  <a:tcPr anchor="ctr" marL="80000" marR="60000" marT="15000" marB="15000">
                    <a:solidFill>
                      <a:srgbClr val="FDFBF6"/>
                    </a:solidFill>
                  </a:tcPr>
                </a:tc>
              </a:tr>
              <a:tr h="293914">
                <a:tc>
                  <a:txBody>
                    <a:bodyPr wrap="square"/>
                    <a:lstStyle/>
                    <a:p>
                      <a:pPr algn="l"/>
                      <a:r>
                        <a:rPr sz="1050" b="0">
                          <a:solidFill>
                            <a:srgbClr val="3A3326"/>
                          </a:solidFill>
                          <a:latin typeface="游ゴシック"/>
                          <a:ea typeface="游ゴシック"/>
                        </a:rPr>
                        <a:t>鼻尖部軟骨移植</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¥220,000</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¥3,700</a:t>
                      </a:r>
                    </a:p>
                  </a:txBody>
                  <a:tcPr anchor="ctr" marL="80000" marR="60000" marT="15000" marB="15000">
                    <a:solidFill>
                      <a:srgbClr val="F3ECDD"/>
                    </a:solidFill>
                  </a:tcPr>
                </a:tc>
              </a:tr>
              <a:tr h="293914">
                <a:tc>
                  <a:txBody>
                    <a:bodyPr wrap="square"/>
                    <a:lstStyle/>
                    <a:p>
                      <a:pPr algn="l"/>
                      <a:r>
                        <a:rPr sz="1050" b="0">
                          <a:solidFill>
                            <a:srgbClr val="3A3326"/>
                          </a:solidFill>
                          <a:latin typeface="游ゴシック"/>
                          <a:ea typeface="游ゴシック"/>
                        </a:rPr>
                        <a:t>鼻中隔延長（耳介軟骨）</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¥528,000</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¥8,800</a:t>
                      </a:r>
                    </a:p>
                  </a:txBody>
                  <a:tcPr anchor="ctr" marL="80000" marR="60000" marT="15000" marB="15000">
                    <a:solidFill>
                      <a:srgbClr val="FDFBF6"/>
                    </a:solidFill>
                  </a:tcPr>
                </a:tc>
              </a:tr>
              <a:tr h="293914">
                <a:tc>
                  <a:txBody>
                    <a:bodyPr wrap="square"/>
                    <a:lstStyle/>
                    <a:p>
                      <a:pPr algn="l"/>
                      <a:r>
                        <a:rPr sz="1050" b="0">
                          <a:solidFill>
                            <a:srgbClr val="3A3326"/>
                          </a:solidFill>
                          <a:latin typeface="游ゴシック"/>
                          <a:ea typeface="游ゴシック"/>
                        </a:rPr>
                        <a:t>鼻中隔延長（肋軟骨）</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¥770,000</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¥12,800</a:t>
                      </a:r>
                    </a:p>
                  </a:txBody>
                  <a:tcPr anchor="ctr" marL="80000" marR="60000" marT="15000" marB="15000">
                    <a:solidFill>
                      <a:srgbClr val="F3ECDD"/>
                    </a:solidFill>
                  </a:tcPr>
                </a:tc>
              </a:tr>
              <a:tr h="293914">
                <a:tc>
                  <a:txBody>
                    <a:bodyPr wrap="square"/>
                    <a:lstStyle/>
                    <a:p>
                      <a:pPr algn="l"/>
                      <a:r>
                        <a:rPr sz="1050" b="0">
                          <a:solidFill>
                            <a:srgbClr val="3A3326"/>
                          </a:solidFill>
                          <a:latin typeface="游ゴシック"/>
                          <a:ea typeface="游ゴシック"/>
                        </a:rPr>
                        <a:t>シリコンプロテーゼ（隆鼻）</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¥242,000</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¥4,000</a:t>
                      </a:r>
                    </a:p>
                  </a:txBody>
                  <a:tcPr anchor="ctr" marL="80000" marR="60000" marT="15000" marB="15000">
                    <a:solidFill>
                      <a:srgbClr val="FDFBF6"/>
                    </a:solidFill>
                  </a:tcPr>
                </a:tc>
              </a:tr>
              <a:tr h="293914">
                <a:tc>
                  <a:txBody>
                    <a:bodyPr wrap="square"/>
                    <a:lstStyle/>
                    <a:p>
                      <a:pPr algn="l"/>
                      <a:r>
                        <a:rPr sz="1050" b="0">
                          <a:solidFill>
                            <a:srgbClr val="3A3326"/>
                          </a:solidFill>
                          <a:latin typeface="游ゴシック"/>
                          <a:ea typeface="游ゴシック"/>
                        </a:rPr>
                        <a:t>自家組織による隆鼻術</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¥330,000</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¥5,500</a:t>
                      </a:r>
                    </a:p>
                  </a:txBody>
                  <a:tcPr anchor="ctr" marL="80000" marR="60000" marT="15000" marB="15000">
                    <a:solidFill>
                      <a:srgbClr val="F3ECDD"/>
                    </a:solidFill>
                  </a:tcPr>
                </a:tc>
              </a:tr>
              <a:tr h="293914">
                <a:tc>
                  <a:txBody>
                    <a:bodyPr wrap="square"/>
                    <a:lstStyle/>
                    <a:p>
                      <a:pPr algn="l"/>
                      <a:r>
                        <a:rPr sz="1050" b="0">
                          <a:solidFill>
                            <a:srgbClr val="3A3326"/>
                          </a:solidFill>
                          <a:latin typeface="游ゴシック"/>
                          <a:ea typeface="游ゴシック"/>
                        </a:rPr>
                        <a:t>小鼻縮小（内側＋外側）</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¥308,000</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¥5,100</a:t>
                      </a:r>
                    </a:p>
                  </a:txBody>
                  <a:tcPr anchor="ctr" marL="80000" marR="60000" marT="15000" marB="15000">
                    <a:solidFill>
                      <a:srgbClr val="FDFBF6"/>
                    </a:solidFill>
                  </a:tcPr>
                </a:tc>
              </a:tr>
              <a:tr h="293914">
                <a:tc>
                  <a:txBody>
                    <a:bodyPr wrap="square"/>
                    <a:lstStyle/>
                    <a:p>
                      <a:pPr algn="l"/>
                      <a:r>
                        <a:rPr sz="1050" b="0">
                          <a:solidFill>
                            <a:srgbClr val="3A3326"/>
                          </a:solidFill>
                          <a:latin typeface="游ゴシック"/>
                          <a:ea typeface="游ゴシック"/>
                        </a:rPr>
                        <a:t>鼻翼基部軟骨移植（貴族・猫手術）</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¥275,000</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¥4,600</a:t>
                      </a:r>
                    </a:p>
                  </a:txBody>
                  <a:tcPr anchor="ctr" marL="80000" marR="60000" marT="15000" marB="15000">
                    <a:solidFill>
                      <a:srgbClr val="F3ECDD"/>
                    </a:solidFill>
                  </a:tcPr>
                </a:tc>
              </a:tr>
              <a:tr h="293914">
                <a:tc>
                  <a:txBody>
                    <a:bodyPr wrap="square"/>
                    <a:lstStyle/>
                    <a:p>
                      <a:pPr algn="l"/>
                      <a:r>
                        <a:rPr sz="1050" b="0">
                          <a:solidFill>
                            <a:srgbClr val="3A3326"/>
                          </a:solidFill>
                          <a:latin typeface="游ゴシック"/>
                          <a:ea typeface="游ゴシック"/>
                        </a:rPr>
                        <a:t>鼻孔縁下降術</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¥242,000</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¥4,000</a:t>
                      </a:r>
                    </a:p>
                  </a:txBody>
                  <a:tcPr anchor="ctr" marL="80000" marR="60000" marT="15000" marB="15000">
                    <a:solidFill>
                      <a:srgbClr val="FDFBF6"/>
                    </a:solidFill>
                  </a:tcPr>
                </a:tc>
              </a:tr>
              <a:tr h="293914">
                <a:tc>
                  <a:txBody>
                    <a:bodyPr wrap="square"/>
                    <a:lstStyle/>
                    <a:p>
                      <a:pPr algn="l"/>
                      <a:r>
                        <a:rPr sz="1050" b="0">
                          <a:solidFill>
                            <a:srgbClr val="3A3326"/>
                          </a:solidFill>
                          <a:latin typeface="游ゴシック"/>
                          <a:ea typeface="游ゴシック"/>
                        </a:rPr>
                        <a:t>鼻孔縁挙上術</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¥242,000</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¥4,000</a:t>
                      </a:r>
                    </a:p>
                  </a:txBody>
                  <a:tcPr anchor="ctr" marL="80000" marR="60000" marT="15000" marB="15000">
                    <a:solidFill>
                      <a:srgbClr val="F3ECDD"/>
                    </a:solidFill>
                  </a:tcPr>
                </a:tc>
              </a:tr>
              <a:tr h="293914">
                <a:tc>
                  <a:txBody>
                    <a:bodyPr wrap="square"/>
                    <a:lstStyle/>
                    <a:p>
                      <a:pPr algn="l"/>
                      <a:r>
                        <a:rPr sz="1050" b="0">
                          <a:solidFill>
                            <a:srgbClr val="3A3326"/>
                          </a:solidFill>
                          <a:latin typeface="游ゴシック"/>
                          <a:ea typeface="游ゴシック"/>
                        </a:rPr>
                        <a:t>鼻柱下降術</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¥308,000</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¥5,100</a:t>
                      </a:r>
                    </a:p>
                  </a:txBody>
                  <a:tcPr anchor="ctr" marL="80000" marR="60000" marT="15000" marB="15000">
                    <a:solidFill>
                      <a:srgbClr val="FDFBF6"/>
                    </a:solidFill>
                  </a:tcPr>
                </a:tc>
              </a:tr>
              <a:tr h="293914">
                <a:tc>
                  <a:txBody>
                    <a:bodyPr wrap="square"/>
                    <a:lstStyle/>
                    <a:p>
                      <a:pPr algn="l"/>
                      <a:r>
                        <a:rPr sz="1050" b="0">
                          <a:solidFill>
                            <a:srgbClr val="3A3326"/>
                          </a:solidFill>
                          <a:latin typeface="游ゴシック"/>
                          <a:ea typeface="游ゴシック"/>
                        </a:rPr>
                        <a:t>ハンプ切除</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¥286,000</a:t>
                      </a:r>
                    </a:p>
                  </a:txBody>
                  <a:tcPr anchor="ctr" marL="80000" marR="60000" marT="15000" marB="15000">
                    <a:solidFill>
                      <a:srgbClr val="F3ECDD"/>
                    </a:solidFill>
                  </a:tcPr>
                </a:tc>
                <a:tc>
                  <a:txBody>
                    <a:bodyPr wrap="square"/>
                    <a:lstStyle/>
                    <a:p>
                      <a:pPr algn="r"/>
                      <a:r>
                        <a:rPr sz="1100" b="1">
                          <a:solidFill>
                            <a:srgbClr val="3A3326"/>
                          </a:solidFill>
                          <a:latin typeface="游明朝"/>
                          <a:ea typeface="游明朝"/>
                        </a:rPr>
                        <a:t>¥4,800</a:t>
                      </a:r>
                    </a:p>
                  </a:txBody>
                  <a:tcPr anchor="ctr" marL="80000" marR="60000" marT="15000" marB="15000">
                    <a:solidFill>
                      <a:srgbClr val="F3ECDD"/>
                    </a:solidFill>
                  </a:tcPr>
                </a:tc>
              </a:tr>
              <a:tr h="293918">
                <a:tc>
                  <a:txBody>
                    <a:bodyPr wrap="square"/>
                    <a:lstStyle/>
                    <a:p>
                      <a:pPr algn="l"/>
                      <a:r>
                        <a:rPr sz="1050" b="0">
                          <a:solidFill>
                            <a:srgbClr val="3A3326"/>
                          </a:solidFill>
                          <a:latin typeface="游ゴシック"/>
                          <a:ea typeface="游ゴシック"/>
                        </a:rPr>
                        <a:t>鼻骨骨切り幅寄せ</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¥286,000</a:t>
                      </a:r>
                    </a:p>
                  </a:txBody>
                  <a:tcPr anchor="ctr" marL="80000" marR="60000" marT="15000" marB="15000">
                    <a:solidFill>
                      <a:srgbClr val="FDFBF6"/>
                    </a:solidFill>
                  </a:tcPr>
                </a:tc>
                <a:tc>
                  <a:txBody>
                    <a:bodyPr wrap="square"/>
                    <a:lstStyle/>
                    <a:p>
                      <a:pPr algn="r"/>
                      <a:r>
                        <a:rPr sz="1100" b="1">
                          <a:solidFill>
                            <a:srgbClr val="3A3326"/>
                          </a:solidFill>
                          <a:latin typeface="游明朝"/>
                          <a:ea typeface="游明朝"/>
                        </a:rPr>
                        <a:t>¥4,800</a:t>
                      </a:r>
                    </a:p>
                  </a:txBody>
                  <a:tcPr anchor="ctr" marL="80000" marR="60000" marT="15000" marB="15000">
                    <a:solidFill>
                      <a:srgbClr val="FDFBF6"/>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7</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「気になる症例があった」「自分はどのデザインが似合う？」——その段階で大歓迎です。
まずはカウンセリングで、ベクトラの3Dシミュレーションを無料でお試しください。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無料カウンセリング＋3Dシミュ</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ベクトラで“なりたい鼻”をその場で確認</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クローズド法のスペシャリスト</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傷を残さず、自然な仕上がりを設計</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豊富な症例・5周年の実績</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お悩み別・印象別の確かなデザイン力</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修正・他院修正にも対応</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Dr.鉄と連携し院全体でフォロー</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451</TotalTime>
  <Words>3742</Words>
  <Application>Microsoft Macintosh PowerPoint</Application>
  <PresentationFormat>ユーザー設定</PresentationFormat>
  <Paragraphs>686</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7</cp:revision>
  <dcterms:created xsi:type="dcterms:W3CDTF">2013-01-27T09:14:16Z</dcterms:created>
  <dcterms:modified xsi:type="dcterms:W3CDTF">2026-06-08T14:26:11Z</dcterms:modified>
  <cp:category/>
</cp:coreProperties>
</file>