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7562850" cy="1068863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写真枠 10"/>
          <p:cNvSpPr>
            <a:spLocks noGrp="1"/>
          </p:cNvSpPr>
          <p:nvPr>
            <p:ph type="pic" idx="10"/>
          </p:nvPr>
        </p:nvSpPr>
        <p:spPr>
          <a:xfrm>
            <a:off x="2066925" y="2240280"/>
            <a:ext cx="1554480" cy="3108960"/>
          </a:xfrm>
          <a:prstGeom prst="roundRect">
            <a:avLst>
              <a:gd name="adj" fmla="val 4000"/>
            </a:avLst>
          </a:prstGeom>
          <a:solidFill>
            <a:srgbClr val="ECE4D4"/>
          </a:solidFill>
        </p:spPr>
        <p:txBody>
          <a:bodyPr/>
          <a:lstStyle/>
          <a:p/>
        </p:txBody>
      </p:sp>
      <p:sp>
        <p:nvSpPr>
          <p:cNvPr id="202" name="写真枠 11"/>
          <p:cNvSpPr>
            <a:spLocks noGrp="1"/>
          </p:cNvSpPr>
          <p:nvPr>
            <p:ph type="pic" idx="11"/>
          </p:nvPr>
        </p:nvSpPr>
        <p:spPr>
          <a:xfrm>
            <a:off x="3941445" y="2240280"/>
            <a:ext cx="1554480" cy="3108960"/>
          </a:xfrm>
          <a:prstGeom prst="roundRect">
            <a:avLst>
              <a:gd name="adj" fmla="val 4000"/>
            </a:avLst>
          </a:prstGeom>
          <a:solidFill>
            <a:srgbClr val="ECE4D4"/>
          </a:solidFill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写真枠 10"/>
          <p:cNvSpPr>
            <a:spLocks noGrp="1"/>
          </p:cNvSpPr>
          <p:nvPr>
            <p:ph type="pic" idx="10"/>
          </p:nvPr>
        </p:nvSpPr>
        <p:spPr>
          <a:xfrm>
            <a:off x="841248" y="8339327"/>
            <a:ext cx="914400" cy="914400"/>
          </a:xfrm>
          <a:prstGeom prst="roundRect">
            <a:avLst>
              <a:gd name="adj" fmla="val 2000"/>
            </a:avLst>
          </a:prstGeom>
          <a:solidFill>
            <a:srgbClr val="ECE4D4"/>
          </a:solidFill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62850" cy="14630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4300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ゴシック"/>
                <a:ea typeface="游ゴシック"/>
              </a:rPr>
              <a:t>ZETITH BEAUTY CLINIC FUKUOKA  ／  Dr.HANE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55448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7A7060"/>
                </a:solidFill>
                <a:latin typeface="游明朝"/>
                <a:ea typeface="游明朝"/>
              </a:rPr>
              <a:t>5th Anniversary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423160"/>
            <a:ext cx="6428994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900" b="1">
                <a:solidFill>
                  <a:srgbClr val="3A3326"/>
                </a:solidFill>
                <a:latin typeface="游明朝"/>
                <a:ea typeface="游明朝"/>
              </a:rPr>
              <a:t>鼻整形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900" b="1">
                <a:solidFill>
                  <a:srgbClr val="3A3326"/>
                </a:solidFill>
                <a:latin typeface="游明朝"/>
                <a:ea typeface="游明朝"/>
              </a:rPr>
              <a:t>デザインカタログ</a:t>
            </a:r>
          </a:p>
        </p:txBody>
      </p:sp>
      <p:sp>
        <p:nvSpPr>
          <p:cNvPr id="7" name="Rectangle 6"/>
          <p:cNvSpPr/>
          <p:nvPr/>
        </p:nvSpPr>
        <p:spPr>
          <a:xfrm>
            <a:off x="2958465" y="4251960"/>
            <a:ext cx="164592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448056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A3326"/>
                </a:solidFill>
                <a:latin typeface="游明朝"/>
                <a:ea typeface="游明朝"/>
              </a:rPr>
              <a:t>“自然さ”にこだわる、クローズド法の設計集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074920"/>
            <a:ext cx="642899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7A7060"/>
                </a:solidFill>
                <a:latin typeface="游ゴシック"/>
                <a:ea typeface="游ゴシック"/>
              </a:rPr>
              <a:t>お悩みからでも、なりたい印象からでも引ける、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7A7060"/>
                </a:solidFill>
                <a:latin typeface="游ゴシック"/>
                <a:ea typeface="游ゴシック"/>
              </a:rPr>
              <a:t>近いお顔の実例から“なりたい”を一緒に探す保存版です。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6126480"/>
            <a:ext cx="2021078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6126480"/>
            <a:ext cx="2021078" cy="5486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537960"/>
            <a:ext cx="183819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3A3326"/>
                </a:solidFill>
                <a:latin typeface="游明朝"/>
                <a:ea typeface="游明朝"/>
              </a:rPr>
              <a:t>Baby &amp; Cute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7059168"/>
            <a:ext cx="18381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8C7339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70886" y="6126480"/>
            <a:ext cx="2021078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70886" y="6126480"/>
            <a:ext cx="2021078" cy="5486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62326" y="6537960"/>
            <a:ext cx="183819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3A3326"/>
                </a:solidFill>
                <a:latin typeface="游明朝"/>
                <a:ea typeface="游明朝"/>
              </a:rPr>
              <a:t>Elegant &amp; Straight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62326" y="7059168"/>
            <a:ext cx="18381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8C7339"/>
                </a:solidFill>
                <a:latin typeface="游ゴシック"/>
                <a:ea typeface="游ゴシック"/>
              </a:rPr>
              <a:t>忘れ鼻・大人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74844" y="6126480"/>
            <a:ext cx="2021078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74844" y="6126480"/>
            <a:ext cx="2021078" cy="5486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66284" y="6537960"/>
            <a:ext cx="183819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3A3326"/>
                </a:solidFill>
                <a:latin typeface="游明朝"/>
                <a:ea typeface="游明朝"/>
              </a:rPr>
              <a:t>Dramatic &amp; Glamorous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6284" y="7059168"/>
            <a:ext cx="18381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8C7339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877824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羽瀬 和秀  ／  Dr. Hane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9125712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@zetith_hane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この資料の見方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本カタログは、Dr.羽根の症例を「お悩み（部位）」で章立てし、各症例にはその仕上がりに最も近い「印象」を1つ表示しています。次ページの印象の説明と、巻頭の“印象×お悩みマトリクス”から、どちらの探し方でもご自身に近い症例に辿り着け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743200"/>
            <a:ext cx="3077337" cy="16002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743200"/>
            <a:ext cx="73152" cy="160020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944368"/>
            <a:ext cx="26201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3A3326"/>
                </a:solidFill>
                <a:latin typeface="游明朝"/>
                <a:ea typeface="游明朝"/>
              </a:rPr>
              <a:t>印象（3タイプ）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310128"/>
            <a:ext cx="26201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ゴシック"/>
                <a:ea typeface="游ゴシック"/>
              </a:rPr>
              <a:t>なりたい雰囲気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639312"/>
            <a:ext cx="262013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可愛い ／ 忘れ鼻・大人 ／ 華やか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18585" y="2743200"/>
            <a:ext cx="3077337" cy="16002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918585" y="2743200"/>
            <a:ext cx="73152" cy="160020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92905" y="2944368"/>
            <a:ext cx="26201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3A3326"/>
                </a:solidFill>
                <a:latin typeface="游明朝"/>
                <a:ea typeface="游明朝"/>
              </a:rPr>
              <a:t>お悩み（5部位）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92905" y="3310128"/>
            <a:ext cx="26201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ゴシック"/>
                <a:ea typeface="游ゴシック"/>
              </a:rPr>
              <a:t>気になる部位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2905" y="3639312"/>
            <a:ext cx="262013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鼻先 ／ 鼻筋・鼻背 ／ 小鼻・鼻の穴 ／ 全体・横顔 ／ 専門・修正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66344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C7339"/>
                </a:solidFill>
                <a:latin typeface="游明朝"/>
                <a:ea typeface="游明朝"/>
              </a:rPr>
              <a:t>各症例ページに載っていること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074920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① お悩み・印象タグ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部位＋なりたい印象（複数可）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81425" y="5074920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② Before / After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主役の角度を大きく＋必要に応じサブ角度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605272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③ 設計のポイント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この鼻で“何を狙ったか”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81425" y="5605272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④ 術式・使用材料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クローズド法／使用した材料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135624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⑤ ダウンタイム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腫れ・内出血が引くまでの目安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81425" y="6135624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⑥ リスク・副作用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起こりうる症状（必読）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665976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⑦ 通常料金＋月々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税込・通常料金とローン例（モニターは別途案内）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81425" y="6665976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⑧ 本人インタビュー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QRから“本人の声”動画へ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7863840"/>
            <a:ext cx="6428994" cy="173736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8046720"/>
            <a:ext cx="57889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⚠ 必ずお読みください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" y="8412480"/>
            <a:ext cx="578891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・掲載写真はご本人の同意を得て掲載しています。効果には個人差があります。
・鼻整形は自由診療（保険適用外）です。各症例に通常料金（税込）とリスクを記載しています。
・モニター価格・最新料金は院内／カウンセリングでご案内します（本資料には割引額を掲載していません）。
・本資料は手術を保証・推奨するものではなく、判断はカウンセリングで一緒に行います。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デザインカタログ｜この資料の見方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ABOUT IMPRESSION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3つの印象とは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当院は「どこを変えるか」より「どんな印象になりたいか」から設計します。下の3つが、なりたい雰囲気の方向性です。各症例には、その仕上がりに最も近い印象を1つだけ表示しています。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97480"/>
            <a:ext cx="6428994" cy="1965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697480"/>
            <a:ext cx="91440" cy="196596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898648"/>
            <a:ext cx="56974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3A3326"/>
                </a:solidFill>
                <a:latin typeface="游明朝"/>
                <a:ea typeface="游明朝"/>
              </a:rPr>
              <a:t>Baby &amp; Cute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355848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8C7339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685032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キーワード： 丸み・短さ・アップノーズ・あざと可愛い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995928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向いている方　</a:t>
            </a: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やわらかく親しみやすい印象にしたい方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288536"/>
            <a:ext cx="569747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設計の方向　　</a:t>
            </a: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鼻先に丸みを残し、中顔面を短く、小鼻を上げて“あざと可愛い”バランスに。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864608"/>
            <a:ext cx="6428994" cy="1965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4864608"/>
            <a:ext cx="91440" cy="196596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5065776"/>
            <a:ext cx="56974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3A3326"/>
                </a:solidFill>
                <a:latin typeface="游明朝"/>
                <a:ea typeface="游明朝"/>
              </a:rPr>
              <a:t>Elegant &amp; Straight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5522976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8C7339"/>
                </a:solidFill>
                <a:latin typeface="游ゴシック"/>
                <a:ea typeface="游ゴシック"/>
              </a:rPr>
              <a:t>忘れ鼻・大人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5852160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キーワード： まっすぐ・自然な高さ・やりすぎない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6163056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向いている方　</a:t>
            </a: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整形と気づかれず、横顔に品を出したい方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6455664"/>
            <a:ext cx="569747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設計の方向　　</a:t>
            </a: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余計な凹凸だけを整え、自然なストレートラインで“バレない”自然さに。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7031736"/>
            <a:ext cx="6428994" cy="1965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7031736"/>
            <a:ext cx="91440" cy="196596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7232904"/>
            <a:ext cx="56974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3A3326"/>
                </a:solidFill>
                <a:latin typeface="游明朝"/>
                <a:ea typeface="游明朝"/>
              </a:rPr>
              <a:t>Dramatic &amp; Glamorous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7690104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8C7339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8019288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キーワード： 高さ・シャープ・Eライン・主役級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8330184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向いている方　</a:t>
            </a: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しっかり変化させて華やかにしたい方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" y="8622792"/>
            <a:ext cx="569747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設計の方向　　</a:t>
            </a: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鼻筋に高さ、鼻先をシャープに、Eラインまで設計して主役級の横顔に。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8823960"/>
            <a:ext cx="6428994" cy="7772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6968" y="8951976"/>
            <a:ext cx="578891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ポイント　</a:t>
            </a: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同じお悩みでも、可愛い〜華やかまで“方向”を選べます。各症例の印象は、その方の仕上がりの一例です。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デザインカタログ｜3つの印象とは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印象 × お悩み 目次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002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縦＝お悩み（部位順）、横＝なりたい印象。各症例の印象は1つで、その列にページ番号が入ります。お悩みからでも印象からでも引けます。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2194560"/>
          <a:ext cx="6428993" cy="731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5946"/>
                <a:gridCol w="964349"/>
                <a:gridCol w="964349"/>
                <a:gridCol w="964349"/>
              </a:tblGrid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お悩み（部位）</a:t>
                      </a:r>
                    </a:p>
                  </a:txBody>
                  <a:tcPr anchor="ctr" marL="60000" marR="40000" marT="8000" marB="8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可愛い</a:t>
                      </a:r>
                    </a:p>
                  </a:txBody>
                  <a:tcPr anchor="ctr" marL="60000" marR="40000" marT="8000" marB="8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忘れ鼻</a:t>
                      </a:r>
                    </a:p>
                  </a:txBody>
                  <a:tcPr anchor="ctr" marL="60000" marR="40000" marT="8000" marB="8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華やか</a:t>
                      </a:r>
                    </a:p>
                  </a:txBody>
                  <a:tcPr anchor="ctr" marL="60000" marR="40000" marT="8000" marB="8000">
                    <a:solidFill>
                      <a:srgbClr val="B0934E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［鼻先］団子鼻の解消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P5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［鼻先］鼻先が低い・小さい（鼻先を出す）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P6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［鼻先］魔女鼻・垂れ鼻（下向きを整える）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P7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［鼻先］鼻先の溝・凹凸の解消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P8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［鼻筋・鼻背］鼻筋が低い（隆鼻）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P10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［鼻筋・鼻背］鷲鼻・ハンプの解消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P11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［鼻筋・鼻背］斜鼻・鼻筋の曲がり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P12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［鼻筋・鼻背］鼻筋・鼻骨の幅が広い（骨切り幅寄せ）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P13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［小鼻・鼻の穴］小鼻が大きい・広い（小鼻縮小）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P15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［小鼻・鼻の穴］鼻翼が下がっている（ACR）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P16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［小鼻・鼻の穴］鼻の穴が目立つ・左右差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P17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［全体・横顔］中顔面が長い（中顔面短縮）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P19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［全体・横顔］短鼻・豚鼻（鼻を下ろす）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P20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［全体・横顔］鼻の付け根が低い・Eライン（貴族手術）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P21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［専門・修正］拘縮鼻の修正（肋軟骨）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P23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［専門・修正］他院修正・外傷後の変形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P24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デザインカタログ｜印象 × お悩み 目次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642899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游明朝"/>
                <a:ea typeface="游明朝"/>
              </a:rPr>
              <a:t>THE NOSE TIP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290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B0934E"/>
                </a:solidFill>
                <a:latin typeface="游明朝"/>
                <a:ea typeface="游明朝"/>
              </a:rPr>
              <a:t>― お悩み：鼻先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1480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団子鼻・低い・向き・凹凸——鼻先の印象を決めるお悩み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074920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074920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団子鼻の解消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5074920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丸い鼻先を引き締め、可愛い〜華やかへ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5916168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5916168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鼻先が低い・小さい（鼻先を出す）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5916168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低い鼻先に高さと方向を出す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5568" y="6757416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4168" y="6757416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魔女鼻・垂れ鼻（下向きを整える）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6757416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下を向いた鼻先を自然に引き上げる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15568" y="7598664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44168" y="7598664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鼻先の溝・凹凸の解消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7598664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鼻先の溝・割れ・凹凸をなめらかに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デザインカタログ｜THE NOSE TIP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Rounded Rectangle 11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Box 3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01 ／ THE NOSE TIP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団子鼻の解消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6692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4144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66925" y="1874519"/>
            <a:ext cx="3429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0934E"/>
                </a:solidFill>
                <a:latin typeface="游明朝"/>
                <a:ea typeface="游明朝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Before・After それぞれの枠をクリックして写真を挿入（自動で枠いっぱいに配置されます）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鼻翼から鼻先まで引き締め、丸みを残すか・シャープにするかで印象を作る。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鼻尖形成＋鼻尖縮小（クローズド法）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腫れのピーク3〜6日／2週間でマスクで隠せる程度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・腫れ、内出血、痛み（数日〜2週間）
・左右差、知覚の鈍さが一時的に出ることがあります
・仕上がりに個人差があり、修正が必要な場合があります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¥440,000〜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¥7,800〜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丸い鼻先を整えるだけで顔の印象が大きく変わります。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01｜団子鼻の解消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Rounded Rectangle 11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Box 3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02 ／ THE NOSE TIP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鼻先が低い・小さい（鼻先を出す）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6692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4144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66925" y="1874519"/>
            <a:ext cx="3429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0934E"/>
                </a:solidFill>
                <a:latin typeface="游明朝"/>
                <a:ea typeface="游明朝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Before・After それぞれの枠をクリックして写真を挿入（自動で枠いっぱいに配置されます）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鼻先に高さと方向を作り、のっぺり感を解消して立体的に。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鼻尖形成＋軟骨移植（クローズド法）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自家組織（耳介・鼻中隔軟骨）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・移植軟骨の輪郭が出る・後戻りの可能性
・効果に個人差があります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¥495,000〜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¥8,800〜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鼻先が出るだけで横顔が引き締まります。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02｜鼻先が低い・小さい（鼻先を出す）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Rounded Rectangle 11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Box 3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03 ／ THE NOSE TIP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魔女鼻・垂れ鼻（下向きを整える）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6692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4144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66925" y="1874519"/>
            <a:ext cx="3429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0934E"/>
                </a:solidFill>
                <a:latin typeface="游明朝"/>
                <a:ea typeface="游明朝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Before・After それぞれの枠をクリックして写真を挿入（自動で枠いっぱいに配置されます）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下に向いた鼻先を引き上げ、やわらかく自然な向きへ。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鼻尖形成＋鼻中隔調整（クローズド法）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自家組織（鼻中隔・耳介軟骨）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・腫れ、内出血、痛み（数日〜2週間）
・左右差、知覚の鈍さが一時的に出ることがあります
・仕上がりに個人差があり、修正が必要な場合があります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¥495,000〜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¥8,800〜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下向きの鼻先が上がると若々しい印象に。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03｜魔女鼻・垂れ鼻（下向きを整える）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Rounded Rectangle 11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Box 3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04 ／ THE NOSE TIP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鼻先の溝・凹凸の解消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6692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4144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66925" y="1874519"/>
            <a:ext cx="3429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0934E"/>
                </a:solidFill>
                <a:latin typeface="游明朝"/>
                <a:ea typeface="游明朝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Before・After それぞれの枠をクリックして写真を挿入（自動で枠いっぱいに配置されます）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鼻先の溝や凹凸をならし、なめらかで写真映えする鼻先に。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鼻尖形成＋軟骨移植（クローズド法）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腫れのピーク3〜6日／2週間でマスクで隠せる程度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・腫れ、内出血、痛み（数日〜2週間）
・左右差、知覚の鈍さが一時的に出ることがあります
・仕上がりに個人差があり、修正が必要な場合があります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¥460,000〜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¥8,200〜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光の当たる鼻先の凹凸をならすと印象が整います。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04｜鼻先の溝・凹凸の解消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642899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游明朝"/>
                <a:ea typeface="游明朝"/>
              </a:rPr>
              <a:t>THE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290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B0934E"/>
                </a:solidFill>
                <a:latin typeface="游明朝"/>
                <a:ea typeface="游明朝"/>
              </a:rPr>
              <a:t>― お悩み：鼻筋・鼻背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1480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低い・鷲鼻・曲がり・幅広——鼻筋のお悩み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074920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074920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鼻筋が低い（隆鼻）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5074920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鼻筋に自然な高さとラインを出す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5916168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5916168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鷲鼻・ハンプの解消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5916168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鼻筋の出っ張りを削ってまっすぐに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5568" y="6757416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4168" y="6757416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斜鼻・鼻筋の曲がり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6757416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曲がった鼻筋をまっすぐ整える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15568" y="7598664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44168" y="7598664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鼻筋・鼻骨の幅が広い（骨切り幅寄せ）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7598664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広がった鼻骨を寄せて細い鼻筋に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デザインカタログ｜THE BRIDGE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Rounded Rectangle 11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Box 3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05 ／ THE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鼻筋が低い（隆鼻）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部位：鼻筋・鼻背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6692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4144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66925" y="1874519"/>
            <a:ext cx="3429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0934E"/>
                </a:solidFill>
                <a:latin typeface="游明朝"/>
                <a:ea typeface="游明朝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Before・After それぞれの枠をクリックして写真を挿入（自動で枠いっぱいに配置されます）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鼻筋に自然な高さとまっすぐなラインを。やりすぎず横顔の品格を。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隆鼻術（プロテーゼ）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プロテーゼ（シリコン）／ご希望で自家組織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・プロテーゼのズレ・輪郭の浮き出しの可能性
・効果に個人差があり、抜去や入れ替えが必要な場合があります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¥385,000〜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¥6,900〜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鼻筋が通るだけで正面も横顔も洗練されます。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05｜鼻筋が低い（隆鼻）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Rounded Rectangle 11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Box 3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06 ／ THE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鷲鼻・ハンプの解消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部位：鼻筋・鼻背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40代／横顔：ストレート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6692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4144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66925" y="1874519"/>
            <a:ext cx="3429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0934E"/>
                </a:solidFill>
                <a:latin typeface="游明朝"/>
                <a:ea typeface="游明朝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Before・After それぞれの枠をクリックして写真を挿入（自動で枠いっぱいに配置されます）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鼻筋の出っ張りを削り、まっすぐ上品な横顔へ。下げて可愛くも。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ハンプ切除＋鼻尖形成（クローズド法）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・段差・左右差・後戻りの可能性
・効果に個人差があり、追加矯正が必要な場合があります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¥495,000〜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¥8,800〜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横顔の引っかかりが消えると品が出ます。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06｜鷲鼻・ハンプの解消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Rounded Rectangle 11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Box 3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07 ／ THE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斜鼻・鼻筋の曲がり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部位：鼻筋・鼻背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6692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4144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66925" y="1874519"/>
            <a:ext cx="3429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0934E"/>
                </a:solidFill>
                <a:latin typeface="游明朝"/>
                <a:ea typeface="游明朝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Before・After それぞれの枠をクリックして写真を挿入（自動で枠いっぱいに配置されます）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曲がった鼻筋をまっすぐに。見た目と通りの両面から整える。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鼻骨骨切り＋（必要に応じ）鼻中隔矯正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自家組織／必要に応じプロテーゼ ／ 静脈麻酔または全身麻酔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腫れのピーク1週前後／ギプス固定約7日／内出血が出やすい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・完全な左右対称・直線化は保証できません
・後戻り・追加矯正が必要な場合があります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¥550,000〜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¥9,800〜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長年の鼻筋の曲がりが整いました。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07｜斜鼻・鼻筋の曲がり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Rounded Rectangle 11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Box 3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08 ／ THE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鼻筋・鼻骨の幅が広い（骨切り幅寄せ）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部位：鼻筋・鼻背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6692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4144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66925" y="1874519"/>
            <a:ext cx="3429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0934E"/>
                </a:solidFill>
                <a:latin typeface="游明朝"/>
                <a:ea typeface="游明朝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Before・After それぞれの枠をクリックして写真を挿入（自動で枠いっぱいに配置されます）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広がった鼻骨を内側に寄せ、すっきり細い鼻筋に。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鼻骨骨切り（幅寄せ）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（必要に応じ）プロテーゼ・自家組織 ／ 静脈麻酔または全身麻酔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腫れのピーク1週前後／ギプス固定約7日／内出血が出やすい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・段差・左右差・後戻りの可能性
・効果に個人差があり、追加矯正が必要な場合があります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¥550,000〜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¥9,800〜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正面の鼻筋が細くなって小顔見えします。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08｜鼻筋・鼻骨の幅が広い（骨切り幅寄せ）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642899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游明朝"/>
                <a:ea typeface="游明朝"/>
              </a:rPr>
              <a:t>NOSTRILS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290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B0934E"/>
                </a:solidFill>
                <a:latin typeface="游明朝"/>
                <a:ea typeface="游明朝"/>
              </a:rPr>
              <a:t>― お悩み：小鼻・鼻の穴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1480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小鼻・鼻翼・鼻の穴の見え方のお悩み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074920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074920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小鼻が大きい・広い（小鼻縮小）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5074920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小鼻の広がりを自然に抑える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5916168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5916168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鼻翼が下がっている（ACR）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5916168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鼻翼を上げてあざと可愛い正面に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5568" y="6757416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4168" y="6757416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鼻の穴が目立つ・左右差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6757416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鼻の穴の見え方・左右差を整える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デザインカタログ｜NOSTRILS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Rounded Rectangle 11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Box 3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09 ／ NOSTRILS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小鼻が大きい・広い（小鼻縮小）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部位：小鼻・鼻の穴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30代／横顔：半ラウンド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6692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4144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66925" y="1874519"/>
            <a:ext cx="3429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0934E"/>
                </a:solidFill>
                <a:latin typeface="游明朝"/>
                <a:ea typeface="游明朝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Before・After それぞれの枠をクリックして写真を挿入（自動で枠いっぱいに配置されます）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小鼻の広がりだけを抑え、印象を壊さない引き算の設計。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小鼻縮小（内側＋外側）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（材料なし） ／ 局所麻酔（ご希望で静脈麻酔）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腫れ・内出血は軽め／抜糸5〜7日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・腫れ、内出血、傷あと（徐々に目立ちにくく）
・左右差、後戻りが生じる可能性
・仕上がりに個人差があります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¥330,000〜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¥5,900〜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小さくしすぎず、正面の余白だけ整えました。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09｜小鼻が大きい・広い（小鼻縮小）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Rounded Rectangle 11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Box 3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10 ／ NOSTRILS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鼻翼が下がっている（ACR）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部位：小鼻・鼻の穴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20代／横顔：半ラウンド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6692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4144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66925" y="1874519"/>
            <a:ext cx="3429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0934E"/>
                </a:solidFill>
                <a:latin typeface="游明朝"/>
                <a:ea typeface="游明朝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Before・After それぞれの枠をクリックして写真を挿入（自動で枠いっぱいに配置されます）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鼻を下ろしながら小鼻を上げ、あざと可愛いバランスへ。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ACR（鼻翼縁挙上）＋鼻尖形成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腫れのピーク3〜6日／抜糸5〜7日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・腫れ、内出血、傷あと（徐々に目立ちにくく）
・左右差、後戻りが生じる可能性
・仕上がりに個人差があります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¥440,000〜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¥7,800〜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正面の印象があざと可愛くなる繊細な調整です。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10｜鼻翼が下がっている（ACR）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Rounded Rectangle 11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Box 3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11 ／ NOSTRILS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鼻の穴が目立つ・左右差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部位：小鼻・鼻の穴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6692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4144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66925" y="1874519"/>
            <a:ext cx="3429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0934E"/>
                </a:solidFill>
                <a:latin typeface="游明朝"/>
                <a:ea typeface="游明朝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Before・After それぞれの枠をクリックして写真を挿入（自動で枠いっぱいに配置されます）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正面・下からの鼻の穴の見え方と左右差を整える。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鼻尖形成＋小鼻・鼻柱の調整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自家組織（耳介・鼻中隔軟骨）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腫れのピーク3〜6日／抜糸5〜7日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・腫れ、内出血、痛み、左右差の可能性
・完全な左右対称は保証できません
・効果に個人差があります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¥440,000〜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¥7,800〜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正面から鼻の穴が見えにくくなりました。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11｜鼻の穴が目立つ・左右差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642899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游明朝"/>
                <a:ea typeface="游明朝"/>
              </a:rPr>
              <a:t>BALANCE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290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B0934E"/>
                </a:solidFill>
                <a:latin typeface="游明朝"/>
                <a:ea typeface="游明朝"/>
              </a:rPr>
              <a:t>― お悩み：全体・横顔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1480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鼻の長さ・向き・Eライン——全体バランスのお悩み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074920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074920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中顔面が長い（中顔面短縮）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5074920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鼻の長さを調整して小顔印象に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5916168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5916168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短鼻・豚鼻（鼻を下ろす）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5916168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上向きの鼻先を下ろして整える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5568" y="6757416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4168" y="6757416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鼻の付け根が低い・Eライン（貴族手術）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6757416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付け根を起こしてEラインを作る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デザインカタログ｜BALANCE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Rounded Rectangle 11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Box 3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12 ／ BALANCE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中顔面が長い（中顔面短縮）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部位：全体・横顔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6692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4144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66925" y="1874519"/>
            <a:ext cx="3429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0934E"/>
                </a:solidFill>
                <a:latin typeface="游明朝"/>
                <a:ea typeface="游明朝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Before・After それぞれの枠をクリックして写真を挿入（自動で枠いっぱいに配置されます）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鼻根から上方向へ鼻長を調整し、間延びを抑えて小顔印象に。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鼻尖形成＋鼻中隔調整（クローズド法）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自家組織（耳介・鼻中隔軟骨）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腫れのピーク3〜6日／2週間でメイクで隠せる程度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・移植軟骨の輪郭が出る・後戻りの可能性
・効果に個人差があります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¥495,000〜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¥8,800〜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鼻の長さが変わるだけで顔が小さく見えます。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12｜中顔面が長い（中顔面短縮）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Rounded Rectangle 11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Box 3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13 ／ BALANCE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短鼻・豚鼻（鼻を下ろす）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部位：全体・横顔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6692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4144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66925" y="1874519"/>
            <a:ext cx="3429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0934E"/>
                </a:solidFill>
                <a:latin typeface="游明朝"/>
                <a:ea typeface="游明朝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Before・After それぞれの枠をクリックして写真を挿入（自動で枠いっぱいに配置されます）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上向きの鼻先を自然に下ろし、向きと高さを整える。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鼻中隔延長＋鼻尖形成（クローズド法）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自家組織（鼻中隔・耳介軟骨）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・延長量により後戻り・知覚の鈍さの可能性
・効果に個人差があり、修正が必要な場合があります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¥550,000〜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¥9,800〜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上向きの鼻が下りて横顔が一段上がりました。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13｜短鼻・豚鼻（鼻を下ろす）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Rounded Rectangle 11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Box 3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14 ／ BALANCE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鼻の付け根が低い・Eライン（貴族手術）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部位：全体・横顔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6692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4144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66925" y="1874519"/>
            <a:ext cx="3429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0934E"/>
                </a:solidFill>
                <a:latin typeface="游明朝"/>
                <a:ea typeface="游明朝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Before・After それぞれの枠をクリックして写真を挿入（自動で枠いっぱいに配置されます）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鼻の付け根を起こし、横顔の表現力（Eライン）を演出。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貴族手術（鼻基底）＋隆鼻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プロテーゼ／ヒアルロン酸／自家組織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腫れのピーク3〜6日／内出血が出ることがあります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・左右差・吸収（ヒアルロン酸の場合）の可能性
・効果に個人差があります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¥385,000〜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¥6,900〜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付け根を起こすとEラインと立体感が出ます。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14｜鼻の付け根が低い・Eライン（貴族手術）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642899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游明朝"/>
                <a:ea typeface="游明朝"/>
              </a:rPr>
              <a:t>REVISION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290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B0934E"/>
                </a:solidFill>
                <a:latin typeface="游明朝"/>
                <a:ea typeface="游明朝"/>
              </a:rPr>
              <a:t>― お悩み：専門・修正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1480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拘縮・他院修正・外傷——専門的な修正のお悩み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074920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074920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拘縮鼻の修正（肋軟骨）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5074920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拘縮した鼻を肋軟骨で作り直す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5916168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5916168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他院修正・外傷後の変形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5916168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他院修正・外傷後の変形に対応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デザインカタログ｜REVISION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Rounded Rectangle 11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Box 3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15 ／ REVISION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拘縮鼻の修正（肋軟骨）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部位：専門・修正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6692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4144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66925" y="1874519"/>
            <a:ext cx="3429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0934E"/>
                </a:solidFill>
                <a:latin typeface="游明朝"/>
                <a:ea typeface="游明朝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Before・After それぞれの枠をクリックして写真を挿入（自動で枠いっぱいに配置されます）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拘縮した鼻を肋軟骨で土台から作り直し、立体感を取り戻す。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拘縮鼻修正＋肋軟骨移植（鼻中隔延長）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自家組織（肋軟骨） ／ 全身麻酔または静脈麻酔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腫れのピーク1週前後／ギプス固定約7日／採取部の痛み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・肋軟骨採取部の傷あと・痛み・気胸（稀）
・難症例のため効果に個人差があり、追加修正の可能性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¥880,000〜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¥15,800〜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難しい拘縮も肋軟骨でしっかり作り直せます。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15｜拘縮鼻の修正（肋軟骨）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Rounded Rectangle 11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Box 3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16 ／ REVISION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他院修正・外傷後の変形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部位：専門・修正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—／横顔：—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6692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4144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66925" y="1874519"/>
            <a:ext cx="3429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0934E"/>
                </a:solidFill>
                <a:latin typeface="游明朝"/>
                <a:ea typeface="游明朝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Before・After それぞれの枠をクリックして写真を挿入（自動で枠いっぱいに配置されます）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他院の結果や外傷後の変形を、状態に合わせて設計し直す。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他院修正（状態により術式選択）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自家組織（耳介・鼻中隔・肋軟骨） ／ 静脈麻酔または全身麻酔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術式により異なる／ギプス固定が必要な場合あり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・瘢痕・組織の状態により可能な範囲が限られます
・追加修正が必要な場合があります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3A3326"/>
                </a:solidFill>
                <a:latin typeface="游明朝"/>
                <a:ea typeface="游明朝"/>
              </a:rPr>
              <a:t>別途お見積り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修正は鼻修正専門のDr.鉄と連携して対応します。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16｜他院修正・外傷後の変形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2" name="Rounded Rectangle 31"/>
          <p:cNvSpPr/>
          <p:nvPr/>
        </p:nvSpPr>
        <p:spPr>
          <a:xfrm>
            <a:off x="566928" y="8092440"/>
            <a:ext cx="6428994" cy="141732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PATIENT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ある患者さまの3ヶ月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25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「鼻筋が低い（隆鼻）」を選ばれた20代の方の、相談から3ヶ月までの経過です。ダウンタイムのリアルを、ご本人のインタビュー動画と合わせてご覧ください。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5146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5146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1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相談・デザイン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58568" y="25146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87168" y="25146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ベクトラ（3Dシミュレーション）で“なりたい鼻”をその場で確認。クローズド法で計画。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4290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34290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2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手術当日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58568" y="34290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87168" y="34290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静脈麻酔下で約60〜90分。日帰り。ギプスで固定して帰宅。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434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43434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3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翌日〜3日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58568" y="43434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87168" y="43434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腫れ・内出血のピーク。痛みは内服でコントロール。マスクで通勤可。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2578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52578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4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1週間（ギプスオフ）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258568" y="52578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87168" y="52578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ギプスを外し、メイクOK。むくみは残るが“鼻が高くなった”を実感。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61722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1722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5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1ヶ月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258568" y="61722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87168" y="61722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腫れの大半が引く。横顔のラインが整い、自然な仕上がりに。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70866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70866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6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3ヶ月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258568" y="70866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87168" y="70866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完成。「自分史上いちばん好きな横顔」とご本人。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" y="928116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▶ QRを挿入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84248" y="8385048"/>
            <a:ext cx="469163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▶ この方のインタビューを見る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「ダウンタイムが思ったより楽だった」——ご本人の言葉でどうぞ。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デザインカタログ｜ある患者さまの3ヶ月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WHY Dr.HANE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なぜ、Dr.羽根なのか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“盛る”のではなく、“似合う”を自然に。他院と比べて迷っている方へ、Dr.羽根の4つの約束です。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46888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468880"/>
            <a:ext cx="73152" cy="16916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69748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035808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傷が残らないクローズド法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547872"/>
            <a:ext cx="262013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7A7060"/>
                </a:solidFill>
                <a:latin typeface="游ゴシック"/>
                <a:ea typeface="游ゴシック"/>
              </a:rPr>
              <a:t>鼻の穴の中から手術。外からの傷あとを残さず、ダウンタイムにも配慮した設計。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18585" y="246888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918585" y="2468880"/>
            <a:ext cx="73152" cy="16916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92905" y="269748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92905" y="3035808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“やりすぎない”自然さ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2905" y="3547872"/>
            <a:ext cx="262013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7A7060"/>
                </a:solidFill>
                <a:latin typeface="游ゴシック"/>
                <a:ea typeface="游ゴシック"/>
              </a:rPr>
              <a:t>「整形した？」と聞かれない自然さを最優先。お顔全体のバランスから逆算してデザイン。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8912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4389120"/>
            <a:ext cx="73152" cy="16916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461772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4956048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ベクトラ3Dシミュレーション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5468112"/>
            <a:ext cx="262013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7A7060"/>
                </a:solidFill>
                <a:latin typeface="游ゴシック"/>
                <a:ea typeface="游ゴシック"/>
              </a:rPr>
              <a:t>全カウンセリングで“なりたい鼻”をその場で可視化。イメージを共有してから決定。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18585" y="438912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18585" y="4389120"/>
            <a:ext cx="73152" cy="16916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92905" y="461772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2905" y="4956048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豊富な症例と修正対応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92905" y="5468112"/>
            <a:ext cx="262013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7A7060"/>
                </a:solidFill>
                <a:latin typeface="游ゴシック"/>
                <a:ea typeface="游ゴシック"/>
              </a:rPr>
              <a:t>5周年・多数の症例実績。難症例・他院修正は鼻修正専門のDr.鉄と連携し院全体で対応。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8183879"/>
            <a:ext cx="6428994" cy="1325880"/>
          </a:xfrm>
          <a:prstGeom prst="round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8385047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先生のひとこと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8714231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游明朝"/>
                <a:ea typeface="游明朝"/>
              </a:rPr>
              <a:t>「良い症例」だけでなく「起こりうること」まで知って納得していただく。それが、やりすぎない鼻整形の出発点です。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デザインカタログ｜なぜ、Dr.羽根なのか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リスク・副作用・修正について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27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どの症例にも共通するリスクと、当院の修正・アフターケアの考え方です。手術前に必ずご確認ください。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423160"/>
            <a:ext cx="6428994" cy="23774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624328"/>
            <a:ext cx="57889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C7339"/>
                </a:solidFill>
                <a:latin typeface="游明朝"/>
                <a:ea typeface="游明朝"/>
              </a:rPr>
              <a:t>鼻整形に共通するリスク・副作用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017520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腫れ・内出血・痛み（通常は数日〜2週間で軽快）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47185" y="3017520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感染・血腫（適切な処置が必要な場合があります）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438144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左右差・知覚の鈍さ（一時的なことが多いが残る場合も）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7185" y="3438144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プロテーゼのズレ・露出・輪郭の浮き出し（人工物使用時）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858768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傷あと・拘縮（時間経過で目立ちにくくなることが多い）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47185" y="3858768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仕上がりの個人差・後戻り（修正が必要な場合があります）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279392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肋軟骨採取部の痛み・傷あと・気胸（肋軟骨使用時／稀）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7185" y="4279392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骨切り部の段差・左右差（骨切り術の場合）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029200"/>
            <a:ext cx="6428994" cy="19202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230368"/>
            <a:ext cx="57889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C7339"/>
                </a:solidFill>
                <a:latin typeface="游明朝"/>
                <a:ea typeface="游明朝"/>
              </a:rPr>
              <a:t>当院の修正・アフターケア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5650992"/>
            <a:ext cx="578891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・術後の経過診察は無料で対応します。
・感染・トラブル時の処置体制を整えています。
・一定期間内の修正対応の有無・条件は、カウンセリングで明確にお伝えします。
・拘縮鼻・他院修正など難症例は、鼻修正専門のDr.鉄と連携して対応します。
※保証内容は術式により異なります。詳細は同意書・契約時にご確認ください。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7269480"/>
            <a:ext cx="6428994" cy="2194560"/>
          </a:xfrm>
          <a:prstGeom prst="roundRect">
            <a:avLst/>
          </a:prstGeom>
          <a:solidFill>
            <a:srgbClr val="FDFBF6"/>
          </a:solidFill>
          <a:ln w="1524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7498080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8C7339"/>
                </a:solidFill>
                <a:latin typeface="游明朝"/>
                <a:ea typeface="游明朝"/>
              </a:rPr>
              <a:t>納得してから、決めてください。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7955280"/>
            <a:ext cx="569747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私たちのカウンセリングは、契約のためではなく“あなたにとっての最善を一緒に考える”時間です。「今日決めなくては」という必要はありません。ベクトラのシミュレーション画像はお持ち帰りいただけます。ご家族と相談したい、他院と比べたい——どうぞ遠慮なく。納得いただけたときが、ベストなタイミングです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デザインカタログ｜リスク・副作用・修正について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通常料金・月々のお支払い目安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28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55448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下記は「通常料金（定価）」の目安です。当院は主にモニター制度でのご案内が中心で、実際のご料金はカウンセリングで個別に提示します。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2103120"/>
          <a:ext cx="6428993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4497"/>
                <a:gridCol w="1735828"/>
                <a:gridCol w="1478668"/>
              </a:tblGrid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術式 ／ デザイン</a:t>
                      </a:r>
                    </a:p>
                  </a:txBody>
                  <a:tcPr anchor="ctr" marL="80000" marR="80000" marT="16000" marB="16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通常料金（税込）</a:t>
                      </a:r>
                    </a:p>
                  </a:txBody>
                  <a:tcPr anchor="ctr" marL="80000" marR="80000" marT="16000" marB="16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月々（60回）</a:t>
                      </a:r>
                    </a:p>
                  </a:txBody>
                  <a:tcPr anchor="ctr" marL="80000" marR="80000" marT="16000" marB="16000">
                    <a:solidFill>
                      <a:srgbClr val="B0934E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小鼻縮小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¥330,000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¥5,900〜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隆鼻術（プロテーゼ）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¥385,000〜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¥6,900〜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貴族手術（鼻基底・Eライン）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¥385,000〜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¥6,900〜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鼻尖形成（団子鼻・鼻先）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¥440,000〜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¥7,800〜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ACR（鼻翼縁挙上）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¥440,000〜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¥7,800〜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ハンプ切除（鷲鼻）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¥495,000〜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¥8,800〜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中顔面短縮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¥495,000〜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¥8,800〜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鼻中隔延長（短鼻・延長）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¥550,000〜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¥9,800〜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鼻骨骨切り（斜鼻・幅寄せ）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¥550,000〜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¥9,800〜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鼻フルコース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¥660,000〜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¥11,800〜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肋軟骨・拘縮／他院修正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¥880,000〜／別途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¥15,800〜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66928" y="6400800"/>
            <a:ext cx="6428994" cy="155448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6601968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8C7339"/>
                </a:solidFill>
                <a:latin typeface="游明朝"/>
                <a:ea typeface="游明朝"/>
              </a:rPr>
              <a:t>モニター制度について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6967728"/>
            <a:ext cx="569747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当院には【通常料金】のほか【部分モニター】【全額モニター】があります。術前・術後のお写真のご提供にご協力いただける方は、通常料金より割安にご案内できます。適用条件・実際のご料金はカウンセリングで個別にご案内します（割引額は本資料には掲載していません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8092440"/>
            <a:ext cx="642899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※ 上記は「通常料金」の目安です。鼻整形は自由診療（保険適用外）です。
※ 月々は通常料金・60回払いの一例で、金利・支払回数により変動します（現金・各種クレジット・医療ローン対応）。
※ モニター価格の具体的な割引額は、医療広告の観点から本資料には掲載していません。院内・カウンセリングでご案内します。
※ 最新の料金・キャンペーンは @zetith_hane／院内・カウンセリングにてご確認ください。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デザインカタログ｜通常料金・月々のお支払い目安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RESERVATION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ご予約・ご相談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29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91640"/>
            <a:ext cx="642899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A3326"/>
                </a:solidFill>
                <a:latin typeface="游明朝"/>
                <a:ea typeface="游明朝"/>
              </a:rPr>
              <a:t>「気になる症例があった」「自分はどのデザインが似合う？」——その段階で大歓迎です。
まずはカウンセリングで、ベクトラの3Dシミュレーションを無料でお試しください。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880360"/>
            <a:ext cx="3077337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880360"/>
            <a:ext cx="73152" cy="10058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06324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無料カウンセリング＋3Dシミュ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483864"/>
            <a:ext cx="26201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ベクトラで“なりたい鼻”をその場で確認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18585" y="2880360"/>
            <a:ext cx="3077337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18585" y="2880360"/>
            <a:ext cx="73152" cy="10058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92905" y="306324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クローズド法のスペシャリスト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2905" y="3483864"/>
            <a:ext cx="26201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傷を残さず、自然な仕上がりを設計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69080"/>
            <a:ext cx="3077337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4069080"/>
            <a:ext cx="73152" cy="10058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25196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豊富な症例・5周年の実績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672584"/>
            <a:ext cx="26201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お悩み別・印象別の確かなデザイン力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18585" y="4069080"/>
            <a:ext cx="3077337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18585" y="4069080"/>
            <a:ext cx="73152" cy="10058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92905" y="425196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修正・他院修正にも対応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2905" y="4672584"/>
            <a:ext cx="26201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Dr.鉄と連携し院全体でフォロー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532120"/>
            <a:ext cx="6428994" cy="3154680"/>
          </a:xfrm>
          <a:prstGeom prst="round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" y="5852160"/>
            <a:ext cx="36857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游明朝"/>
                <a:ea typeface="游明朝"/>
              </a:rPr>
              <a:t>ご予約・ご相談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6446520"/>
            <a:ext cx="350291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Instagram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游明朝"/>
                <a:ea typeface="游明朝"/>
              </a:rPr>
              <a:t>@zetith_hane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500" b="0">
                <a:solidFill>
                  <a:srgbClr val="3A3326"/>
                </a:solidFill>
                <a:latin typeface="游ゴシック"/>
                <a:ea typeface="游ゴシック"/>
              </a:rPr>
              <a:t> 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ゴシック"/>
                <a:ea typeface="游ゴシック"/>
              </a:rPr>
              <a:t>Zetith Beauty Clinic 福岡院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CBC1AD"/>
                </a:solidFill>
                <a:latin typeface="游ゴシック"/>
                <a:ea typeface="游ゴシック"/>
              </a:rPr>
              <a:t>天神駅より徒歩6分　／　Dr. 羽瀬 和秀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67122" y="6035040"/>
            <a:ext cx="14630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67122" y="6035040"/>
            <a:ext cx="146304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予約はこちら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4128" y="7772400"/>
            <a:ext cx="2286000" cy="50292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" y="777240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游ゴシック"/>
                <a:ea typeface="游ゴシック"/>
              </a:rPr>
              <a:t>WEB / LINEで予約する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47288" y="7772400"/>
            <a:ext cx="2286000" cy="502920"/>
          </a:xfrm>
          <a:prstGeom prst="roundRect">
            <a:avLst/>
          </a:prstGeom>
          <a:solidFill>
            <a:srgbClr val="26221B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47288" y="777240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カウンセリング優先案内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デザインカタログ｜ご予約・ご相談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