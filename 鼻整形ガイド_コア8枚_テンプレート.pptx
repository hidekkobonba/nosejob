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8575" y="1645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B89650"/>
                </a:solidFill>
                <a:latin typeface="Georgia"/>
                <a:ea typeface="Georgia"/>
              </a:rPr>
              <a:t>Nose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v1.0 / 2026-06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89650"/>
                </a:solidFill>
                <a:latin typeface="Georgia"/>
                <a:ea typeface="Georgia"/>
              </a:rPr>
              <a:t>Nose Design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3C3732"/>
                </a:solidFill>
                <a:latin typeface="游ゴシック"/>
                <a:ea typeface="游ゴシック"/>
              </a:rPr>
              <a:t>鼻整形 解説ガイド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429000"/>
            <a:ext cx="11887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3C3732"/>
                </a:solidFill>
                <a:latin typeface="游ゴシック"/>
                <a:ea typeface="游ゴシック"/>
              </a:rPr>
              <a:t>「どこを変えるか」より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3C3732"/>
                </a:solidFill>
                <a:latin typeface="游ゴシック"/>
                <a:ea typeface="游ゴシック"/>
              </a:rPr>
              <a:t>「どんな印象になりたいか」。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65C"/>
                </a:solidFill>
                <a:latin typeface="游ゴシック"/>
                <a:ea typeface="游ゴシック"/>
              </a:rPr>
              <a:t>カウンセリングで一緒に考えるための、患者さま向けガイドです。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521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89650"/>
                </a:solidFill>
                <a:latin typeface="游ゴシック"/>
                <a:ea typeface="游ゴシック"/>
              </a:rPr>
              <a:t>羽根 和秀 ｜ Zetith Beauty Clinic Fukuoka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280160"/>
            <a:ext cx="4572000" cy="429768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B89650"/>
                </a:solidFill>
                <a:latin typeface="游ゴシック"/>
                <a:ea typeface="游ゴシック"/>
              </a:rPr>
              <a:t>【A1 表紙ビジュアル】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8575" y="1645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B89650"/>
                </a:solidFill>
                <a:latin typeface="Georgia"/>
                <a:ea typeface="Georgia"/>
              </a:rPr>
              <a:t>Nose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v1.0 / 2026-06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Impression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鼻整形で変わる3つの印象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100584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E665C"/>
                </a:solidFill>
                <a:latin typeface="游ゴシック"/>
                <a:ea typeface="游ゴシック"/>
              </a:rPr>
              <a:t>最初に考えるのは「どこを変えるか」ではなく、どんな印象になりたいか。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10637215" cy="137160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B89650"/>
                </a:solidFill>
                <a:latin typeface="游ゴシック"/>
                <a:ea typeface="游ゴシック"/>
              </a:rPr>
              <a:t>【A3 3つの印象アイコン（正面／横顔／顔全体）】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89650"/>
                </a:solidFill>
                <a:latin typeface="游ゴシック"/>
                <a:ea typeface="游ゴシック"/>
              </a:rPr>
              <a:t>① 正面の印象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33018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鼻先・小鼻・鼻の穴のバランスで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「すっきり感」「可愛さ」が変わる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3703320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89650"/>
                </a:solidFill>
                <a:latin typeface="游ゴシック"/>
                <a:ea typeface="游ゴシック"/>
              </a:rPr>
              <a:t>② 横顔の印象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4160520"/>
            <a:ext cx="33018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鼻筋・鼻先・鼻柱のラインで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Eラインや品のある横顔が決まる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2556" y="3703320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89650"/>
                </a:solidFill>
                <a:latin typeface="游ゴシック"/>
                <a:ea typeface="游ゴシック"/>
              </a:rPr>
              <a:t>③ 顔全体のバランス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2556" y="4160520"/>
            <a:ext cx="33018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中顔面やおでこ・あごとの調和まで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含めると自然に整う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577840"/>
            <a:ext cx="10637215" cy="640080"/>
          </a:xfrm>
          <a:prstGeom prst="roundRect">
            <a:avLst/>
          </a:prstGeom>
          <a:solidFill>
            <a:srgbClr val="E7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300" b="1">
                <a:solidFill>
                  <a:srgbClr val="3C3732"/>
                </a:solidFill>
                <a:latin typeface="游ゴシック"/>
                <a:ea typeface="游ゴシック"/>
              </a:rPr>
              <a:t>POINT  鼻を単独で見ず「印象」で考えると、提案がわかりやすくなります。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8575" y="1645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B89650"/>
                </a:solidFill>
                <a:latin typeface="Georgia"/>
                <a:ea typeface="Georgia"/>
              </a:rPr>
              <a:t>Nose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v1.0 / 2026-06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Front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あなたの気になるところは？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100584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E665C"/>
                </a:solidFill>
                <a:latin typeface="游ゴシック"/>
                <a:ea typeface="游ゴシック"/>
              </a:rPr>
              <a:t>毎日鏡で見る"正面"の悩みにも、ひとつずつ解決策があります。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■ 鼻先まわり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240280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○ 鼻先の丸み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624328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○ 団子鼻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008376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○ 矢印鼻（先が下に尖る）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5701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■ 小鼻・鼻の穴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557016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○ 小鼻の広がり（特に笑った時）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941064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○ 鼻の穴の見え方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970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■ 鼻筋・全体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489704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○ 鼻筋が太い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873752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○ 鼻の存在感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5257800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○ 左右差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48840"/>
            <a:ext cx="3931920" cy="402336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B89650"/>
                </a:solidFill>
                <a:latin typeface="游ゴシック"/>
                <a:ea typeface="游ゴシック"/>
              </a:rPr>
              <a:t>【A5 悩み引き出し図】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63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65C"/>
                </a:solidFill>
                <a:latin typeface="游ゴシック"/>
                <a:ea typeface="游ゴシック"/>
              </a:rPr>
              <a:t>当てはまるものから、解決方法を詳しくご説明します。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8575" y="1645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B89650"/>
                </a:solidFill>
                <a:latin typeface="Georgia"/>
                <a:ea typeface="Georgia"/>
              </a:rPr>
              <a:t>Nose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v1.0 / 2026-06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Design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印象は「正面 × 横顔」で決まる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100584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E665C"/>
                </a:solidFill>
                <a:latin typeface="游ゴシック"/>
                <a:ea typeface="游ゴシック"/>
              </a:rPr>
              <a:t>なりたい印象を決めて、正面と横顔に分けて設計します。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03120"/>
            <a:ext cx="6035040" cy="420624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B89650"/>
                </a:solidFill>
                <a:latin typeface="游ゴシック"/>
                <a:ea typeface="游ゴシック"/>
              </a:rPr>
              <a:t>【A4 印象ポジショニングマップ】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3774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89650"/>
                </a:solidFill>
                <a:latin typeface="Georgia"/>
                <a:ea typeface="Georgia"/>
              </a:rPr>
              <a:t>Baby &amp; 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74320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可愛い・多幸感・中顔面が短く見える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4747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89650"/>
                </a:solidFill>
                <a:latin typeface="Georgia"/>
                <a:ea typeface="Georgia"/>
              </a:rPr>
              <a:t>Elegant / 忘れ鼻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8404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自然・上品・バレない（当院の主力）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5720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89650"/>
                </a:solidFill>
                <a:latin typeface="Georgia"/>
                <a:ea typeface="Georgia"/>
              </a:rPr>
              <a:t>Dramatic &amp; Glamorous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9377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華やか・高さ・Eライン重視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85216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65C"/>
                </a:solidFill>
                <a:latin typeface="游ゴシック"/>
                <a:ea typeface="游ゴシック"/>
              </a:rPr>
              <a:t>分類で当てはめるのではなく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65C"/>
                </a:solidFill>
                <a:latin typeface="游ゴシック"/>
                <a:ea typeface="游ゴシック"/>
              </a:rPr>
              <a:t>「なりたい位置」を一緒に探します。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8575" y="1645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B89650"/>
                </a:solidFill>
                <a:latin typeface="Georgia"/>
                <a:ea typeface="Georgia"/>
              </a:rPr>
              <a:t>Nose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v1.0 / 2026-06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横顔のライン3タイプ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100584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E665C"/>
                </a:solidFill>
                <a:latin typeface="游ゴシック"/>
                <a:ea typeface="游ゴシック"/>
              </a:rPr>
              <a:t>横顔は「鼻筋のライン形状」で決まります。好みと顔立ちの相性で選びます。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10637215" cy="228600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B89650"/>
                </a:solidFill>
                <a:latin typeface="游ゴシック"/>
                <a:ea typeface="游ゴシック"/>
              </a:rPr>
              <a:t>【A6 横顔のライン3タイプ（ストレート／ラウンド／半ラウンド）】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① ストレート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83480"/>
            <a:ext cx="33018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鼻根〜鼻先まで直線的。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クール・知的・整形感ゼロ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4572000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② ラウンド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4983480"/>
            <a:ext cx="33018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鼻背に緩やかな曲線。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柔らかい・女性らしい・華やか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2556" y="4572000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③ 半ラウンド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2556" y="4983480"/>
            <a:ext cx="33018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中間のさりげない曲線。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自然な女性らしさ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97880"/>
            <a:ext cx="10637215" cy="594360"/>
          </a:xfrm>
          <a:prstGeom prst="roundRect">
            <a:avLst/>
          </a:prstGeom>
          <a:solidFill>
            <a:srgbClr val="E7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250" b="1">
                <a:solidFill>
                  <a:srgbClr val="3C3732"/>
                </a:solidFill>
                <a:latin typeface="游ゴシック"/>
                <a:ea typeface="游ゴシック"/>
              </a:rPr>
              <a:t>鼻先の角度は別ダイヤル：90〜95°=上品／100〜110°=可愛い。ライン形状とは別に調整できます。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8575" y="1645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B89650"/>
                </a:solidFill>
                <a:latin typeface="Georgia"/>
                <a:ea typeface="Georgia"/>
              </a:rPr>
              <a:t>Nose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v1.0 / 2026-06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Your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あなたの場合は、こうなります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100584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194560"/>
            <a:ext cx="3301898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9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選んだ印象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84469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（例）Elegant / 忘れ鼻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194560"/>
            <a:ext cx="3301898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9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42316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気になる悩み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017520"/>
            <a:ext cx="284469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（例）団子鼻・小鼻の広がり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2194560"/>
            <a:ext cx="3301898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9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1156" y="242316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ご提案の方向性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284469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（例）鼻尖形成＋小鼻縮小／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横顔はストレート寄り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65C"/>
                </a:solidFill>
                <a:latin typeface="游ゴシック"/>
                <a:ea typeface="游ゴシック"/>
              </a:rPr>
              <a:t>この内容を、次のページから詳しくご説明します。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8575" y="1645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B89650"/>
                </a:solidFill>
                <a:latin typeface="Georgia"/>
                <a:ea typeface="Georgia"/>
              </a:rPr>
              <a:t>Nose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v1.0 / 2026-06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安心のための4つのこと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100584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5090007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◆ 傷が目立たない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45413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クローズド法（鼻の内側のみ）。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外側に傷を残さない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2240280"/>
            <a:ext cx="5090007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2423160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◆ ダウンタイム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2926080"/>
            <a:ext cx="45413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仕事復帰の目安は3〜7日。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大切な予定は2〜3週間空けると安心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5090007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97680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◆ 修正・他院対応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00600"/>
            <a:ext cx="45413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拘縮鼻・他院修正も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診断のうえ対応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7" y="4114800"/>
            <a:ext cx="5090007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8767" y="4297680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◆ 正直なカウンセリング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8767" y="4800600"/>
            <a:ext cx="45413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「しないほうがいい」も伝える。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リスクと代替案を丁寧に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65C"/>
                </a:solidFill>
                <a:latin typeface="游ゴシック"/>
                <a:ea typeface="游ゴシック"/>
              </a:rPr>
              <a:t>詳しい術式・麻酔・ダウンタイムは、ご希望に応じて個別にご説明します。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8575" y="1645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B89650"/>
                </a:solidFill>
                <a:latin typeface="Georgia"/>
                <a:ea typeface="Georgia"/>
              </a:rPr>
              <a:t>Nose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v1.0 / 2026-06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8229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決めるためではなく、</a:t>
            </a:r>
          </a:p>
          <a:p>
            <a:pPr algn="l">
              <a:lnSpc>
                <a:spcPct val="120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納得するためのカウンセリングです。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31920"/>
            <a:ext cx="11887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C3732"/>
                </a:solidFill>
                <a:latin typeface="游ゴシック"/>
                <a:ea typeface="游ゴシック"/>
              </a:rPr>
              <a:t>迷っていること、不安なこと、「こんなこと聞いていいのかな」まで、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3C3732"/>
                </a:solidFill>
                <a:latin typeface="游ゴシック"/>
                <a:ea typeface="游ゴシック"/>
              </a:rPr>
              <a:t>全部そのままご相談ください。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89650"/>
                </a:solidFill>
                <a:latin typeface="游ゴシック"/>
                <a:ea typeface="游ゴシック"/>
              </a:rPr>
              <a:t>羽根 和秀 ｜ Zetith Beauty Clinic Fukuoka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65C"/>
                </a:solidFill>
                <a:latin typeface="游ゴシック"/>
                <a:ea typeface="游ゴシック"/>
              </a:rPr>
              <a:t>詳しい解説は、お持ち帰りガイド（網羅版）でもご覧いただけます。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4297680"/>
            <a:ext cx="1920240" cy="192024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B89650"/>
                </a:solidFill>
                <a:latin typeface="游ゴシック"/>
                <a:ea typeface="游ゴシック"/>
              </a:rPr>
              <a:t>【予約QR】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