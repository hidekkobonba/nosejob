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91695" cy="254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B89650"/>
                </a:solidFill>
                <a:latin typeface="Georgia"/>
                <a:ea typeface="Georgia"/>
              </a:rPr>
              <a:t>Module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3C3732"/>
                </a:solidFill>
                <a:latin typeface="游ゴシック"/>
                <a:ea typeface="游ゴシック"/>
              </a:rPr>
              <a:t>正面の悩み別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A ｜ 正面の悩み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Front - Tip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鼻先のお悩み（丸み・団子・矢印）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201168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お悩み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011680"/>
            <a:ext cx="310896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原因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2011680"/>
            <a:ext cx="5516575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解決アプローチ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68880"/>
            <a:ext cx="20116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鼻先の丸み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468880"/>
            <a:ext cx="3108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軟骨の広がり／皮下が厚い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2468880"/>
            <a:ext cx="551657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鼻尖形成（軟骨を中央に寄せる）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89504"/>
            <a:ext cx="201168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団子鼻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889504"/>
            <a:ext cx="310896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軟骨の広がり＋皮膚の厚み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2889504"/>
            <a:ext cx="5516575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鼻尖形成＋軟骨移植＋ストラット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0128"/>
            <a:ext cx="20116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矢印鼻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3310128"/>
            <a:ext cx="3108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鼻先の下垂／鼻柱が目立つ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3310128"/>
            <a:ext cx="551657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鼻中隔延長・鼻尖形成で向き調整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89120"/>
            <a:ext cx="10637215" cy="201168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B89650"/>
                </a:solidFill>
                <a:latin typeface="游ゴシック"/>
                <a:ea typeface="游ゴシック"/>
              </a:rPr>
              <a:t>【要・実写】鼻先 before / after（正面）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A ｜ 正面の悩み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Front - Nostril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小鼻・鼻の穴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274320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お悩み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2011680"/>
            <a:ext cx="310896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原因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011680"/>
            <a:ext cx="4785055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解決アプローチ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68880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小鼻の広がり（笑った時）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68880"/>
            <a:ext cx="3108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小鼻の横幅／鼻翼が動く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2468880"/>
            <a:ext cx="478505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小鼻縮小／鼻孔縁挙上／笑った時はボトックスも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89504"/>
            <a:ext cx="274320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鼻の穴の見え方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889504"/>
            <a:ext cx="310896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鼻先が上向き／鼻柱の高さ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889504"/>
            <a:ext cx="4785055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鼻中隔延長／鼻孔縁挙上・下降／鼻柱形成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23360"/>
            <a:ext cx="10637215" cy="228600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B89650"/>
                </a:solidFill>
                <a:latin typeface="游ゴシック"/>
                <a:ea typeface="游ゴシック"/>
              </a:rPr>
              <a:t>【要・実写】小鼻＋鼻の穴 before / after（正面＋底面）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A ｜ 正面の悩み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Front -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鼻筋・全体・左右差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201168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お悩み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011680"/>
            <a:ext cx="310896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原因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2011680"/>
            <a:ext cx="5516575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解決アプローチ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68880"/>
            <a:ext cx="20116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鼻筋が太い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468880"/>
            <a:ext cx="3108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鼻骨の幅が広い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2468880"/>
            <a:ext cx="551657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骨切り幅寄せ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89504"/>
            <a:ext cx="201168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鼻の存在感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889504"/>
            <a:ext cx="310896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大きさ・高さ・幅の総合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2889504"/>
            <a:ext cx="5516575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縮小系＋中顔面短縮＋全体バランス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0128"/>
            <a:ext cx="20116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左右差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3310128"/>
            <a:ext cx="3108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鼻骨・軟骨・小鼻の非対称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3310128"/>
            <a:ext cx="551657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診断のうえ調整（完全な対称は難しいことも正直に）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89120"/>
            <a:ext cx="10637215" cy="201168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B89650"/>
                </a:solidFill>
                <a:latin typeface="游ゴシック"/>
                <a:ea typeface="游ゴシック"/>
              </a:rPr>
              <a:t>【要・実写】鼻筋・存在感・左右差 before / after（正面）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91695" cy="254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B89650"/>
                </a:solidFill>
                <a:latin typeface="Georgia"/>
                <a:ea typeface="Georgia"/>
              </a:rPr>
              <a:t>Module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3C3732"/>
                </a:solidFill>
                <a:latin typeface="游ゴシック"/>
                <a:ea typeface="游ゴシック"/>
              </a:rPr>
              <a:t>印象別レシピ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B ｜ 印象別レシピ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Baby &amp; Cute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Baby &amp; Cute ― あざと可愛い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852160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9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正面の処方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丸みを少し残しつつ団子感を取る＋小鼻すっきり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横顔の処方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0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半ラウンド or ストレート＋鼻先やや上向き／高さ控えめ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12080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E665C"/>
                </a:solidFill>
                <a:latin typeface="游ゴシック"/>
                <a:ea typeface="游ゴシック"/>
              </a:rPr>
              <a:t>可愛い印象・小顔に。クローズド法で対応しやすい。 #多幸感 #小顔効果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828800"/>
            <a:ext cx="4480560" cy="420624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B89650"/>
                </a:solidFill>
                <a:latin typeface="游ゴシック"/>
                <a:ea typeface="游ゴシック"/>
              </a:rPr>
              <a:t>横顔 before/after（image3〜8 を流用）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B ｜ 印象別レシピ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Elegant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Elegant / 忘れ鼻 ― 自然すぎて気づかれない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852160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9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正面の処方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鼻先を自然にすっきり（やりすぎない）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横顔の処方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0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ストレート＋鼻先90〜95°／高さは自然に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12080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E665C"/>
                </a:solidFill>
                <a:latin typeface="游ゴシック"/>
                <a:ea typeface="游ゴシック"/>
              </a:rPr>
              <a:t>バレたくない・自然に綺麗に。羽根先生が特に得意。 #忘れ鼻 #ナチュラル整形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828800"/>
            <a:ext cx="4480560" cy="420624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B89650"/>
                </a:solidFill>
                <a:latin typeface="游ゴシック"/>
                <a:ea typeface="游ゴシック"/>
              </a:rPr>
              <a:t>横顔 before/after（image9〜14 を流用）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B ｜ 印象別レシピ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Dramatic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Dramatic &amp; Glamorous ― 主役級・Eライン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852160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9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正面の処方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鼻先しっかりシャープ＋小鼻縮小＋骨切り幅寄せ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横顔の処方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0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C3732"/>
                </a:solidFill>
                <a:latin typeface="游ゴシック"/>
                <a:ea typeface="游ゴシック"/>
              </a:rPr>
              <a:t>ラウンド or 高めストレート＋Eライン／高さ強め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12080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E665C"/>
                </a:solidFill>
                <a:latin typeface="游ゴシック"/>
                <a:ea typeface="游ゴシック"/>
              </a:rPr>
              <a:t>大きな変化・華やかさ。複合施術が多い。 #ハーフ顔 #Eライン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828800"/>
            <a:ext cx="4480560" cy="420624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B89650"/>
                </a:solidFill>
                <a:latin typeface="游ゴシック"/>
                <a:ea typeface="游ゴシック"/>
              </a:rPr>
              <a:t>横顔 before/after（image15〜20 を流用）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91695" cy="254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B89650"/>
                </a:solidFill>
                <a:latin typeface="Georgia"/>
                <a:ea typeface="Georgia"/>
              </a:rPr>
              <a:t>Module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3C3732"/>
                </a:solidFill>
                <a:latin typeface="游ゴシック"/>
                <a:ea typeface="游ゴシック"/>
              </a:rPr>
              <a:t>顔全体・中顔面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C ｜ 顔全体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Midface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中顔面とは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1790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E665C"/>
                </a:solidFill>
                <a:latin typeface="游ゴシック"/>
                <a:ea typeface="游ゴシック"/>
              </a:rPr>
              <a:t>「小顔に見せたい」「可愛く見せたい」に鼻整形が関わる理由です。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182880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ゾーン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2103120"/>
            <a:ext cx="548640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場所と印象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60320"/>
            <a:ext cx="1828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上顔面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2560320"/>
            <a:ext cx="54864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眉〜目の下。眉や目の形が印象を決める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80944"/>
            <a:ext cx="182880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中顔面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980944"/>
            <a:ext cx="548640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目の下〜鼻の底。ここが短く見えると「可愛い・小顔」な印象に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401568"/>
            <a:ext cx="1828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下顔面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3401568"/>
            <a:ext cx="54864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口元〜あご。輪郭やEラインの完成度を左右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103120"/>
            <a:ext cx="3108960" cy="329184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B89650"/>
                </a:solidFill>
                <a:latin typeface="游ゴシック"/>
                <a:ea typeface="游ゴシック"/>
              </a:rPr>
              <a:t>【A8 顔の3ゾーン図】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6072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鼻先の向きや高さを少し変えるだけでも、顔全体の印象は驚くほど変わります。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C ｜ 顔全体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Profile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横顔の完成度：おでこ・鼻・あご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931920"/>
            <a:ext cx="33018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おでこ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330189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丸みがあると鼻筋が引き立ち、女性らしい横顔に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898" y="3931920"/>
            <a:ext cx="33018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4898" y="4389120"/>
            <a:ext cx="330189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鼻筋・鼻先・鼻柱のラインがEラインの中心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2556" y="3931920"/>
            <a:ext cx="33018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あご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2556" y="4389120"/>
            <a:ext cx="330189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軽く前に出ると口元が引っ込み、洗練されて見える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011680"/>
            <a:ext cx="10637215" cy="173736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B89650"/>
                </a:solidFill>
                <a:latin typeface="游ゴシック"/>
                <a:ea typeface="游ゴシック"/>
              </a:rPr>
              <a:t>【A6-3 Eライン3点図】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91695" cy="254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B89650"/>
                </a:solidFill>
                <a:latin typeface="Georgia"/>
                <a:ea typeface="Georgia"/>
              </a:rPr>
              <a:t>Module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3C3732"/>
                </a:solidFill>
                <a:latin typeface="游ゴシック"/>
                <a:ea typeface="游ゴシック"/>
              </a:rPr>
              <a:t>手術の理解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D ｜ 手術の理解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鼻のどこを変えると、どの印象が変わる？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219456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部位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2011680"/>
            <a:ext cx="8442655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役割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68880"/>
            <a:ext cx="2194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鼻根（びこん）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2468880"/>
            <a:ext cx="844265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眉間〜鼻の始まり。プロテーゼで高さを作る起点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89504"/>
            <a:ext cx="219456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鼻背（びはい）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2889504"/>
            <a:ext cx="8442655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いわゆる鼻筋。正面・横顔のすっきり感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310128"/>
            <a:ext cx="2194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鼻尖（びせん）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3310128"/>
            <a:ext cx="844265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鼻先。形・細さ・向き＝印象の核心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730752"/>
            <a:ext cx="219456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鼻柱（コルメラ）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3730752"/>
            <a:ext cx="8442655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鼻の穴の間の柱。穴の見え方・鼻唇角に関わる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51376"/>
            <a:ext cx="2194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小鼻（鼻翼）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4151376"/>
            <a:ext cx="844265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横への広がり・正面の存在感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D ｜ 手術の理解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Tip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鼻尖形成・ストラット・鼻中隔延長の違い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33018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鼻尖形成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49040"/>
            <a:ext cx="330189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形を整える。丸さ・団子感・横の広がりを改善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898" y="3291840"/>
            <a:ext cx="33018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ストラット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4898" y="3749040"/>
            <a:ext cx="330189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支える柱を作る。鼻先の高さ・向き・安定感を支える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2556" y="3291840"/>
            <a:ext cx="33018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89650"/>
                </a:solidFill>
                <a:latin typeface="游ゴシック"/>
                <a:ea typeface="游ゴシック"/>
              </a:rPr>
              <a:t>鼻中隔延長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2556" y="3749040"/>
            <a:ext cx="330189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向き・長さを大きく変える。変化量が大きく材料選びが重要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011680"/>
            <a:ext cx="10637215" cy="109728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B89650"/>
                </a:solidFill>
                <a:latin typeface="游ゴシック"/>
                <a:ea typeface="游ゴシック"/>
              </a:rPr>
              <a:t>【図】鼻先手術の比較イラスト（任意）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D ｜ 手術の理解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クローズド法 vs オープン法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219456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2103120"/>
            <a:ext cx="402336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クローズド法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2103120"/>
            <a:ext cx="4419295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オープン法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60320"/>
            <a:ext cx="2194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外側の傷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560320"/>
            <a:ext cx="40233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なし（鼻の内側のみ）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2560320"/>
            <a:ext cx="441929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鼻柱に小さな傷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80944"/>
            <a:ext cx="219456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ダウンタイム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2980944"/>
            <a:ext cx="402336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5〜7日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2980944"/>
            <a:ext cx="4419295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7〜10日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401568"/>
            <a:ext cx="2194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腫れ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3401568"/>
            <a:ext cx="40233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比較的少ない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3401568"/>
            <a:ext cx="441929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やや多い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822192"/>
            <a:ext cx="219456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適応範囲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3822192"/>
            <a:ext cx="402336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多くの鼻整形に対応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3822192"/>
            <a:ext cx="4419295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複雑な修正に強い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6072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65C"/>
                </a:solidFill>
                <a:latin typeface="游ゴシック"/>
                <a:ea typeface="游ゴシック"/>
              </a:rPr>
              <a:t>羽根先生は、外側に傷が残りにくくバレにくさを重視する方に相性の良いクローズド法を専門としています。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D ｜ 手術の理解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プロテーゼ vs 自家組織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237744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素材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2103120"/>
            <a:ext cx="411480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メリット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2103120"/>
            <a:ext cx="4144975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注意点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60320"/>
            <a:ext cx="23774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プロテーゼ
(シリコン/ePTFE)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2560320"/>
            <a:ext cx="41148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高さが安定・微調整しやすい・採取不要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2560320"/>
            <a:ext cx="4144975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異物への抵抗・まれな感染や位置ずれ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163824"/>
            <a:ext cx="2377440" cy="60350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自家組織
(耳軟骨など)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3163824"/>
            <a:ext cx="4114800" cy="60350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感染リスクが低い・自然な感触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3163824"/>
            <a:ext cx="4144975" cy="60350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採取量に限り(高さ1〜3mm)・少量の吸収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鼻先は「軟骨」で、鼻筋の高さは「プロテーゼ or 自家組織」で作る、と考えると分かりやすいです。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D ｜ 手術の理解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Rib Cartilage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肋軟骨が必要になるケース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64592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2103120"/>
            <a:ext cx="8991295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16459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適応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2560320"/>
            <a:ext cx="899129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鼻先の大幅な延長／鼻中隔延長に大量の軟骨／他院修正で耳軟骨が使えない／拘縮鼻の根本改善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80944"/>
            <a:ext cx="164592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特徴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980944"/>
            <a:ext cx="8991295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自家組織で感染リスクが低い／大量に採れる／全身麻酔が必要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01568"/>
            <a:ext cx="16459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3401568"/>
            <a:ext cx="899129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胸の側面を2〜3cm切開。薄くなるがゼロにはならない。下着や水着で隠れる位置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D ｜ 手術の理解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Additional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正面・横顔をさらに整える手術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219456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術式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2103120"/>
            <a:ext cx="8442655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2194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骨切り幅寄せ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2560320"/>
            <a:ext cx="844265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鼻骨を切って幅を狭く。正面の太さが気になる方に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80944"/>
            <a:ext cx="219456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小鼻縮小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2980944"/>
            <a:ext cx="8442655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小鼻の広がり・横幅を整える。正面のすっきり感に直結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01568"/>
            <a:ext cx="2194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貴族手術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3401568"/>
            <a:ext cx="844265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鼻翼基部にボリューム。横顔に奥行きと品格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822192"/>
            <a:ext cx="219456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鼻孔縁挙上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3822192"/>
            <a:ext cx="8442655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鼻孔縁を上げ、鼻の穴の見え方やバランスを整える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91695" cy="254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B89650"/>
                </a:solidFill>
                <a:latin typeface="Georgia"/>
                <a:ea typeface="Georgia"/>
              </a:rPr>
              <a:t>Module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3C3732"/>
                </a:solidFill>
                <a:latin typeface="游ゴシック"/>
                <a:ea typeface="游ゴシック"/>
              </a:rPr>
              <a:t>安心情報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E ｜ 安心情報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Anesthesia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麻酔について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210312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麻酔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103120"/>
            <a:ext cx="8534095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21031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静脈麻酔
(点滴で眠る)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2560320"/>
            <a:ext cx="8534095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ほとんどの鼻整形。眠っている間に手術。痛みを感じにくく回復が早い(1〜2時間)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163824"/>
            <a:ext cx="2103120" cy="60350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全身麻酔
(気管挿管)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3163824"/>
            <a:ext cx="8534095" cy="60350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肋軟骨を使う手術など。完全に意識がなく複数部位向き。回復にやや時間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C3732"/>
                </a:solidFill>
                <a:latin typeface="游ゴシック"/>
                <a:ea typeface="游ゴシック"/>
              </a:rPr>
              <a:t>肋軟骨を使わない場合は、基本的に静脈麻酔で対応できます。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E ｜ 安心情報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ダウンタイムのリアル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82880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時期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2103120"/>
            <a:ext cx="8808415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様子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1828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当日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2560320"/>
            <a:ext cx="880841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圧迫・固定／出血に注意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80944"/>
            <a:ext cx="182880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1〜3日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2980944"/>
            <a:ext cx="8808415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腫れ・むくみのピーク／軽い内出血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01568"/>
            <a:ext cx="1828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7日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3401568"/>
            <a:ext cx="880841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ギプス除去／抜糸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822192"/>
            <a:ext cx="182880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2週間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3822192"/>
            <a:ext cx="8808415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かなり自然／マスクなしでも過ごしやすい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1828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1〜3か月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4242816"/>
            <a:ext cx="880841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硬さ・むくみが引き完成形へ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4360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65C"/>
                </a:solidFill>
                <a:latin typeface="游ゴシック"/>
                <a:ea typeface="游ゴシック"/>
              </a:rPr>
              <a:t>仕事復帰の目安は3〜7日。大切な予定がある方は2〜3週間空けると安心です。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E ｜ 安心情報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よくある質問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650"/>
                </a:solidFill>
                <a:latin typeface="游ゴシック"/>
                <a:ea typeface="游ゴシック"/>
              </a:rPr>
              <a:t>Q. バレますか？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0428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C3732"/>
                </a:solidFill>
                <a:latin typeface="游ゴシック"/>
                <a:ea typeface="游ゴシック"/>
              </a:rPr>
              <a:t>A. 大きく変えすぎなければ自然。2週間以降はかなりなじむ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24912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650"/>
                </a:solidFill>
                <a:latin typeface="游ゴシック"/>
                <a:ea typeface="游ゴシック"/>
              </a:rPr>
              <a:t>Q. 痛いですか？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C3732"/>
                </a:solidFill>
                <a:latin typeface="游ゴシック"/>
                <a:ea typeface="游ゴシック"/>
              </a:rPr>
              <a:t>A. 術中は麻酔で痛みを感じにくく、術後は痛み止めでコントロール可能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38144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650"/>
                </a:solidFill>
                <a:latin typeface="游ゴシック"/>
                <a:ea typeface="游ゴシック"/>
              </a:rPr>
              <a:t>Q. プロテーゼは怖くない？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3075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C3732"/>
                </a:solidFill>
                <a:latin typeface="游ゴシック"/>
                <a:ea typeface="游ゴシック"/>
              </a:rPr>
              <a:t>A. 適応を守れば安全性は高い。不安が強い方には自家組織も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51376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650"/>
                </a:solidFill>
                <a:latin typeface="游ゴシック"/>
                <a:ea typeface="游ゴシック"/>
              </a:rPr>
              <a:t>Q. メイクはいつから？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43984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C3732"/>
                </a:solidFill>
                <a:latin typeface="游ゴシック"/>
                <a:ea typeface="游ゴシック"/>
              </a:rPr>
              <a:t>A. 目元は翌日〜、鼻周囲は抜糸後が目安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64608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650"/>
                </a:solidFill>
                <a:latin typeface="游ゴシック"/>
                <a:ea typeface="游ゴシック"/>
              </a:rPr>
              <a:t>Q. スポーツは？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5721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C3732"/>
                </a:solidFill>
                <a:latin typeface="游ゴシック"/>
                <a:ea typeface="游ゴシック"/>
              </a:rPr>
              <a:t>A. 軽い運動は1〜2週間後、接触運動は1か月前後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7784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650"/>
                </a:solidFill>
                <a:latin typeface="游ゴシック"/>
                <a:ea typeface="游ゴシック"/>
              </a:rPr>
              <a:t>Q. 他院修正できますか？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7044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C3732"/>
                </a:solidFill>
                <a:latin typeface="游ゴシック"/>
                <a:ea typeface="游ゴシック"/>
              </a:rPr>
              <a:t>A. 可能。必要なら肋軟骨まで含めてプランを検討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91695" cy="254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B89650"/>
                </a:solidFill>
                <a:latin typeface="Georgia"/>
                <a:ea typeface="Georgia"/>
              </a:rPr>
              <a:t>Module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3C3732"/>
                </a:solidFill>
                <a:latin typeface="游ゴシック"/>
                <a:ea typeface="游ゴシック"/>
              </a:rPr>
              <a:t>羽根先生の強み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9855" y="182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89650"/>
                </a:solidFill>
                <a:latin typeface="游ゴシック"/>
                <a:ea typeface="游ゴシック"/>
              </a:rPr>
              <a:t>Module F ｜ 当院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650"/>
                </a:solidFill>
                <a:latin typeface="Georgia"/>
                <a:ea typeface="Georgia"/>
              </a:rPr>
              <a:t>Doctor's 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C3732"/>
                </a:solidFill>
                <a:latin typeface="游ゴシック"/>
                <a:ea typeface="游ゴシック"/>
              </a:rPr>
              <a:t>羽根先生の強み・他院修正対応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96012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3291840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強み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2011680"/>
            <a:ext cx="7345375" cy="4572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68880"/>
            <a:ext cx="3291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クローズド法のスペシャリスト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2468880"/>
            <a:ext cx="734537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外側に傷を残さない。ダウンタイムが短く自然な仕上がり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89504"/>
            <a:ext cx="329184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顔全体のデザイン設計力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2889504"/>
            <a:ext cx="7345375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顔全体のバランスを見て設計。「整形した感」が出ない自然さ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310128"/>
            <a:ext cx="3291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正直なカウンセリング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3310128"/>
            <a:ext cx="7345375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「しないほうがいい」「今はまだ早い」も伝える。リスクと代替案を丁寧に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730752"/>
            <a:ext cx="3291840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3C3732"/>
                </a:solidFill>
                <a:latin typeface="游ゴシック"/>
                <a:ea typeface="游ゴシック"/>
              </a:rPr>
              <a:t>他院修正・拘縮鼻対応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3730752"/>
            <a:ext cx="7345375" cy="420624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ctr">
              <a:lnSpc>
                <a:spcPct val="108000"/>
              </a:lnSpc>
            </a:pPr>
            <a:r>
              <a:rPr sz="1100">
                <a:solidFill>
                  <a:srgbClr val="3C3732"/>
                </a:solidFill>
                <a:latin typeface="游ゴシック"/>
                <a:ea typeface="游ゴシック"/>
              </a:rPr>
              <a:t>状態を正確に診断し、できること・できないことを正直に説明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