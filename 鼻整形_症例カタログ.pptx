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7562850" cy="1068863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850" cy="146304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NOVA DESIGN GUIDE ／ CASE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642899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3A3326"/>
                </a:solidFill>
                <a:latin typeface="游明朝"/>
                <a:ea typeface="游明朝"/>
              </a:rPr>
              <a:t>鼻整形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3A3326"/>
                </a:solidFill>
                <a:latin typeface="游明朝"/>
                <a:ea typeface="游明朝"/>
              </a:rPr>
              <a:t>症例カタログ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8465" y="4297680"/>
            <a:ext cx="164592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52628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A3326"/>
                </a:solidFill>
                <a:latin typeface="游明朝"/>
                <a:ea typeface="游明朝"/>
              </a:rPr>
              <a:t>印象別・お悩み別  ／  患者さま お持ち帰り版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642899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060"/>
                </a:solidFill>
                <a:latin typeface="游ゴシック"/>
                <a:ea typeface="游ゴシック"/>
              </a:rPr>
              <a:t>「どんな鼻にするか」を、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060"/>
                </a:solidFill>
                <a:latin typeface="游ゴシック"/>
                <a:ea typeface="游ゴシック"/>
              </a:rPr>
              <a:t>“近いお顔の実例”から一緒に探すための資料です。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1265" y="6217920"/>
            <a:ext cx="2560320" cy="219456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1265" y="6217920"/>
            <a:ext cx="25603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B0934E"/>
                </a:solidFill>
                <a:latin typeface="游明朝"/>
                <a:ea typeface="游明朝"/>
              </a:rPr>
              <a:t>◇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KEY VISUAL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代表症例の写真を挿入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886968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A3326"/>
                </a:solidFill>
                <a:latin typeface="游明朝"/>
                <a:ea typeface="游明朝"/>
              </a:rPr>
              <a:t>羽瀬 和秀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918972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 Fukuoka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A3326"/>
                </a:solidFill>
                <a:latin typeface="游明朝"/>
                <a:ea typeface="游明朝"/>
              </a:rPr>
              <a:t>この資料の見方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642899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本カタログは、当院の実際の症例を「印象」と「お悩み」の2軸で整理したものです。ご自身の理想やお顔立ちに近い症例を見つけ、カウンセリングでの会話の土台にしてください。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3077337" cy="155448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606040"/>
            <a:ext cx="73152" cy="155448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834640"/>
            <a:ext cx="26201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A3326"/>
                </a:solidFill>
                <a:latin typeface="游明朝"/>
                <a:ea typeface="游明朝"/>
              </a:rPr>
              <a:t>印象（3タイプ）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27832"/>
            <a:ext cx="26201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なりたい雰囲気から探す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566160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A7060"/>
                </a:solidFill>
                <a:latin typeface="游ゴシック"/>
                <a:ea typeface="游ゴシック"/>
              </a:rPr>
              <a:t>可愛い ／ 忘れ鼻 ／ 華やか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8585" y="2606040"/>
            <a:ext cx="3077337" cy="155448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18585" y="2606040"/>
            <a:ext cx="73152" cy="155448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2905" y="2834640"/>
            <a:ext cx="26201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A3326"/>
                </a:solidFill>
                <a:latin typeface="游明朝"/>
                <a:ea typeface="游明朝"/>
              </a:rPr>
              <a:t>お悩み（4部位）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2905" y="3227832"/>
            <a:ext cx="26201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気になる部位から探す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2905" y="3566160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A7060"/>
                </a:solidFill>
                <a:latin typeface="游ゴシック"/>
                <a:ea typeface="游ゴシック"/>
              </a:rPr>
              <a:t>鼻先 ／ 小鼻・鼻の穴 ／ 鼻筋 ／ 全体・バランス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3484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C7339"/>
                </a:solidFill>
                <a:latin typeface="游明朝"/>
                <a:ea typeface="游明朝"/>
              </a:rPr>
              <a:t>各症例ページの構成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46320"/>
            <a:ext cx="303161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① 印象・お悩みタグ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この症例がどのタイプ／部位に当たるか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1425" y="4846320"/>
            <a:ext cx="303161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② Before / After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正面・斜め・横顔の3方向で変化を確認（個人差あり）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413248"/>
            <a:ext cx="303161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③ 術式・使用材料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行った手術内容と使用したもの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1425" y="5413248"/>
            <a:ext cx="303161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④ ダウンタイム・経過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腫れ・内出血が引くまでの目安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980176"/>
            <a:ext cx="303161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⑤ リスク・副作用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起こりうる症状（必ずお読みください）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1425" y="5980176"/>
            <a:ext cx="303161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⑥ 費用（税込・総額）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この症例にかかった費用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8183879"/>
            <a:ext cx="6428994" cy="155448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8385047"/>
            <a:ext cx="578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⚠ 必ずお読みください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8750807"/>
            <a:ext cx="578891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・掲載している症例写真は、ご本人の同意を得て掲載しています。
・効果には個人差があり、同じ手術でも仕上がりは異なります。
・鼻整形は自由診療（保険適用外）です。各症例に費用・リスクを記載しています。
・本資料は手術を保証・推奨するものではなく、判断はカウンセリングで一緒に行います。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症例カタログ｜この資料の見方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A3326"/>
                </a:solidFill>
                <a:latin typeface="游明朝"/>
                <a:ea typeface="游明朝"/>
              </a:rPr>
              <a:t>症例インデックス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縦＝なりたい「印象」、横＝気になる「お悩み部位」。気になるマスの症例番号をご覧ください。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240280"/>
          <a:ext cx="642899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218"/>
                <a:gridCol w="1317943"/>
                <a:gridCol w="1317943"/>
                <a:gridCol w="1317943"/>
                <a:gridCol w="1317943"/>
              </a:tblGrid>
              <a:tr h="9829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/>
                      </a:r>
                    </a:p>
                  </a:txBody>
                  <a:tcPr marL="40000" marR="40000" anchor="ctr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鼻先</a:t>
                      </a:r>
                    </a:p>
                  </a:txBody>
                  <a:tcPr marL="40000" marR="40000" anchor="ctr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小鼻・鼻の穴</a:t>
                      </a:r>
                    </a:p>
                  </a:txBody>
                  <a:tcPr marL="40000" marR="40000" anchor="ctr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鼻筋</a:t>
                      </a:r>
                    </a:p>
                  </a:txBody>
                  <a:tcPr marL="40000" marR="40000" anchor="ctr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全体</a:t>
                      </a:r>
                    </a:p>
                  </a:txBody>
                  <a:tcPr marL="40000" marR="40000" anchor="ctr">
                    <a:solidFill>
                      <a:srgbClr val="B0934E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可愛い</a:t>
                      </a:r>
                    </a:p>
                  </a:txBody>
                  <a:tcPr marL="40000" marR="40000" anchor="ctr">
                    <a:solidFill>
                      <a:srgbClr val="EFE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Case 01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Case 02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CB4A4"/>
                          </a:solidFill>
                          <a:latin typeface="游ゴシック"/>
                          <a:ea typeface="游ゴシック"/>
                        </a:rPr>
                        <a:t>—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CB4A4"/>
                          </a:solidFill>
                          <a:latin typeface="游ゴシック"/>
                          <a:ea typeface="游ゴシック"/>
                        </a:rPr>
                        <a:t>—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忘れ鼻</a:t>
                      </a:r>
                    </a:p>
                  </a:txBody>
                  <a:tcPr marL="40000" marR="40000" anchor="ctr">
                    <a:solidFill>
                      <a:srgbClr val="EFE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Case 03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CB4A4"/>
                          </a:solidFill>
                          <a:latin typeface="游ゴシック"/>
                          <a:ea typeface="游ゴシック"/>
                        </a:rPr>
                        <a:t>—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CB4A4"/>
                          </a:solidFill>
                          <a:latin typeface="游ゴシック"/>
                          <a:ea typeface="游ゴシック"/>
                        </a:rPr>
                        <a:t>—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Case 04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華やか</a:t>
                      </a:r>
                    </a:p>
                  </a:txBody>
                  <a:tcPr marL="40000" marR="40000" anchor="ctr">
                    <a:solidFill>
                      <a:srgbClr val="EFE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CB4A4"/>
                          </a:solidFill>
                          <a:latin typeface="游ゴシック"/>
                          <a:ea typeface="游ゴシック"/>
                        </a:rPr>
                        <a:t>—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CB4A4"/>
                          </a:solidFill>
                          <a:latin typeface="游ゴシック"/>
                          <a:ea typeface="游ゴシック"/>
                        </a:rPr>
                        <a:t>—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Case 05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Case 06</a:t>
                      </a:r>
                    </a:p>
                  </a:txBody>
                  <a:tcPr marL="40000" marR="40000" anchor="ctr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9224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C7339"/>
                </a:solidFill>
                <a:latin typeface="游明朝"/>
                <a:ea typeface="游明朝"/>
              </a:rPr>
              <a:t>印象別ギャラリー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6903720"/>
            <a:ext cx="2051558" cy="155448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6903720"/>
            <a:ext cx="2051558" cy="41148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967728"/>
            <a:ext cx="20515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326"/>
                </a:solidFill>
                <a:latin typeface="游明朝"/>
                <a:ea typeface="游明朝"/>
              </a:rPr>
              <a:t>可愛い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7680960"/>
            <a:ext cx="20515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代表症例の写真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B0934E"/>
                </a:solidFill>
                <a:latin typeface="游ゴシック"/>
                <a:ea typeface="游ゴシック"/>
              </a:rPr>
              <a:t>CUTE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5646" y="6903720"/>
            <a:ext cx="2051558" cy="155448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55646" y="6903720"/>
            <a:ext cx="2051558" cy="41148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5646" y="6967728"/>
            <a:ext cx="20515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326"/>
                </a:solidFill>
                <a:latin typeface="游明朝"/>
                <a:ea typeface="游明朝"/>
              </a:rPr>
              <a:t>忘れ鼻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5646" y="7680960"/>
            <a:ext cx="20515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代表症例の写真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B0934E"/>
                </a:solidFill>
                <a:latin typeface="游ゴシック"/>
                <a:ea typeface="游ゴシック"/>
              </a:rPr>
              <a:t>NATURAL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4364" y="6903720"/>
            <a:ext cx="2051558" cy="155448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44364" y="6903720"/>
            <a:ext cx="2051558" cy="41148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44364" y="6967728"/>
            <a:ext cx="20515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326"/>
                </a:solidFill>
                <a:latin typeface="游明朝"/>
                <a:ea typeface="游明朝"/>
              </a:rPr>
              <a:t>華やか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4364" y="7680960"/>
            <a:ext cx="20515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代表症例の写真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B0934E"/>
                </a:solidFill>
                <a:latin typeface="游ゴシック"/>
                <a:ea typeface="游ゴシック"/>
              </a:rPr>
              <a:t>GORGEOUS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症例カタログ｜症例インデックス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01 ／ 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428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3A3326"/>
                </a:solidFill>
                <a:latin typeface="游明朝"/>
                <a:ea typeface="游明朝"/>
              </a:rPr>
              <a:t>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5544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244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印象：可愛い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1298448"/>
            <a:ext cx="178308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1292448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お悩み：鼻先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802" y="1296448"/>
            <a:ext cx="2103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横顔タイプ：ラウンド〜半ラウンド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454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052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65960"/>
            <a:ext cx="493776" cy="1325880"/>
          </a:xfrm>
          <a:prstGeom prst="round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Before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856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4454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4454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5052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5052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01568"/>
            <a:ext cx="493776" cy="132588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After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3856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24454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4454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5052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5052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4846320"/>
          <a:ext cx="642899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鼻尖形成（クローズ法）＋鼻尖縮小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自家組織（耳介軟骨） ／ 静脈麻酔＋局所麻酔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 3〜6日／マスクで隠せる程度に 2週間ほど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経過・ポイント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丸みを残しつつ鼻先を少し上げ、正面から見て“ちょこん”とした印象に。アップノーズで可愛い雰囲気へ。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66928" y="690372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6903720"/>
            <a:ext cx="73152" cy="1691640"/>
          </a:xfrm>
          <a:prstGeom prst="rect">
            <a:avLst/>
          </a:prstGeom>
          <a:solidFill>
            <a:srgbClr val="C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7434072"/>
            <a:ext cx="26658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・腫れ、内出血、痛み（数日〜2週間程度）
・左右差、知覚の鈍さが一時的に出ることがあります
・仕上がりに個人差があり、修正が必要となる場合があります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8585" y="6903720"/>
            <a:ext cx="3077337" cy="1691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4617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費用（税込・総額）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4617" y="740664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3A3326"/>
                </a:solidFill>
                <a:latin typeface="游明朝"/>
                <a:ea typeface="游明朝"/>
              </a:rPr>
              <a:t>¥385,000〜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4617" y="800100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内訳例：鼻尖形成＋耳介軟骨移植。麻酔・薬・アフターケア込みの総額目安。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87782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88971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Dr. コメント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9162288"/>
            <a:ext cx="5880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「鼻先だけ」を動かすことで、お顔全体のやわらかい印象は残したまま整えられた症例です。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症例カタログ｜Case 01｜可愛い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02 ／ 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428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3A3326"/>
                </a:solidFill>
                <a:latin typeface="游明朝"/>
                <a:ea typeface="游明朝"/>
              </a:rPr>
              <a:t>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5544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244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印象：可愛い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1298448"/>
            <a:ext cx="178308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1292448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お悩み：小鼻・鼻の穴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802" y="1296448"/>
            <a:ext cx="2103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横顔タイプ：半ラウンド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454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052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65960"/>
            <a:ext cx="493776" cy="1325880"/>
          </a:xfrm>
          <a:prstGeom prst="round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Before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856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4454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4454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5052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5052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01568"/>
            <a:ext cx="493776" cy="132588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After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3856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24454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4454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5052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5052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4846320"/>
          <a:ext cx="642899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小鼻縮小（内側＋外側）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（材料なし） ／ 局所麻酔（ご希望で静脈麻酔）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腫れ・内出血は軽め／抜糸 約5〜7日／落ち着くまで 1ヶ月程度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経過・ポイント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小鼻の広がりを控えめに抑え、丸い鼻先とのバランスで可愛らしさを保ったまま整えた症例。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66928" y="690372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6903720"/>
            <a:ext cx="73152" cy="1691640"/>
          </a:xfrm>
          <a:prstGeom prst="rect">
            <a:avLst/>
          </a:prstGeom>
          <a:solidFill>
            <a:srgbClr val="C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7434072"/>
            <a:ext cx="26658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・腫れ、内出血、傷あと（時間とともに目立ちにくくなります）
・左右差、後戻りが生じる可能性
・仕上がりに個人差があります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8585" y="6903720"/>
            <a:ext cx="3077337" cy="1691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4617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費用（税込・総額）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4617" y="740664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3A3326"/>
                </a:solidFill>
                <a:latin typeface="游明朝"/>
                <a:ea typeface="游明朝"/>
              </a:rPr>
              <a:t>¥330,000〜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4617" y="800100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内訳例：小鼻縮小（内側＋外側）。麻酔・薬・アフターケア込みの総額目安。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87782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88971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Dr. コメント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9162288"/>
            <a:ext cx="5880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“小さく削る”より“広がりだけ抑える”。可愛い印象を壊さない引き算の小鼻縮小です。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症例カタログ｜Case 02｜可愛い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03 ／ 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428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3A3326"/>
                </a:solidFill>
                <a:latin typeface="游明朝"/>
                <a:ea typeface="游明朝"/>
              </a:rPr>
              <a:t>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5544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244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印象：忘れ鼻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1298448"/>
            <a:ext cx="178308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1292448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お悩み：鼻先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802" y="1296448"/>
            <a:ext cx="2103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横顔タイプ：ストレート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454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052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65960"/>
            <a:ext cx="493776" cy="1325880"/>
          </a:xfrm>
          <a:prstGeom prst="round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Before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856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4454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4454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5052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5052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01568"/>
            <a:ext cx="493776" cy="132588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After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3856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24454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4454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5052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5052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4846320"/>
          <a:ext cx="642899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鼻尖形成（控えめ設計）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自家組織（耳介軟骨） ／ 静脈麻酔＋局所麻酔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 3〜6日／マスクで隠せる程度に 2週間ほど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経過・ポイント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団子鼻感だけをさりげなく解消。やりすぎず、整形と気づかれにくい自然な鼻先に。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66928" y="690372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6903720"/>
            <a:ext cx="73152" cy="1691640"/>
          </a:xfrm>
          <a:prstGeom prst="rect">
            <a:avLst/>
          </a:prstGeom>
          <a:solidFill>
            <a:srgbClr val="C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7434072"/>
            <a:ext cx="26658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・腫れ、内出血、痛み（数日〜2週間程度）
・左右差、知覚の鈍さが一時的に出ることがあります
・仕上がりに個人差があります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8585" y="6903720"/>
            <a:ext cx="3077337" cy="1691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4617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費用（税込・総額）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4617" y="740664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3A3326"/>
                </a:solidFill>
                <a:latin typeface="游明朝"/>
                <a:ea typeface="游明朝"/>
              </a:rPr>
              <a:t>¥385,000〜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4617" y="800100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内訳例：鼻尖形成＋耳介軟骨移植。麻酔・薬・アフターケア込みの総額目安。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87782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88971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Dr. コメント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9162288"/>
            <a:ext cx="5880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「変えたいけど気づかれたくない」方向け。悪目立ちする要素だけを控えめに整えた症例です。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症例カタログ｜Case 03｜忘れ鼻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04 ／ 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428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3A3326"/>
                </a:solidFill>
                <a:latin typeface="游明朝"/>
                <a:ea typeface="游明朝"/>
              </a:rPr>
              <a:t>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5544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244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印象：忘れ鼻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1298448"/>
            <a:ext cx="178308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1292448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お悩み：全体・バランス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802" y="1296448"/>
            <a:ext cx="2103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横顔タイプ：ストレート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454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052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65960"/>
            <a:ext cx="493776" cy="1325880"/>
          </a:xfrm>
          <a:prstGeom prst="round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Before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856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4454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4454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5052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5052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01568"/>
            <a:ext cx="493776" cy="132588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After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3856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24454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4454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5052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5052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4846320"/>
          <a:ext cx="642899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鼻尖形成＋小鼻縮小（控えめ設計）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自家組織（耳介軟骨） ／ 静脈麻酔＋局所麻酔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 3〜6日／マスクで隠せる程度に 2週間ほど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経過・ポイント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“盛る”のではなく、鼻先と小鼻のバランスだけを控えめに整え、全体として自然な仕上がりに。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66928" y="690372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6903720"/>
            <a:ext cx="73152" cy="1691640"/>
          </a:xfrm>
          <a:prstGeom prst="rect">
            <a:avLst/>
          </a:prstGeom>
          <a:solidFill>
            <a:srgbClr val="C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7434072"/>
            <a:ext cx="26658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・腫れ、内出血、痛み（数日〜2週間程度）
・左右差、知覚の鈍さが一時的に出ることがあります
・仕上がりに個人差があり、修正が必要となる場合があります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8585" y="6903720"/>
            <a:ext cx="3077337" cy="1691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4617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費用（税込・総額）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4617" y="740664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3A3326"/>
                </a:solidFill>
                <a:latin typeface="游明朝"/>
                <a:ea typeface="游明朝"/>
              </a:rPr>
              <a:t>¥440,000〜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4617" y="800100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内訳例：鼻尖形成＋小鼻縮小。麻酔・薬・アフターケア込みの総額目安。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87782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88971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Dr. コメント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9162288"/>
            <a:ext cx="5880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複数部位を“少しずつ”整えると、どこを触ったか分からない自然な「忘れ鼻」に仕上がります。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症例カタログ｜Case 04｜忘れ鼻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05 ／ GORGEOUS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428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3A3326"/>
                </a:solidFill>
                <a:latin typeface="游明朝"/>
                <a:ea typeface="游明朝"/>
              </a:rPr>
              <a:t>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5544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244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印象：華やか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1298448"/>
            <a:ext cx="178308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1292448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お悩み：鼻筋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802" y="1296448"/>
            <a:ext cx="2103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横顔タイプ：ストレート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454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052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65960"/>
            <a:ext cx="493776" cy="1325880"/>
          </a:xfrm>
          <a:prstGeom prst="round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Before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856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4454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4454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5052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5052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01568"/>
            <a:ext cx="493776" cy="132588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After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3856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24454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4454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5052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5052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4846320"/>
          <a:ext cx="642899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隆鼻術（プロテーゼ）＋鼻尖形成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プロテーゼ（シリコン）＋自家組織（鼻中隔延長） ／ 静脈麻酔＋局所麻酔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 3〜6日／ギプス固定 約7日間／自然になるまで 1〜3ヶ月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経過・ポイント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鼻筋に高さとまっすぐなラインを出し、横顔の完成度を上げて華やかで主役級の印象に。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66928" y="690372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6903720"/>
            <a:ext cx="73152" cy="1691640"/>
          </a:xfrm>
          <a:prstGeom prst="rect">
            <a:avLst/>
          </a:prstGeom>
          <a:solidFill>
            <a:srgbClr val="C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7434072"/>
            <a:ext cx="26658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・プロテーゼのズレ・輪郭の浮き出しが生じる可能性
・効果に個人差があり、抜去や入れ替えが必要となる場合があります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8585" y="6903720"/>
            <a:ext cx="3077337" cy="1691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4617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費用（税込・総額）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4617" y="740664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3A3326"/>
                </a:solidFill>
                <a:latin typeface="游明朝"/>
                <a:ea typeface="游明朝"/>
              </a:rPr>
              <a:t>¥660,000〜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4617" y="800100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内訳例：プロテーゼ隆鼻＋鼻尖形成＋鼻中隔延長。麻酔・薬・アフターケア込みの総額目安。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87782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88971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Dr. コメント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9162288"/>
            <a:ext cx="5880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高さと鼻先の向きを同時に設計することで、正面・横顔ともにバランス良く華やかに仕上がりました。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症例カタログ｜Case 05｜華やか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06 ／ GORGEOUS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428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3A3326"/>
                </a:solidFill>
                <a:latin typeface="游明朝"/>
                <a:ea typeface="游明朝"/>
              </a:rPr>
              <a:t>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5544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244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印象：華やか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1298448"/>
            <a:ext cx="178308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1292448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お悩み：全体・バランス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802" y="1296448"/>
            <a:ext cx="2103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横顔タイプ：ストレート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454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052" y="1691640"/>
            <a:ext cx="188087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65960"/>
            <a:ext cx="493776" cy="1325880"/>
          </a:xfrm>
          <a:prstGeom prst="round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Before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856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4454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4454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5052" y="1965960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5052" y="1965960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01568"/>
            <a:ext cx="493776" cy="132588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566928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  <a:ea typeface="游ゴシック"/>
              </a:rPr>
              <a:t>After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游ゴシック"/>
                <a:ea typeface="游ゴシック"/>
              </a:rPr>
              <a:t>施術後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3856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正面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24454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4454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斜め45°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5052" y="3401568"/>
            <a:ext cx="1880870" cy="1325880"/>
          </a:xfrm>
          <a:prstGeom prst="roundRect">
            <a:avLst/>
          </a:prstGeom>
          <a:solidFill>
            <a:srgbClr val="ECE4D4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5052" y="3401568"/>
            <a:ext cx="188087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写真を挿入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934E"/>
                </a:solidFill>
                <a:latin typeface="游ゴシック"/>
                <a:ea typeface="游ゴシック"/>
              </a:rPr>
              <a:t>横顔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4846320"/>
          <a:ext cx="642899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隆鼻術（プロテーゼ）＋鼻中隔延長＋小鼻縮小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プロテーゼ（シリコン）＋自家組織（鼻中隔延長） ／ 静脈麻酔＋局所麻酔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 3〜6日／ギプス固定 約7日間／自然になるまで 1〜3ヶ月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経過・ポイント</a:t>
                      </a:r>
                    </a:p>
                  </a:txBody>
                  <a:tcPr anchor="ctr" marL="70000" marR="70000" marT="25000" marB="2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鼻筋・鼻先・小鼻をトータルで設計し、正面も横顔もはっきりした華やかな印象にデザイン。</a:t>
                      </a:r>
                    </a:p>
                  </a:txBody>
                  <a:tcPr anchor="ctr" marL="70000" marR="70000" marT="25000" marB="2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66928" y="690372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6903720"/>
            <a:ext cx="73152" cy="1691640"/>
          </a:xfrm>
          <a:prstGeom prst="rect">
            <a:avLst/>
          </a:prstGeom>
          <a:solidFill>
            <a:srgbClr val="C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7434072"/>
            <a:ext cx="26658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・プロテーゼのズレ・輪郭の浮き出しが生じる可能性
・効果に個人差があり、抜去や修正が必要となる場合があります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8585" y="6903720"/>
            <a:ext cx="3077337" cy="1691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4617" y="7068312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費用（税込・総額）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4617" y="740664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3A3326"/>
                </a:solidFill>
                <a:latin typeface="游明朝"/>
                <a:ea typeface="游明朝"/>
              </a:rPr>
              <a:t>¥770,000〜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4617" y="8001000"/>
            <a:ext cx="266585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内訳例：プロテーゼ隆鼻＋鼻中隔延長＋小鼻縮小。麻酔・薬・アフターケア込みの総額目安。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87782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88971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Dr. コメント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9162288"/>
            <a:ext cx="58803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複数部位を一度に設計するからこそ、全体のバランスが取れた“主役級”の鼻に仕上がります。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症例カタログ｜Case 06｜華やか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A3326"/>
                </a:solidFill>
                <a:latin typeface="游明朝"/>
                <a:ea typeface="游明朝"/>
              </a:rPr>
              <a:t>リスク・副作用・修正について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64289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どの症例にも共通するリスクと、当院の修正・保証の考え方をまとめています。手術前に必ずご確認ください。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77440"/>
            <a:ext cx="6428994" cy="22860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578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C7339"/>
                </a:solidFill>
                <a:latin typeface="游明朝"/>
                <a:ea typeface="游明朝"/>
              </a:rPr>
              <a:t>鼻整形に共通するリスク・副作用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17520"/>
            <a:ext cx="275729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80" b="0">
                <a:solidFill>
                  <a:srgbClr val="3A3326"/>
                </a:solidFill>
                <a:latin typeface="游ゴシック"/>
                <a:ea typeface="游ゴシック"/>
              </a:rPr>
              <a:t>腫れ・内出血・痛み（通常は数日〜2週間程度で軽快）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7185" y="3017520"/>
            <a:ext cx="275729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80" b="0">
                <a:solidFill>
                  <a:srgbClr val="3A3326"/>
                </a:solidFill>
                <a:latin typeface="游ゴシック"/>
                <a:ea typeface="游ゴシック"/>
              </a:rPr>
              <a:t>感染・血腫（適切な処置が必要となる場合があります）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20440"/>
            <a:ext cx="275729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80" b="0">
                <a:solidFill>
                  <a:srgbClr val="3A3326"/>
                </a:solidFill>
                <a:latin typeface="游ゴシック"/>
                <a:ea typeface="游ゴシック"/>
              </a:rPr>
              <a:t>左右差・知覚の鈍さ（一時的なことが多いですが残る場合があります）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7185" y="3520440"/>
            <a:ext cx="275729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80" b="0">
                <a:solidFill>
                  <a:srgbClr val="3A3326"/>
                </a:solidFill>
                <a:latin typeface="游ゴシック"/>
                <a:ea typeface="游ゴシック"/>
              </a:rPr>
              <a:t>プロテーゼのズレ・露出・輪郭の浮き出し（人工物使用時）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23360"/>
            <a:ext cx="275729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80" b="0">
                <a:solidFill>
                  <a:srgbClr val="3A3326"/>
                </a:solidFill>
                <a:latin typeface="游ゴシック"/>
                <a:ea typeface="游ゴシック"/>
              </a:rPr>
              <a:t>傷あと・拘縮（時間経過で目立ちにくくなることが多い）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7185" y="4023360"/>
            <a:ext cx="275729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80" b="0">
                <a:solidFill>
                  <a:srgbClr val="3A3326"/>
                </a:solidFill>
                <a:latin typeface="游ゴシック"/>
                <a:ea typeface="游ゴシック"/>
              </a:rPr>
              <a:t>仕上がりの個人差・後戻り（修正が必要となる場合があります）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37760"/>
            <a:ext cx="6428994" cy="18288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5138928"/>
            <a:ext cx="578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C7339"/>
                </a:solidFill>
                <a:latin typeface="游明朝"/>
                <a:ea typeface="游明朝"/>
              </a:rPr>
              <a:t>当院の修正・アフターケア（例）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577840"/>
            <a:ext cx="578891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・術後の経過診察は無料で対応します。
・万一の感染・トラブル時の処置体制を整えています。
・一定期間内の修正対応の有無・条件はカウンセリングで明確にお伝えします。
※保証内容は術式により異なります。詳細は同意書・契約時にご確認ください。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7040880"/>
            <a:ext cx="6428994" cy="1280160"/>
          </a:xfrm>
          <a:prstGeom prst="roundRect">
            <a:avLst/>
          </a:prstGeom>
          <a:solidFill>
            <a:srgbClr val="FDFBF6"/>
          </a:solidFill>
          <a:ln w="15240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7223760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934E"/>
                </a:solidFill>
                <a:latin typeface="游ゴシック"/>
                <a:ea typeface="游ゴシック"/>
              </a:rPr>
              <a:t>先生のひとこと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7543800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A3326"/>
                </a:solidFill>
                <a:latin typeface="游明朝"/>
                <a:ea typeface="游明朝"/>
              </a:rPr>
              <a:t>「良い症例」だけでなく「起こりうること」まで知って納得していただくのが、やりすぎない鼻整形の出発点です。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症例カタログ｜リスク・副作用・修正について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A3326"/>
                </a:solidFill>
                <a:latin typeface="游明朝"/>
                <a:ea typeface="游明朝"/>
              </a:rPr>
              <a:t>料金一覧（税込・目安）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下記は代表的な術式の目安です。組み合わせや状態により変動します。正式なお見積りはカウンセリングで提示します。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286000"/>
          <a:ext cx="6428993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8"/>
                <a:gridCol w="2893047"/>
                <a:gridCol w="173582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術式</a:t>
                      </a:r>
                    </a:p>
                  </a:txBody>
                  <a:tcPr anchor="ctr" marL="80000" marR="80000" marT="30000" marB="30000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内容</a:t>
                      </a:r>
                    </a:p>
                  </a:txBody>
                  <a:tcPr anchor="ctr" marL="80000" marR="80000" marT="30000" marB="30000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費用目安（税込）</a:t>
                      </a:r>
                    </a:p>
                  </a:txBody>
                  <a:tcPr anchor="ctr" marL="80000" marR="80000" marT="30000" marB="30000">
                    <a:solidFill>
                      <a:srgbClr val="B0934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</a:t>
                      </a:r>
                    </a:p>
                  </a:txBody>
                  <a:tcPr anchor="ctr" marL="80000" marR="80000" marT="30000" marB="30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鼻先を細く・整える</a:t>
                      </a:r>
                    </a:p>
                  </a:txBody>
                  <a:tcPr anchor="ctr" marL="80000" marR="80000" marT="30000" marB="30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¥330,000〜</a:t>
                      </a:r>
                    </a:p>
                  </a:txBody>
                  <a:tcPr anchor="ctr" marL="80000" marR="80000" marT="30000" marB="30000">
                    <a:solidFill>
                      <a:srgbClr val="FDFB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小鼻縮小</a:t>
                      </a:r>
                    </a:p>
                  </a:txBody>
                  <a:tcPr anchor="ctr" marL="80000" marR="80000" marT="30000" marB="30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小鼻の広がりを抑える</a:t>
                      </a:r>
                    </a:p>
                  </a:txBody>
                  <a:tcPr anchor="ctr" marL="80000" marR="80000" marT="30000" marB="30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¥330,000〜</a:t>
                      </a:r>
                    </a:p>
                  </a:txBody>
                  <a:tcPr anchor="ctr" marL="80000" marR="80000" marT="30000" marB="30000">
                    <a:solidFill>
                      <a:srgbClr val="F3ECD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隆鼻術（プロテーゼ）</a:t>
                      </a:r>
                    </a:p>
                  </a:txBody>
                  <a:tcPr anchor="ctr" marL="80000" marR="80000" marT="30000" marB="30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鼻筋に高さ・ラインを出す</a:t>
                      </a:r>
                    </a:p>
                  </a:txBody>
                  <a:tcPr anchor="ctr" marL="80000" marR="80000" marT="30000" marB="30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¥385,000〜</a:t>
                      </a:r>
                    </a:p>
                  </a:txBody>
                  <a:tcPr anchor="ctr" marL="80000" marR="80000" marT="30000" marB="30000">
                    <a:solidFill>
                      <a:srgbClr val="FDFB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鼻中隔延長</a:t>
                      </a:r>
                    </a:p>
                  </a:txBody>
                  <a:tcPr anchor="ctr" marL="80000" marR="80000" marT="30000" marB="30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鼻先の高さ・向きを調整</a:t>
                      </a:r>
                    </a:p>
                  </a:txBody>
                  <a:tcPr anchor="ctr" marL="80000" marR="80000" marT="30000" marB="30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¥440,000〜</a:t>
                      </a:r>
                    </a:p>
                  </a:txBody>
                  <a:tcPr anchor="ctr" marL="80000" marR="80000" marT="30000" marB="30000">
                    <a:solidFill>
                      <a:srgbClr val="F3ECD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ハンプ切除</a:t>
                      </a:r>
                    </a:p>
                  </a:txBody>
                  <a:tcPr anchor="ctr" marL="80000" marR="80000" marT="30000" marB="30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鼻筋の出っ張りを削る</a:t>
                      </a:r>
                    </a:p>
                  </a:txBody>
                  <a:tcPr anchor="ctr" marL="80000" marR="80000" marT="30000" marB="30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¥385,000〜</a:t>
                      </a:r>
                    </a:p>
                  </a:txBody>
                  <a:tcPr anchor="ctr" marL="80000" marR="80000" marT="30000" marB="30000">
                    <a:solidFill>
                      <a:srgbClr val="FDFB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肋軟骨移植</a:t>
                      </a:r>
                    </a:p>
                  </a:txBody>
                  <a:tcPr anchor="ctr" marL="80000" marR="80000" marT="30000" marB="30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しっかりした土台が必要な場合</a:t>
                      </a:r>
                    </a:p>
                  </a:txBody>
                  <a:tcPr anchor="ctr" marL="80000" marR="80000" marT="30000" marB="30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別途お見積り</a:t>
                      </a:r>
                    </a:p>
                  </a:txBody>
                  <a:tcPr anchor="ctr" marL="80000" marR="80000" marT="30000" marB="30000">
                    <a:solidFill>
                      <a:srgbClr val="F3ECD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00800"/>
            <a:ext cx="642899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A7060"/>
                </a:solidFill>
                <a:latin typeface="游ゴシック"/>
                <a:ea typeface="游ゴシック"/>
              </a:rPr>
              <a:t>※ 上記は手術料金の目安です。麻酔・薬・術後の診察を含む「総額」はカウンセリングで明示します。
※ 医療ローン（分割）をご利用いただけます。月々のお支払い例もご相談ください。
※ 鼻整形は自由診療（保険適用外）です。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7955279"/>
            <a:ext cx="6428994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8156448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お支払いについて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8503920"/>
            <a:ext cx="569747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現金・各種クレジットカード・医療ローンに対応しています。総額・分割例ともに、ご予算に合わせてご提案します。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症例カタログ｜料金一覧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A3326"/>
                </a:solidFill>
                <a:latin typeface="游明朝"/>
                <a:ea typeface="游明朝"/>
              </a:rPr>
              <a:t>ご予約・ご相談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642899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A3326"/>
                </a:solidFill>
                <a:latin typeface="游明朝"/>
                <a:ea typeface="游明朝"/>
              </a:rPr>
              <a:t>「気になる症例があった」「自分はどのタイプか相談したい」——そんな段階でも大歓迎です。
決めるためではなく、納得するためのカウンセリングです。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34640"/>
            <a:ext cx="3077337" cy="10515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834640"/>
            <a:ext cx="73152" cy="105156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17520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A3326"/>
                </a:solidFill>
                <a:latin typeface="游明朝"/>
                <a:ea typeface="游明朝"/>
              </a:rPr>
              <a:t>クローズ法のスペシャリスト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01568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A7060"/>
                </a:solidFill>
                <a:latin typeface="游ゴシック"/>
                <a:ea typeface="游ゴシック"/>
              </a:rPr>
              <a:t>外側に傷を残さず、ダウンタイムにも配慮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8585" y="2834640"/>
            <a:ext cx="3077337" cy="10515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18585" y="2834640"/>
            <a:ext cx="73152" cy="105156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2905" y="3017520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A3326"/>
                </a:solidFill>
                <a:latin typeface="游明朝"/>
                <a:ea typeface="游明朝"/>
              </a:rPr>
              <a:t>豊富な鼻症例の経験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2905" y="3401568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A7060"/>
                </a:solidFill>
                <a:latin typeface="游ゴシック"/>
                <a:ea typeface="游ゴシック"/>
              </a:rPr>
              <a:t>この1冊に表れる、印象別・お悩み別の実績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69080"/>
            <a:ext cx="3077337" cy="10515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069080"/>
            <a:ext cx="73152" cy="105156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51960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A3326"/>
                </a:solidFill>
                <a:latin typeface="游明朝"/>
                <a:ea typeface="游明朝"/>
              </a:rPr>
              <a:t>顔全体のデザイン設計力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636008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A7060"/>
                </a:solidFill>
                <a:latin typeface="游ゴシック"/>
                <a:ea typeface="游ゴシック"/>
              </a:rPr>
              <a:t>鼻単体でなく中顔面とのバランスで設計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18585" y="4069080"/>
            <a:ext cx="3077337" cy="10515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18585" y="4069080"/>
            <a:ext cx="73152" cy="105156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92905" y="4251960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A3326"/>
                </a:solidFill>
                <a:latin typeface="游明朝"/>
                <a:ea typeface="游明朝"/>
              </a:rPr>
              <a:t>修正・他院修正にも対応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2905" y="4636008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A7060"/>
                </a:solidFill>
                <a:latin typeface="游ゴシック"/>
                <a:ea typeface="游ゴシック"/>
              </a:rPr>
              <a:t>リスクと向き合った上での誠実な設計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86400"/>
            <a:ext cx="6428994" cy="310896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806440"/>
            <a:ext cx="36857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3A3326"/>
                </a:solidFill>
                <a:latin typeface="游明朝"/>
                <a:ea typeface="游明朝"/>
              </a:rPr>
              <a:t>ご予約・ご相談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6400800"/>
            <a:ext cx="350291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C7339"/>
                </a:solidFill>
                <a:latin typeface="游ゴシック"/>
                <a:ea typeface="游ゴシック"/>
              </a:rPr>
              <a:t>Instagram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A3326"/>
                </a:solidFill>
                <a:latin typeface="游明朝"/>
                <a:ea typeface="游明朝"/>
              </a:rPr>
              <a:t>@zenith_hane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3A3326"/>
                </a:solidFill>
                <a:latin typeface="游ゴシック"/>
                <a:ea typeface="游ゴシック"/>
              </a:rPr>
              <a:t> 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Zenith Beauty Clinic Fukuoka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羽瀬 和秀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7122" y="6035040"/>
            <a:ext cx="1463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7122" y="6035040"/>
            <a:ext cx="1463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060"/>
                </a:solidFill>
                <a:latin typeface="游ゴシック"/>
                <a:ea typeface="游ゴシック"/>
              </a:rPr>
              <a:t>QR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コード挿入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7122" y="7543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C7339"/>
                </a:solidFill>
                <a:latin typeface="游ゴシック"/>
                <a:ea typeface="游ゴシック"/>
              </a:rPr>
              <a:t>Instagramはこちら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7772400"/>
            <a:ext cx="2194560" cy="45720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77724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游ゴシック"/>
                <a:ea typeface="游ゴシック"/>
              </a:rPr>
              <a:t>WEBで予約する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7772400"/>
            <a:ext cx="21945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77724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LINEで相談する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症例カタログ｜ご予約・ご相談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1522" y="1030459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Zenith Beauty Clinic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