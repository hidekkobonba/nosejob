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8872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NOVA DESIGN GUIDE ／ CASE CATALOG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3A3326"/>
                </a:solidFill>
                <a:latin typeface="游明朝"/>
                <a:ea typeface="游明朝"/>
              </a:rPr>
              <a:t>症例カタログ</a:t>
            </a:r>
          </a:p>
        </p:txBody>
      </p:sp>
      <p:sp>
        <p:nvSpPr>
          <p:cNvPr id="6" name="Rectangle 5"/>
          <p:cNvSpPr/>
          <p:nvPr/>
        </p:nvSpPr>
        <p:spPr>
          <a:xfrm>
            <a:off x="2958465" y="429768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5262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A3326"/>
                </a:solidFill>
                <a:latin typeface="游明朝"/>
                <a:ea typeface="游明朝"/>
              </a:rPr>
              <a:t>印象別・お悩み別  ／  患者さま お持ち帰り版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21208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「どんな鼻にするか」を、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“近いお顔の実例”から一緒に探すための資料です。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1265" y="6217920"/>
            <a:ext cx="2560320" cy="219456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01265" y="6217920"/>
            <a:ext cx="25603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B0934E"/>
                </a:solidFill>
                <a:latin typeface="游明朝"/>
                <a:ea typeface="游明朝"/>
              </a:rPr>
              <a:t>◇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KEY VISUAL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代表症例の写真を挿入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88696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918972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Zenith Beauty Clinic Fukuoka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本カタログは、当院の実際の症例を「印象」と「お悩み」の2軸で整理したものです。ご自身の理想やお顔立ちに近い症例を見つけ、カウンセリングでの会話の土台にしてください。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0604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606040"/>
            <a:ext cx="73152" cy="155448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834640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印象（4タイプ）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27832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なりたい雰囲気から探す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6616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7A7060"/>
                </a:solidFill>
                <a:latin typeface="游ゴシック"/>
                <a:ea typeface="游ゴシック"/>
              </a:rPr>
              <a:t>可愛い ／ 大人っぽい ／ 華やか ／ 忘れ鼻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60604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606040"/>
            <a:ext cx="73152" cy="155448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834640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お悩み（4部位）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227832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気になる部位から探す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6616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7A7060"/>
                </a:solidFill>
                <a:latin typeface="游ゴシック"/>
                <a:ea typeface="游ゴシック"/>
              </a:rPr>
              <a:t>鼻先 ／ 小鼻・鼻の穴 ／ 鼻筋 ／ 全体・バランス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4348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各症例ページの構成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846320"/>
            <a:ext cx="303161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印象・お悩みタグ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この症例がどのタイプ／部位に当たるか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1425" y="4846320"/>
            <a:ext cx="303161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正面・横顔の変化（個人差があります）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13248"/>
            <a:ext cx="303161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術式・使用材料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行った手術内容と使用したもの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1425" y="5413248"/>
            <a:ext cx="303161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ダウンタイム・経過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980176"/>
            <a:ext cx="303161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リスク・副作用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起こりうる症状（必ずお読みください）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1425" y="5980176"/>
            <a:ext cx="303161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費用（税込・総額）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この症例にかかった費用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8183879"/>
            <a:ext cx="6428994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8385047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8750807"/>
            <a:ext cx="578891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・掲載している症例写真は、ご本人の同意を得て掲載しています。
・効果には個人差があり、同じ手術でも仕上がりは異なります。
・鼻整形は自由診療（保険適用外）です。各症例に費用・リスクを記載しています。
・本資料は手術を保証・推奨するものではなく、判断はカウンセリングで一緒に行います。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症例カタログ｜この資料の見方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Zenith Beauty Clinic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3A3326"/>
                </a:solidFill>
                <a:latin typeface="游明朝"/>
                <a:ea typeface="游明朝"/>
              </a:rPr>
              <a:t>症例インデックス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縦＝なりたい「印象」、横＝気になる「お悩み部位」。気になるマスの症例番号をご覧ください。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240280"/>
          <a:ext cx="642899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7218"/>
                <a:gridCol w="1317943"/>
                <a:gridCol w="1317943"/>
                <a:gridCol w="1317943"/>
                <a:gridCol w="1317943"/>
              </a:tblGrid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/>
                      </a:r>
                    </a:p>
                  </a:txBody>
                  <a:tcPr marL="40000" marR="40000" anchor="ctr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鼻先</a:t>
                      </a:r>
                    </a:p>
                  </a:txBody>
                  <a:tcPr marL="40000" marR="40000" anchor="ctr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小鼻・鼻の穴</a:t>
                      </a:r>
                    </a:p>
                  </a:txBody>
                  <a:tcPr marL="40000" marR="40000" anchor="ctr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鼻筋</a:t>
                      </a:r>
                    </a:p>
                  </a:txBody>
                  <a:tcPr marL="40000" marR="40000" anchor="ctr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全体</a:t>
                      </a:r>
                    </a:p>
                  </a:txBody>
                  <a:tcPr marL="40000" marR="40000" anchor="ctr">
                    <a:solidFill>
                      <a:srgbClr val="B0934E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可愛い</a:t>
                      </a:r>
                    </a:p>
                  </a:txBody>
                  <a:tcPr marL="40000" marR="40000" anchor="ctr">
                    <a:solidFill>
                      <a:srgbClr val="EFE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01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05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02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大人っぽい</a:t>
                      </a:r>
                    </a:p>
                  </a:txBody>
                  <a:tcPr marL="40000" marR="40000" anchor="ctr">
                    <a:solidFill>
                      <a:srgbClr val="EFE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06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03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華やか</a:t>
                      </a:r>
                    </a:p>
                  </a:txBody>
                  <a:tcPr marL="40000" marR="40000" anchor="ctr">
                    <a:solidFill>
                      <a:srgbClr val="EFE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07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04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08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忘れ鼻</a:t>
                      </a:r>
                    </a:p>
                  </a:txBody>
                  <a:tcPr marL="40000" marR="40000" anchor="ctr">
                    <a:solidFill>
                      <a:srgbClr val="EFE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Case 09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BCB4A4"/>
                          </a:solidFill>
                          <a:latin typeface="游ゴシック"/>
                          <a:ea typeface="游ゴシック"/>
                        </a:rPr>
                        <a:t>—</a:t>
                      </a:r>
                    </a:p>
                  </a:txBody>
                  <a:tcPr marL="40000" marR="40000" anchor="ctr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492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印象別ギャラリー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903720"/>
            <a:ext cx="15043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6903720"/>
            <a:ext cx="1504378" cy="411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967728"/>
            <a:ext cx="1504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明朝"/>
                <a:ea typeface="游明朝"/>
              </a:rPr>
              <a:t>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7543800"/>
            <a:ext cx="150437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CUTE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08466" y="6903720"/>
            <a:ext cx="15043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208466" y="6903720"/>
            <a:ext cx="1504378" cy="411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08466" y="6967728"/>
            <a:ext cx="1504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明朝"/>
                <a:ea typeface="游明朝"/>
              </a:rPr>
              <a:t>大人っぽい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08466" y="7543800"/>
            <a:ext cx="150437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ELEGANT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50005" y="6903720"/>
            <a:ext cx="15043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50005" y="6903720"/>
            <a:ext cx="1504378" cy="411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50005" y="6967728"/>
            <a:ext cx="1504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明朝"/>
                <a:ea typeface="游明朝"/>
              </a:rPr>
              <a:t>華やか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0005" y="7543800"/>
            <a:ext cx="150437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GORGEOUS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1543" y="6903720"/>
            <a:ext cx="15043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91543" y="6903720"/>
            <a:ext cx="1504378" cy="411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91543" y="6967728"/>
            <a:ext cx="1504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明朝"/>
                <a:ea typeface="游明朝"/>
              </a:rPr>
              <a:t>忘れ鼻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543" y="7543800"/>
            <a:ext cx="150437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0934E"/>
                </a:solidFill>
                <a:latin typeface="游ゴシック"/>
                <a:ea typeface="游ゴシック"/>
              </a:rPr>
              <a:t>NATURAL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症例カタログ｜症例インデックス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Zenith Beauty Clinic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3A3326"/>
                </a:solidFill>
                <a:latin typeface="游明朝"/>
                <a:ea typeface="游明朝"/>
              </a:rPr>
              <a:t>Case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15544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365600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8568" y="1371600"/>
            <a:ext cx="173736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58568" y="1365600"/>
            <a:ext cx="17373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802" y="1369600"/>
            <a:ext cx="21031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横顔タイプ：ラウンド〜半ラウンド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74519"/>
            <a:ext cx="3077337" cy="219456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1874519"/>
            <a:ext cx="3077337" cy="36576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920239"/>
            <a:ext cx="30773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</a:rPr>
              <a:t>Before（施術前）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240279"/>
            <a:ext cx="3077337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 ／ 横顔の写真を挿入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8585" y="1874519"/>
            <a:ext cx="3077337" cy="219456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18585" y="1874519"/>
            <a:ext cx="3077337" cy="36576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8585" y="1920239"/>
            <a:ext cx="30773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</a:rPr>
              <a:t>After（施術後）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8585" y="2240279"/>
            <a:ext cx="3077337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 ／ 横顔の写真を挿入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66928" y="4251960"/>
          <a:ext cx="642899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2958"/>
                <a:gridCol w="4886035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鼻尖形成（クローズ法）＋鼻尖縮小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麻酔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静脈麻酔＋局所麻酔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 3〜6日／マスクで隠せる程度に 2週間ほど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経過・ポイント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丸みを残しつつ鼻先を少し上げ、正面から見て“ちょこん”とした印象に。アップノーズで可愛い雰囲気へ。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566928" y="7040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7040880"/>
            <a:ext cx="73152" cy="1691640"/>
          </a:xfrm>
          <a:prstGeom prst="rect">
            <a:avLst/>
          </a:prstGeom>
          <a:solidFill>
            <a:srgbClr val="C0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720547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7571232"/>
            <a:ext cx="266585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・腫れ、内出血、痛み（数日〜2週間程度）
・左右差、知覚の鈍さが一時的に出ることがあります
・仕上がりに個人差があり、修正が必要となる場合があります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18585" y="7040880"/>
            <a:ext cx="3077337" cy="1691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74617" y="720547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754380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13816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内訳例：鼻尖形成＋耳介軟骨移植。麻酔・薬・アフターケア込みの総額目安。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887968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90068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Dr. コメント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9272016"/>
            <a:ext cx="58803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「鼻先だけ」を動かすことで、お顔全体のやわらかい印象は残したまま整えられた症例です。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症例カタログ｜Case 01｜可愛い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Zenith Beauty Clinic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GORGEOUS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3A3326"/>
                </a:solidFill>
                <a:latin typeface="游明朝"/>
                <a:ea typeface="游明朝"/>
              </a:rPr>
              <a:t>Case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15544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365600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8568" y="1371600"/>
            <a:ext cx="173736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58568" y="1365600"/>
            <a:ext cx="17373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802" y="1369600"/>
            <a:ext cx="21031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横顔タイプ：ストレート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74519"/>
            <a:ext cx="3077337" cy="219456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1874519"/>
            <a:ext cx="3077337" cy="36576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920239"/>
            <a:ext cx="30773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</a:rPr>
              <a:t>Before（施術前）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240279"/>
            <a:ext cx="3077337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 ／ 横顔の写真を挿入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8585" y="1874519"/>
            <a:ext cx="3077337" cy="219456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18585" y="1874519"/>
            <a:ext cx="3077337" cy="36576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8585" y="1920239"/>
            <a:ext cx="30773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</a:rPr>
              <a:t>After（施術後）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8585" y="2240279"/>
            <a:ext cx="3077337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 ／ 横顔の写真を挿入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66928" y="4251960"/>
          <a:ext cx="642899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2958"/>
                <a:gridCol w="4886035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隆鼻術（プロテーゼ）＋鼻尖形成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プロテーゼ（シリコン）＋自家組織（鼻中隔延長）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麻酔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静脈麻酔＋局所麻酔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 3〜6日／ギプス固定 約7日間／自然になるまで 1〜3ヶ月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経過・ポイント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鼻筋に高さとまっすぐなラインを出し、横顔の完成度を上げて華やかで主役級の印象に。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566928" y="7040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7040880"/>
            <a:ext cx="73152" cy="1691640"/>
          </a:xfrm>
          <a:prstGeom prst="rect">
            <a:avLst/>
          </a:prstGeom>
          <a:solidFill>
            <a:srgbClr val="C0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720547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7571232"/>
            <a:ext cx="266585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・プロテーゼのズレ・輪郭の浮き出しが生じる可能性
・効果に個人差があり、抜去や入れ替えが必要となる場合があります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18585" y="7040880"/>
            <a:ext cx="3077337" cy="1691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74617" y="720547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754380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3A3326"/>
                </a:solidFill>
                <a:latin typeface="游明朝"/>
                <a:ea typeface="游明朝"/>
              </a:rPr>
              <a:t>¥660,000〜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13816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内訳例：プロテーゼ隆鼻＋鼻尖形成＋鼻中隔延長。麻酔・薬・アフターケア込みの総額目安。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887968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90068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Dr. コメント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9272016"/>
            <a:ext cx="58803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高さと鼻先の向きを同時に設計することで、正面・横顔ともにバランス良く華やかに仕上がりました。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症例カタログ｜Case 03｜華やか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Zenith Beauty Clinic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ELEGANT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3A3326"/>
                </a:solidFill>
                <a:latin typeface="游明朝"/>
                <a:ea typeface="游明朝"/>
              </a:rPr>
              <a:t>Case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15544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365600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印象：大人っぽい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8568" y="1371600"/>
            <a:ext cx="173736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58568" y="1365600"/>
            <a:ext cx="17373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お悩み：小鼻・鼻の穴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802" y="1369600"/>
            <a:ext cx="21031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横顔タイプ：ストレート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74519"/>
            <a:ext cx="3077337" cy="219456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1874519"/>
            <a:ext cx="3077337" cy="36576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920239"/>
            <a:ext cx="30773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</a:rPr>
              <a:t>Before（施術前）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240279"/>
            <a:ext cx="3077337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 ／ 横顔の写真を挿入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8585" y="1874519"/>
            <a:ext cx="3077337" cy="219456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18585" y="1874519"/>
            <a:ext cx="3077337" cy="36576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8585" y="1920239"/>
            <a:ext cx="30773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</a:rPr>
              <a:t>After（施術後）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8585" y="2240279"/>
            <a:ext cx="3077337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 ／ 横顔の写真を挿入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66928" y="4251960"/>
          <a:ext cx="642899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2958"/>
                <a:gridCol w="4886035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切開法（必要に応じて）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麻酔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局所麻酔（症例により静脈麻酔）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腫れ・内出血は比較的軽め／抜糸 約5〜7日／落ち着くまで 1ヶ月程度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経過・ポイント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小鼻の広がりを抑え、正面の余白を整えてすっきり大人っぽい印象に。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566928" y="7040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7040880"/>
            <a:ext cx="73152" cy="1691640"/>
          </a:xfrm>
          <a:prstGeom prst="rect">
            <a:avLst/>
          </a:prstGeom>
          <a:solidFill>
            <a:srgbClr val="C0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720547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7571232"/>
            <a:ext cx="266585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・腫れ、内出血、傷あと（時間とともに目立ちにくくなります）
・左右差、後戻りが生じる可能性
・仕上がりに個人差があります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18585" y="7040880"/>
            <a:ext cx="3077337" cy="1691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74617" y="720547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754380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3A3326"/>
                </a:solidFill>
                <a:latin typeface="游明朝"/>
                <a:ea typeface="游明朝"/>
              </a:rPr>
              <a:t>¥330,000〜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13816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内訳例：小鼻縮小（内側＋外側）。麻酔・薬・アフターケア込みの総額目安。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887968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90068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Dr. コメント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9272016"/>
            <a:ext cx="58803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やりすぎず、正面の“余白”を整えるだけで、洗練された落ち着いた印象に近づいた症例です。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症例カタログ｜Case 06｜大人っぽい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Zenith Beauty Clinic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09 ／ NATURAL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3A3326"/>
                </a:solidFill>
                <a:latin typeface="游明朝"/>
                <a:ea typeface="游明朝"/>
              </a:rPr>
              <a:t>Case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15544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365600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8568" y="1371600"/>
            <a:ext cx="173736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58568" y="1365600"/>
            <a:ext cx="17373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お悩み：全体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802" y="1369600"/>
            <a:ext cx="21031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横顔タイプ：ストレート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74519"/>
            <a:ext cx="3077337" cy="219456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1874519"/>
            <a:ext cx="3077337" cy="36576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920239"/>
            <a:ext cx="30773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</a:rPr>
              <a:t>Before（施術前）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240279"/>
            <a:ext cx="3077337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 ／ 横顔の写真を挿入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8585" y="1874519"/>
            <a:ext cx="3077337" cy="219456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18585" y="1874519"/>
            <a:ext cx="3077337" cy="36576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8585" y="1920239"/>
            <a:ext cx="30773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</a:rPr>
              <a:t>After（施術後）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8585" y="2240279"/>
            <a:ext cx="3077337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 ／ 横顔の写真を挿入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66928" y="4251960"/>
          <a:ext cx="642899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2958"/>
                <a:gridCol w="4886035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鼻尖形成＋小鼻縮小（控えめ設計）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麻酔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静脈麻酔＋局所麻酔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 3〜6日／マスクで隠せる程度に 2週間ほど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経過・ポイント</a:t>
                      </a:r>
                    </a:p>
                  </a:txBody>
                  <a:tcPr anchor="ctr" marL="70000" marR="7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“盛る”のではなく、悪目立ちする要素だけを控えめに整え、整形と気づかれにくい自然な仕上がりに。</a:t>
                      </a:r>
                    </a:p>
                  </a:txBody>
                  <a:tcPr anchor="ctr" marL="70000" marR="70000" marT="20000" marB="20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566928" y="7040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7040880"/>
            <a:ext cx="73152" cy="1691640"/>
          </a:xfrm>
          <a:prstGeom prst="rect">
            <a:avLst/>
          </a:prstGeom>
          <a:solidFill>
            <a:srgbClr val="C0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720547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7571232"/>
            <a:ext cx="266585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・腫れ、内出血、痛み（数日〜2週間程度）
・左右差、知覚の鈍さが一時的に出ることがあります
・仕上がりに個人差があります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18585" y="7040880"/>
            <a:ext cx="3077337" cy="1691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74617" y="7205472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754380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138160"/>
            <a:ext cx="26658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内訳例：鼻尖形成＋小鼻縮小。麻酔・薬・アフターケア込みの総額目安。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887968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90068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Dr. コメント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9272016"/>
            <a:ext cx="58803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「変えたいけど気づかれたくない」という方向け。引き算の設計で“忘れ鼻”に仕上げた症例です。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症例カタログ｜Case 09｜忘れ鼻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Zenith Beauty Clinic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どの症例にも共通するリスクと、当院の修正・保証の考え方をまとめています。手術前に必ずご確認ください。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77440"/>
            <a:ext cx="6428994" cy="22860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7860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8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腫れ・内出血・痛み（通常は数日〜2週間程度で軽快）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8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感染・血腫（適切な処置が必要となる場合があります）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20440"/>
            <a:ext cx="275729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8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左右差・知覚の鈍さ（一時的なことが多いですが残る場合があります）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520440"/>
            <a:ext cx="275729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8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023360"/>
            <a:ext cx="275729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8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4023360"/>
            <a:ext cx="275729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8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仕上がりの個人差・後戻り（修正が必要となる場合があります）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37760"/>
            <a:ext cx="6428994" cy="18288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51389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当院の修正・アフターケア（例）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577840"/>
            <a:ext cx="578891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・万一の感染・トラブル時の処置体制を整えています。
・一定期間内の修正対応の有無・条件はカウンセリングで明確にお伝えします。
※保証内容は術式により異なります。詳細は同意書・契約時にご確認ください。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7040880"/>
            <a:ext cx="6428994" cy="12801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722376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7543800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A3326"/>
                </a:solidFill>
                <a:latin typeface="游明朝"/>
                <a:ea typeface="游明朝"/>
              </a:rPr>
              <a:t>「良い症例」だけでなく「起こりうること」まで知って納得していただくのが、やりすぎない鼻整形の出発点です。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症例カタログ｜リスク・副作用・修正について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Zenith Beauty Clinic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3A3326"/>
                </a:solidFill>
                <a:latin typeface="游明朝"/>
                <a:ea typeface="游明朝"/>
              </a:rPr>
              <a:t>料金一覧（税込・目安）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下記は代表的な術式の目安です。組み合わせや状態により変動します。正式なお見積りはカウンセリングで提示します。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286000"/>
          <a:ext cx="6428993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18"/>
                <a:gridCol w="2893047"/>
                <a:gridCol w="173582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</a:t>
                      </a:r>
                    </a:p>
                  </a:txBody>
                  <a:tcPr anchor="ctr" marL="80000" marR="80000" marT="30000" marB="30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内容</a:t>
                      </a:r>
                    </a:p>
                  </a:txBody>
                  <a:tcPr anchor="ctr" marL="80000" marR="80000" marT="30000" marB="30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費用目安（税込）</a:t>
                      </a:r>
                    </a:p>
                  </a:txBody>
                  <a:tcPr anchor="ctr" marL="80000" marR="80000" marT="30000" marB="30000">
                    <a:solidFill>
                      <a:srgbClr val="B0934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鼻先を細く・整える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¥330,000〜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小鼻の広がりを抑える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¥330,000〜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鼻筋に高さ・ラインを出す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鼻先の高さ・向きを調整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鼻筋の出っ張りを削る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30000" marB="30000">
                    <a:solidFill>
                      <a:srgbClr val="FDFB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肋軟骨移植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しっかりした土台が必要な場合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別途お見積り</a:t>
                      </a:r>
                    </a:p>
                  </a:txBody>
                  <a:tcPr anchor="ctr" marL="80000" marR="80000" marT="30000" marB="30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400800"/>
            <a:ext cx="642899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※ 上記は手術料金の目安です。麻酔・薬・術後の診察を含む「総額」はカウンセリングで明示します。
※ 医療ローン（分割）をご利用いただけます。月々のお支払い例もご相談ください。
※ 鼻整形は自由診療（保険適用外）です。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7955279"/>
            <a:ext cx="6428994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815644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お支払いについて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8503920"/>
            <a:ext cx="569747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現金・各種クレジットカード・医療ローンに対応しています。総額・分割例ともに、ご予算に合わせてご提案します。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症例カタログ｜料金一覧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Zenith Beauty Clinic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「気になる症例があった」「自分はどのタイプか相談したい」——そんな段階でも大歓迎です。
決めるためではなく、納得するためのカウンセリングです。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34640"/>
            <a:ext cx="3077337" cy="10515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34640"/>
            <a:ext cx="73152" cy="10515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1752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クローズ法のスペシャリスト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01568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外側に傷を残さず、ダウンタイムにも配慮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34640"/>
            <a:ext cx="3077337" cy="10515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34640"/>
            <a:ext cx="73152" cy="10515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1752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豊富な鼻症例の経験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01568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この1冊に表れる、印象別・お悩み別の実績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515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515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顔全体のデザイン設計力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36008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鼻単体でなく中顔面とのバランスで設計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515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515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36008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リスクと向き合った上での誠実な設計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86400"/>
            <a:ext cx="6428994" cy="310896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0644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00800"/>
            <a:ext cx="350291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@zenith_hane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Zenith Beauty Clinic Fukuoka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コード挿入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7122" y="754380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C7339"/>
                </a:solidFill>
                <a:latin typeface="游ゴシック"/>
                <a:ea typeface="游ゴシック"/>
              </a:rPr>
              <a:t>Instagramはこちら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7772400"/>
            <a:ext cx="2194560" cy="4572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" y="7772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WEBで予約する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01568" y="7772400"/>
            <a:ext cx="219456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01568" y="7772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LINEで相談する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症例カタログ｜ご予約・ご相談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1522" y="1030459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Zenith Beauty Clinic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