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850" cy="1068863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枠 10"/>
          <p:cNvSpPr>
            <a:spLocks noGrp="1"/>
          </p:cNvSpPr>
          <p:nvPr>
            <p:ph type="pic" idx="10"/>
          </p:nvPr>
        </p:nvSpPr>
        <p:spPr>
          <a:xfrm>
            <a:off x="566928" y="2148839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12" name="枠 11"/>
          <p:cNvSpPr>
            <a:spLocks noGrp="1"/>
          </p:cNvSpPr>
          <p:nvPr>
            <p:ph type="pic" idx="11"/>
          </p:nvPr>
        </p:nvSpPr>
        <p:spPr>
          <a:xfrm>
            <a:off x="2770886" y="2148839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13" name="枠 12"/>
          <p:cNvSpPr>
            <a:spLocks noGrp="1"/>
          </p:cNvSpPr>
          <p:nvPr>
            <p:ph type="pic" idx="12"/>
          </p:nvPr>
        </p:nvSpPr>
        <p:spPr>
          <a:xfrm>
            <a:off x="4974844" y="2148839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14" name="枠 13"/>
          <p:cNvSpPr>
            <a:spLocks noGrp="1"/>
          </p:cNvSpPr>
          <p:nvPr>
            <p:ph type="pic" idx="13"/>
          </p:nvPr>
        </p:nvSpPr>
        <p:spPr>
          <a:xfrm>
            <a:off x="566928" y="3776471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15" name="枠 14"/>
          <p:cNvSpPr>
            <a:spLocks noGrp="1"/>
          </p:cNvSpPr>
          <p:nvPr>
            <p:ph type="pic" idx="14"/>
          </p:nvPr>
        </p:nvSpPr>
        <p:spPr>
          <a:xfrm>
            <a:off x="2770886" y="3776471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16" name="枠 15"/>
          <p:cNvSpPr>
            <a:spLocks noGrp="1"/>
          </p:cNvSpPr>
          <p:nvPr>
            <p:ph type="pic" idx="15"/>
          </p:nvPr>
        </p:nvSpPr>
        <p:spPr>
          <a:xfrm>
            <a:off x="4974844" y="3776471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17" name="枠 16"/>
          <p:cNvSpPr>
            <a:spLocks noGrp="1"/>
          </p:cNvSpPr>
          <p:nvPr>
            <p:ph type="pic" idx="16"/>
          </p:nvPr>
        </p:nvSpPr>
        <p:spPr>
          <a:xfrm>
            <a:off x="566928" y="5404103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18" name="枠 17"/>
          <p:cNvSpPr>
            <a:spLocks noGrp="1"/>
          </p:cNvSpPr>
          <p:nvPr>
            <p:ph type="pic" idx="17"/>
          </p:nvPr>
        </p:nvSpPr>
        <p:spPr>
          <a:xfrm>
            <a:off x="2770886" y="5404103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  <p:sp>
        <p:nvSpPr>
          <p:cNvPr id="19" name="枠 18"/>
          <p:cNvSpPr>
            <a:spLocks noGrp="1"/>
          </p:cNvSpPr>
          <p:nvPr>
            <p:ph type="pic" idx="18"/>
          </p:nvPr>
        </p:nvSpPr>
        <p:spPr>
          <a:xfrm>
            <a:off x="4974844" y="5404103"/>
            <a:ext cx="2021078" cy="1234440"/>
          </a:xfrm>
          <a:prstGeom prst="roundRect">
            <a:avLst>
              <a:gd name="adj" fmla="val 5000"/>
            </a:avLst>
          </a:prstGeom>
          <a:solidFill>
            <a:srgbClr val="ECE4D4"/>
          </a:solidFill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3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idx="14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idx="15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idx="16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idx="17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idx="18"/>
          </p:nvPr>
        </p:nvSpPr>
        <p:spPr/>
      </p:sp>
      <p:sp>
        <p:nvSpPr>
          <p:cNvPr id="11" name="TextBox 10"/>
          <p:cNvSpPr txBox="1"/>
          <p:nvPr/>
        </p:nvSpPr>
        <p:spPr>
          <a:xfrm>
            <a:off x="566928" y="457200"/>
            <a:ext cx="64289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0934E"/>
                </a:solidFill>
                <a:latin typeface="游ゴシック"/>
                <a:ea typeface="游ゴシック"/>
              </a:rPr>
              <a:t>DOWNTIME CALENDAR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8368"/>
            <a:ext cx="569747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A3326"/>
                </a:solidFill>
                <a:latin typeface="游明朝"/>
                <a:ea typeface="游明朝"/>
              </a:rPr>
              <a:t>ダウンタイム・カレンダー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842" y="4572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934E"/>
                </a:solidFill>
                <a:latin typeface="游明朝"/>
                <a:ea typeface="游明朝"/>
              </a:rPr>
              <a:t>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371600"/>
            <a:ext cx="6428994" cy="9525"/>
          </a:xfrm>
          <a:prstGeom prst="rect">
            <a:avLst/>
          </a:prstGeom>
          <a:solidFill>
            <a:srgbClr val="B09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481328"/>
            <a:ext cx="64289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3326"/>
                </a:solidFill>
                <a:latin typeface="游ゴシック"/>
                <a:ea typeface="游ゴシック"/>
              </a:rPr>
              <a:t>術後の経過を実際のお写真で。1週間後にギプス外し・抜糸。ご予定から逆算して手術日を決められます。各枠クリックで写真挿入。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74519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2日目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886" y="1874519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3日目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844" y="1874519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4日目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02151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5日目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886" y="3502151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6日目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844" y="3502151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7日目　</a:t>
            </a: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ギプス外し・抜糸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29783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2週間後　</a:t>
            </a: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仕事復帰の目安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886" y="5129783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1ヶ月後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74844" y="5129783"/>
            <a:ext cx="20210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7339"/>
                </a:solidFill>
                <a:latin typeface="游明朝"/>
                <a:ea typeface="游明朝"/>
              </a:rPr>
              <a:t>2ヶ月後　</a:t>
            </a:r>
            <a:r>
              <a:rPr sz="800" b="0">
                <a:solidFill>
                  <a:srgbClr val="7A7060"/>
                </a:solidFill>
                <a:latin typeface="游ゴシック"/>
                <a:ea typeface="游ゴシック"/>
              </a:rPr>
              <a:t>ほぼ完成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803135"/>
            <a:ext cx="64289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8C7339"/>
                </a:solidFill>
                <a:latin typeface="游明朝"/>
                <a:ea typeface="游明朝"/>
              </a:rPr>
              <a:t>▼ あなたの予定から逆算 ― 手術はいつまでに？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66928" y="7132319"/>
          <a:ext cx="6428993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556"/>
                <a:gridCol w="2314437"/>
              </a:tblGrid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こんなご予定に</a:t>
                      </a:r>
                    </a:p>
                  </a:txBody>
                  <a:tcPr anchor="ctr" marL="80000" marR="50000" marT="9000" marB="9000">
                    <a:solidFill>
                      <a:srgbClr val="B093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游明朝"/>
                          <a:ea typeface="游明朝"/>
                        </a:rPr>
                        <a:t>手術はいつまでに</a:t>
                      </a:r>
                    </a:p>
                  </a:txBody>
                  <a:tcPr anchor="ctr" marL="80000" marR="50000" marT="9000" marB="9000">
                    <a:solidFill>
                      <a:srgbClr val="B0934E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仕事・学校への復帰（マスクでOK）</a:t>
                      </a:r>
                    </a:p>
                  </a:txBody>
                  <a:tcPr anchor="ctr" marL="80000" marR="50000" marT="9000" marB="9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約1〜2週間前</a:t>
                      </a:r>
                    </a:p>
                  </a:txBody>
                  <a:tcPr anchor="ctr" marL="80000" marR="50000" marT="9000" marB="9000">
                    <a:solidFill>
                      <a:srgbClr val="FDFBF6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旅行・デート・帰省</a:t>
                      </a:r>
                    </a:p>
                  </a:txBody>
                  <a:tcPr anchor="ctr" marL="80000" marR="50000" marT="9000" marB="9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約3〜4週間前</a:t>
                      </a:r>
                    </a:p>
                  </a:txBody>
                  <a:tcPr anchor="ctr" marL="80000" marR="50000" marT="9000" marB="9000">
                    <a:solidFill>
                      <a:srgbClr val="F3ECDD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卒業式・入学式・就活／証明写真</a:t>
                      </a:r>
                    </a:p>
                  </a:txBody>
                  <a:tcPr anchor="ctr" marL="80000" marR="50000" marT="9000" marB="9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約1〜2ヶ月前</a:t>
                      </a:r>
                    </a:p>
                  </a:txBody>
                  <a:tcPr anchor="ctr" marL="80000" marR="50000" marT="9000" marB="9000">
                    <a:solidFill>
                      <a:srgbClr val="FDFBF6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成人式・前撮り・友人の結婚式に参列</a:t>
                      </a:r>
                    </a:p>
                  </a:txBody>
                  <a:tcPr anchor="ctr" marL="80000" marR="50000" marT="9000" marB="9000">
                    <a:solidFill>
                      <a:srgbClr val="F3EC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約2〜3ヶ月前</a:t>
                      </a:r>
                    </a:p>
                  </a:txBody>
                  <a:tcPr anchor="ctr" marL="80000" marR="50000" marT="9000" marB="9000">
                    <a:solidFill>
                      <a:srgbClr val="F3ECDD"/>
                    </a:solidFill>
                  </a:tcPr>
                </a:tc>
              </a:tr>
              <a:tr h="2819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A3326"/>
                          </a:solidFill>
                          <a:latin typeface="游ゴシック"/>
                          <a:ea typeface="游ゴシック"/>
                        </a:rPr>
                        <a:t>自分の結婚式</a:t>
                      </a:r>
                    </a:p>
                  </a:txBody>
                  <a:tcPr anchor="ctr" marL="80000" marR="50000" marT="9000" marB="9000">
                    <a:solidFill>
                      <a:srgbClr val="FDF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A3326"/>
                          </a:solidFill>
                          <a:latin typeface="游明朝"/>
                          <a:ea typeface="游明朝"/>
                        </a:rPr>
                        <a:t>約3ヶ月〜半年前</a:t>
                      </a:r>
                    </a:p>
                  </a:txBody>
                  <a:tcPr anchor="ctr" marL="80000" marR="50000" marT="9000" marB="9000">
                    <a:solidFill>
                      <a:srgbClr val="FDFBF6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66928" y="10011982"/>
            <a:ext cx="642899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A7060"/>
                </a:solidFill>
                <a:latin typeface="游ゴシック"/>
                <a:ea typeface="游ゴシック"/>
              </a:rPr>
              <a:t>※ GW・夏休み・年末年始など長期休みは“隠れみの”チャンス。回復・最適時期には個人差があります（骨切り・肋軟骨は長め）。詳しくはDM・カウンセリングで。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0322878"/>
            <a:ext cx="462887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鼻整形 デザインカタログ｜ダウンタイム・カレンダー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762" y="1032287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A7060"/>
                </a:solidFill>
                <a:latin typeface="游ゴシック"/>
                <a:ea typeface="游ゴシック"/>
              </a:rPr>
              <a:t>Zetith Beauty Clinic Fukuoka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